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EECCDFB-5EA0-44B6-A4F8-4B2AA8E01AB4}">
  <a:tblStyle styleId="{6EECCDFB-5EA0-44B6-A4F8-4B2AA8E01AB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lt1"/>
                </a:solidFill>
                <a:latin typeface="Calibri"/>
                <a:ea typeface="Calibri"/>
                <a:cs typeface="Calibri"/>
                <a:sym typeface="Calibri"/>
              </a:rPr>
              <a:t>‹#›</a:t>
            </a:fld>
            <a:endParaRPr b="0" i="0" sz="1200" u="none" cap="none" strike="noStrike">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1 minute. ODSC's topic card comes before this slide.]</a:t>
            </a:r>
            <a:br>
              <a:rPr lang="en-US">
                <a:solidFill>
                  <a:srgbClr val="000000"/>
                </a:solidFill>
              </a:rPr>
            </a:br>
            <a:br>
              <a:rPr lang="en-US">
                <a:solidFill>
                  <a:srgbClr val="000000"/>
                </a:solidFill>
              </a:rPr>
            </a:br>
            <a:r>
              <a:rPr lang="en-US">
                <a:solidFill>
                  <a:srgbClr val="000000"/>
                </a:solidFill>
              </a:rPr>
              <a:t>Good morning, and thanks for being here. I'm Lokesh Manohar. This session is about a question that every team running a knowledge graph behind an AI application eventually faces. The answers are getting worse. We have a long list of data-quality problems in the graph. Which one do we fix first?</a:t>
            </a:r>
            <a:br>
              <a:rPr lang="en-US">
                <a:solidFill>
                  <a:srgbClr val="000000"/>
                </a:solidFill>
              </a:rPr>
            </a:br>
            <a:br>
              <a:rPr lang="en-US">
                <a:solidFill>
                  <a:srgbClr val="000000"/>
                </a:solidFill>
              </a:rPr>
            </a:br>
            <a:r>
              <a:rPr lang="en-US">
                <a:solidFill>
                  <a:srgbClr val="000000"/>
                </a:solidFill>
              </a:rPr>
              <a:t>Most teams answer that with intuition, or by fixing whatever is most visible. Today I'll show a way to answer it with evidence: measure the graph against a set of questions with known answers, work out which structural problems cause the wrong answers, and rank the fixes by how many answers each one recovers.</a:t>
            </a:r>
            <a:br>
              <a:rPr lang="en-US">
                <a:solidFill>
                  <a:srgbClr val="000000"/>
                </a:solidFill>
              </a:rPr>
            </a:br>
            <a:br>
              <a:rPr lang="en-US">
                <a:solidFill>
                  <a:srgbClr val="000000"/>
                </a:solidFill>
              </a:rPr>
            </a:br>
            <a:r>
              <a:rPr lang="en-US">
                <a:solidFill>
                  <a:srgbClr val="000000"/>
                </a:solidFill>
              </a:rPr>
              <a:t>The QR code goes to the public repository. You don't need it right now; I'll come back to it.</a:t>
            </a:r>
            <a:endParaRPr>
              <a:solidFill>
                <a:srgbClr val="000000"/>
              </a:solidFill>
            </a:endParaRPr>
          </a:p>
        </p:txBody>
      </p:sp>
      <p:sp>
        <p:nvSpPr>
          <p:cNvPr id="24" name="Google Shape;2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1 minute.]</a:t>
            </a:r>
            <a:br>
              <a:rPr lang="en-US">
                <a:solidFill>
                  <a:srgbClr val="000000"/>
                </a:solidFill>
              </a:rPr>
            </a:br>
            <a:br>
              <a:rPr lang="en-US">
                <a:solidFill>
                  <a:srgbClr val="000000"/>
                </a:solidFill>
              </a:rPr>
            </a:br>
            <a:r>
              <a:rPr lang="en-US">
                <a:solidFill>
                  <a:srgbClr val="000000"/>
                </a:solidFill>
              </a:rPr>
              <a:t>Before we start, a note on format. This is a tutorial, but I'm not going to ask you to type along. Everything I show is in a public repository: the notebook, the data, a setup guide, and the experiment I'll use to check whether the method actually works.</a:t>
            </a:r>
            <a:br>
              <a:rPr lang="en-US">
                <a:solidFill>
                  <a:srgbClr val="000000"/>
                </a:solidFill>
              </a:rPr>
            </a:br>
            <a:br>
              <a:rPr lang="en-US">
                <a:solidFill>
                  <a:srgbClr val="000000"/>
                </a:solidFill>
              </a:rPr>
            </a:br>
            <a:r>
              <a:rPr lang="en-US">
                <a:solidFill>
                  <a:srgbClr val="000000"/>
                </a:solidFill>
              </a:rPr>
              <a:t>If you want to run it, open the Colab link in the README. It runs end to end in about three minutes on a free CPU, with no API keys. You can also run it locally later, fully offline.</a:t>
            </a:r>
            <a:br>
              <a:rPr lang="en-US">
                <a:solidFill>
                  <a:srgbClr val="000000"/>
                </a:solidFill>
              </a:rPr>
            </a:br>
            <a:br>
              <a:rPr lang="en-US">
                <a:solidFill>
                  <a:srgbClr val="000000"/>
                </a:solidFill>
              </a:rPr>
            </a:br>
            <a:r>
              <a:rPr lang="en-US">
                <a:solidFill>
                  <a:srgbClr val="000000"/>
                </a:solidFill>
              </a:rPr>
              <a:t>Here's the plan for the next forty minutes. First, why graph quality is hard to act on. Then how teams evaluate graphs today, so you can see where this approach fits and where it doesn't. Then the setup, step by step. Then results on a demo graph, and we'll finish with limits and how to run this in production.</a:t>
            </a:r>
            <a:endParaRPr>
              <a:solidFill>
                <a:srgbClr val="000000"/>
              </a:solidFill>
            </a:endParaRPr>
          </a:p>
        </p:txBody>
      </p:sp>
      <p:sp>
        <p:nvSpPr>
          <p:cNvPr id="35" name="Google Shape;3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2 minutes.]</a:t>
            </a:r>
            <a:br>
              <a:rPr lang="en-US">
                <a:solidFill>
                  <a:srgbClr val="000000"/>
                </a:solidFill>
              </a:rPr>
            </a:br>
            <a:br>
              <a:rPr lang="en-US">
                <a:solidFill>
                  <a:srgbClr val="000000"/>
                </a:solidFill>
              </a:rPr>
            </a:br>
            <a:r>
              <a:rPr lang="en-US">
                <a:solidFill>
                  <a:srgbClr val="000000"/>
                </a:solidFill>
              </a:rPr>
              <a:t>Let's start with how answers are usually scored. Take a simple question: which entities are linked to X? The correct answer is A, B, C and D.</a:t>
            </a:r>
            <a:br>
              <a:rPr lang="en-US">
                <a:solidFill>
                  <a:srgbClr val="000000"/>
                </a:solidFill>
              </a:rPr>
            </a:br>
            <a:br>
              <a:rPr lang="en-US">
                <a:solidFill>
                  <a:srgbClr val="000000"/>
                </a:solidFill>
              </a:rPr>
            </a:br>
            <a:r>
              <a:rPr lang="en-US">
                <a:solidFill>
                  <a:srgbClr val="000000"/>
                </a:solidFill>
              </a:rPr>
              <a:t>Suppose the graph returns A, B and C. One is missing. F1, which gives partial credit, scores that 0.86. Now suppose it returns A, B, C, D and also E, which shouldn't be there. F1 scores that 0.89. Both look like good scores.</a:t>
            </a:r>
            <a:br>
              <a:rPr lang="en-US">
                <a:solidFill>
                  <a:srgbClr val="000000"/>
                </a:solidFill>
              </a:rPr>
            </a:br>
            <a:br>
              <a:rPr lang="en-US">
                <a:solidFill>
                  <a:srgbClr val="000000"/>
                </a:solidFill>
              </a:rPr>
            </a:br>
            <a:r>
              <a:rPr lang="en-US">
                <a:solidFill>
                  <a:srgbClr val="000000"/>
                </a:solidFill>
              </a:rPr>
              <a:t>But think about the person using the answer. If this is a list of suppliers at risk, or accounts linked to fraud, or components in an assembly, both answers are wrong. One misses something real; the other includes something that isn't. So the first principle of this talk: score exact answers, and treat F1 as context, not as the headline.</a:t>
            </a:r>
            <a:br>
              <a:rPr lang="en-US">
                <a:solidFill>
                  <a:srgbClr val="000000"/>
                </a:solidFill>
              </a:rPr>
            </a:br>
            <a:br>
              <a:rPr lang="en-US">
                <a:solidFill>
                  <a:srgbClr val="000000"/>
                </a:solidFill>
              </a:rPr>
            </a:br>
            <a:r>
              <a:rPr lang="en-US">
                <a:solidFill>
                  <a:srgbClr val="000000"/>
                </a:solidFill>
              </a:rPr>
              <a:t>You'll see this effect at scale later. On the demo graph, mean F1 is 0.95, which looks healthy, but only 71% of answers are exactly right.</a:t>
            </a:r>
            <a:endParaRPr>
              <a:solidFill>
                <a:srgbClr val="000000"/>
              </a:solidFill>
            </a:endParaRPr>
          </a:p>
        </p:txBody>
      </p:sp>
      <p:sp>
        <p:nvSpPr>
          <p:cNvPr id="56" name="Google Shape;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2 minutes.]</a:t>
            </a:r>
            <a:br>
              <a:rPr lang="en-US">
                <a:solidFill>
                  <a:srgbClr val="000000"/>
                </a:solidFill>
              </a:rPr>
            </a:br>
            <a:br>
              <a:rPr lang="en-US">
                <a:solidFill>
                  <a:srgbClr val="000000"/>
                </a:solidFill>
              </a:rPr>
            </a:br>
            <a:r>
              <a:rPr lang="en-US">
                <a:solidFill>
                  <a:srgbClr val="000000"/>
                </a:solidFill>
              </a:rPr>
              <a:t>Why do graph-backed answers fail this way? Because of how graph defects behave. Here are four defect classes that show up in almost every production graph.</a:t>
            </a:r>
            <a:br>
              <a:rPr lang="en-US">
                <a:solidFill>
                  <a:srgbClr val="000000"/>
                </a:solidFill>
              </a:rPr>
            </a:br>
            <a:br>
              <a:rPr lang="en-US">
                <a:solidFill>
                  <a:srgbClr val="000000"/>
                </a:solidFill>
              </a:rPr>
            </a:br>
            <a:r>
              <a:rPr lang="en-US">
                <a:solidFill>
                  <a:srgbClr val="000000"/>
                </a:solidFill>
              </a:rPr>
              <a:t>A duplicate entity: the same customer, product or supplier stored twice, with its relationships split between the copies. A query that lands on one copy sees only part of the picture, so part of the answer goes missing.</a:t>
            </a:r>
            <a:br>
              <a:rPr lang="en-US">
                <a:solidFill>
                  <a:srgbClr val="000000"/>
                </a:solidFill>
              </a:rPr>
            </a:br>
            <a:br>
              <a:rPr lang="en-US">
                <a:solidFill>
                  <a:srgbClr val="000000"/>
                </a:solidFill>
              </a:rPr>
            </a:br>
            <a:r>
              <a:rPr lang="en-US">
                <a:solidFill>
                  <a:srgbClr val="000000"/>
                </a:solidFill>
              </a:rPr>
              <a:t>A reversed relationship: an edge points the wrong way, usually from a mapping bug in a pipeline. Now a traversal walks into the wrong part of the graph and brings back results that don't belong.</a:t>
            </a:r>
            <a:br>
              <a:rPr lang="en-US">
                <a:solidFill>
                  <a:srgbClr val="000000"/>
                </a:solidFill>
              </a:rPr>
            </a:br>
            <a:br>
              <a:rPr lang="en-US">
                <a:solidFill>
                  <a:srgbClr val="000000"/>
                </a:solidFill>
              </a:rPr>
            </a:br>
            <a:r>
              <a:rPr lang="en-US">
                <a:solidFill>
                  <a:srgbClr val="000000"/>
                </a:solidFill>
              </a:rPr>
              <a:t>A missing property: an attribute the query filters on is gone, so the filter silently drops valid answers.</a:t>
            </a:r>
            <a:br>
              <a:rPr lang="en-US">
                <a:solidFill>
                  <a:srgbClr val="000000"/>
                </a:solidFill>
              </a:rPr>
            </a:br>
            <a:br>
              <a:rPr lang="en-US">
                <a:solidFill>
                  <a:srgbClr val="000000"/>
                </a:solidFill>
              </a:rPr>
            </a:br>
            <a:r>
              <a:rPr lang="en-US">
                <a:solidFill>
                  <a:srgbClr val="000000"/>
                </a:solidFill>
              </a:rPr>
              <a:t>A dropped link: a relationship never loads, so lists come back short or empty.</a:t>
            </a:r>
            <a:br>
              <a:rPr lang="en-US">
                <a:solidFill>
                  <a:srgbClr val="000000"/>
                </a:solidFill>
              </a:rPr>
            </a:br>
            <a:br>
              <a:rPr lang="en-US">
                <a:solidFill>
                  <a:srgbClr val="000000"/>
                </a:solidFill>
              </a:rPr>
            </a:br>
            <a:r>
              <a:rPr lang="en-US">
                <a:solidFill>
                  <a:srgbClr val="000000"/>
                </a:solidFill>
              </a:rPr>
              <a:t>The key column is the right-hand one. None of these produce an error message. They produce answers that look reasonable. That's exactly why average scores hide them, and why you need known answers to compare against.</a:t>
            </a:r>
            <a:endParaRPr>
              <a:solidFill>
                <a:srgbClr val="000000"/>
              </a:solidFill>
            </a:endParaRP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2 minutes.]</a:t>
            </a:r>
            <a:br>
              <a:rPr lang="en-US">
                <a:solidFill>
                  <a:srgbClr val="000000"/>
                </a:solidFill>
              </a:rPr>
            </a:br>
            <a:br>
              <a:rPr lang="en-US">
                <a:solidFill>
                  <a:srgbClr val="000000"/>
                </a:solidFill>
              </a:rPr>
            </a:br>
            <a:r>
              <a:rPr lang="en-US">
                <a:solidFill>
                  <a:srgbClr val="000000"/>
                </a:solidFill>
              </a:rPr>
              <a:t>In most organizations, graph quality is watched from two sides that rarely meet.</a:t>
            </a:r>
            <a:br>
              <a:rPr lang="en-US">
                <a:solidFill>
                  <a:srgbClr val="000000"/>
                </a:solidFill>
              </a:rPr>
            </a:br>
            <a:br>
              <a:rPr lang="en-US">
                <a:solidFill>
                  <a:srgbClr val="000000"/>
                </a:solidFill>
              </a:rPr>
            </a:br>
            <a:r>
              <a:rPr lang="en-US">
                <a:solidFill>
                  <a:srgbClr val="000000"/>
                </a:solidFill>
              </a:rPr>
              <a:t>On the left, the data or graph engineering team. They run constraint checks and see violations by rule, completeness by entity type, and a queue of duplicate candidates. All true, all useful.</a:t>
            </a:r>
            <a:br>
              <a:rPr lang="en-US">
                <a:solidFill>
                  <a:srgbClr val="000000"/>
                </a:solidFill>
              </a:rPr>
            </a:br>
            <a:br>
              <a:rPr lang="en-US">
                <a:solidFill>
                  <a:srgbClr val="000000"/>
                </a:solidFill>
              </a:rPr>
            </a:br>
            <a:r>
              <a:rPr lang="en-US">
                <a:solidFill>
                  <a:srgbClr val="000000"/>
                </a:solidFill>
              </a:rPr>
              <a:t>On the right, the AI team. They run a golden question set, look at failed questions and user complaints, maybe LLM-judge scores. Also true, also useful.</a:t>
            </a:r>
            <a:br>
              <a:rPr lang="en-US">
                <a:solidFill>
                  <a:srgbClr val="000000"/>
                </a:solidFill>
              </a:rPr>
            </a:br>
            <a:br>
              <a:rPr lang="en-US">
                <a:solidFill>
                  <a:srgbClr val="000000"/>
                </a:solidFill>
              </a:rPr>
            </a:br>
            <a:r>
              <a:rPr lang="en-US">
                <a:solidFill>
                  <a:srgbClr val="000000"/>
                </a:solidFill>
              </a:rPr>
              <a:t>What's missing is the link in the middle. When accuracy drops, nobody can say which of those violations caused which wrong answers. So the next engineering month gets spent on whichever problem is loudest, not whichever costs the most answers. Closing that gap is what this talk is about.</a:t>
            </a:r>
            <a:endParaRPr>
              <a:solidFill>
                <a:srgbClr val="000000"/>
              </a:solidFill>
            </a:endParaRPr>
          </a:p>
        </p:txBody>
      </p:sp>
      <p:sp>
        <p:nvSpPr>
          <p:cNvPr id="120" name="Google Shape;12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3 minutes.]</a:t>
            </a:r>
            <a:br>
              <a:rPr lang="en-US">
                <a:solidFill>
                  <a:srgbClr val="000000"/>
                </a:solidFill>
              </a:rPr>
            </a:br>
            <a:br>
              <a:rPr lang="en-US">
                <a:solidFill>
                  <a:srgbClr val="000000"/>
                </a:solidFill>
              </a:rPr>
            </a:br>
            <a:r>
              <a:rPr lang="en-US">
                <a:solidFill>
                  <a:srgbClr val="000000"/>
                </a:solidFill>
              </a:rPr>
              <a:t>Before I show my approach, I want to be clear that it is one approach among several, and each of these is valuable.</a:t>
            </a:r>
            <a:br>
              <a:rPr lang="en-US">
                <a:solidFill>
                  <a:srgbClr val="000000"/>
                </a:solidFill>
              </a:rPr>
            </a:br>
            <a:br>
              <a:rPr lang="en-US">
                <a:solidFill>
                  <a:srgbClr val="000000"/>
                </a:solidFill>
              </a:rPr>
            </a:br>
            <a:r>
              <a:rPr lang="en-US">
                <a:solidFill>
                  <a:srgbClr val="000000"/>
                </a:solidFill>
              </a:rPr>
              <a:t>Constraint validation, with SHACL shapes, schema constraints or data tests in tools like Great Expectations, dbt or Soda, tells you which rules the graph breaks. It can't tell you which of those violations actually cost you answers.</a:t>
            </a:r>
            <a:br>
              <a:rPr lang="en-US">
                <a:solidFill>
                  <a:srgbClr val="000000"/>
                </a:solidFill>
              </a:rPr>
            </a:br>
            <a:br>
              <a:rPr lang="en-US">
                <a:solidFill>
                  <a:srgbClr val="000000"/>
                </a:solidFill>
              </a:rPr>
            </a:br>
            <a:r>
              <a:rPr lang="en-US">
                <a:solidFill>
                  <a:srgbClr val="000000"/>
                </a:solidFill>
              </a:rPr>
              <a:t>Quality metrics and audits come from the linked-data world. Zaveri and colleagues catalogued dozens of quality dimensions, and Gao and colleagues showed how to estimate a graph's accuracy efficiently by sampling and auditing triples. That tells you how accurate the graph is overall, but not whether the errors sit where your questions go.</a:t>
            </a:r>
            <a:br>
              <a:rPr lang="en-US">
                <a:solidFill>
                  <a:srgbClr val="000000"/>
                </a:solidFill>
              </a:rPr>
            </a:br>
            <a:br>
              <a:rPr lang="en-US">
                <a:solidFill>
                  <a:srgbClr val="000000"/>
                </a:solidFill>
              </a:rPr>
            </a:br>
            <a:r>
              <a:rPr lang="en-US">
                <a:solidFill>
                  <a:srgbClr val="000000"/>
                </a:solidFill>
              </a:rPr>
              <a:t>End-to-end answer evaluation, golden QA sets, LLM-as-judge, frameworks like RAGAS, tells you how often answers are right, but not why the wrong ones are wrong.</a:t>
            </a:r>
            <a:br>
              <a:rPr lang="en-US">
                <a:solidFill>
                  <a:srgbClr val="000000"/>
                </a:solidFill>
              </a:rPr>
            </a:br>
            <a:br>
              <a:rPr lang="en-US">
                <a:solidFill>
                  <a:srgbClr val="000000"/>
                </a:solidFill>
              </a:rPr>
            </a:br>
            <a:r>
              <a:rPr lang="en-US">
                <a:solidFill>
                  <a:srgbClr val="000000"/>
                </a:solidFill>
              </a:rPr>
              <a:t>And text-to-Cypher benchmarks test whether a model writes the right query, which is a different layer from the graph itself.</a:t>
            </a:r>
            <a:br>
              <a:rPr lang="en-US">
                <a:solidFill>
                  <a:srgbClr val="000000"/>
                </a:solidFill>
              </a:rPr>
            </a:br>
            <a:br>
              <a:rPr lang="en-US">
                <a:solidFill>
                  <a:srgbClr val="000000"/>
                </a:solidFill>
              </a:rPr>
            </a:br>
            <a:r>
              <a:rPr lang="en-US">
                <a:solidFill>
                  <a:srgbClr val="000000"/>
                </a:solidFill>
              </a:rPr>
              <a:t>There's also newer work on stage-wise diagnostics, such as TRIAGE, which attaches metrics to each stage of a GraphRAG pipeline. Worth reading alongside this.</a:t>
            </a:r>
            <a:endParaRPr>
              <a:solidFill>
                <a:srgbClr val="000000"/>
              </a:solidFill>
            </a:endParaRPr>
          </a:p>
        </p:txBody>
      </p:sp>
      <p:sp>
        <p:nvSpPr>
          <p:cNvPr id="139" name="Google Shape;13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2 to 3 minutes.]</a:t>
            </a:r>
            <a:br>
              <a:rPr lang="en-US">
                <a:solidFill>
                  <a:srgbClr val="000000"/>
                </a:solidFill>
              </a:rPr>
            </a:br>
            <a:br>
              <a:rPr lang="en-US">
                <a:solidFill>
                  <a:srgbClr val="000000"/>
                </a:solidFill>
              </a:rPr>
            </a:br>
            <a:r>
              <a:rPr lang="en-US">
                <a:solidFill>
                  <a:srgbClr val="000000"/>
                </a:solidFill>
              </a:rPr>
              <a:t>What do teams actually do in production? It depends on where the graph comes from.</a:t>
            </a:r>
            <a:br>
              <a:rPr lang="en-US">
                <a:solidFill>
                  <a:srgbClr val="000000"/>
                </a:solidFill>
              </a:rPr>
            </a:br>
            <a:br>
              <a:rPr lang="en-US">
                <a:solidFill>
                  <a:srgbClr val="000000"/>
                </a:solidFill>
              </a:rPr>
            </a:br>
            <a:r>
              <a:rPr lang="en-US">
                <a:solidFill>
                  <a:srgbClr val="000000"/>
                </a:solidFill>
              </a:rPr>
              <a:t>Many enterprise graphs are built from structured systems: warehouses, ERP, CRM, master data. Answers to questions over these graphs are deterministic, and there's a system of record you can reconcile against.</a:t>
            </a:r>
            <a:br>
              <a:rPr lang="en-US">
                <a:solidFill>
                  <a:srgbClr val="000000"/>
                </a:solidFill>
              </a:rPr>
            </a:br>
            <a:br>
              <a:rPr lang="en-US">
                <a:solidFill>
                  <a:srgbClr val="000000"/>
                </a:solidFill>
              </a:rPr>
            </a:br>
            <a:r>
              <a:rPr lang="en-US">
                <a:solidFill>
                  <a:srgbClr val="000000"/>
                </a:solidFill>
              </a:rPr>
              <a:t>The other family is graphs extracted by LLMs from documents, with tools like Microsoft GraphRAG. Those relationships need validation, and there's no system of record to compare with, which changes what checks are possible.</a:t>
            </a:r>
            <a:br>
              <a:rPr lang="en-US">
                <a:solidFill>
                  <a:srgbClr val="000000"/>
                </a:solidFill>
              </a:rPr>
            </a:br>
            <a:br>
              <a:rPr lang="en-US">
                <a:solidFill>
                  <a:srgbClr val="000000"/>
                </a:solidFill>
              </a:rPr>
            </a:br>
            <a:r>
              <a:rPr lang="en-US">
                <a:solidFill>
                  <a:srgbClr val="000000"/>
                </a:solidFill>
              </a:rPr>
              <a:t>Operationally the pipeline looks similar either way. Build or extract. Resolve entities, and practitioners consistently describe that as the bottleneck and a job that never really finishes. Validate against the schema before release. Evaluate with golden sets, increasingly in CI. Then serve.</a:t>
            </a:r>
            <a:br>
              <a:rPr lang="en-US">
                <a:solidFill>
                  <a:srgbClr val="000000"/>
                </a:solidFill>
              </a:rPr>
            </a:br>
            <a:br>
              <a:rPr lang="en-US">
                <a:solidFill>
                  <a:srgbClr val="000000"/>
                </a:solidFill>
              </a:rPr>
            </a:br>
            <a:r>
              <a:rPr lang="en-US">
                <a:solidFill>
                  <a:srgbClr val="000000"/>
                </a:solidFill>
              </a:rPr>
              <a:t>Notice the ownership line under the boxes. Graph and data engineering own the first three steps; the AI team owns the last two. That's the organizational version of the gap from two slides ago. I'm presenting this as an observation from practice and public write-ups, not a survey.</a:t>
            </a:r>
            <a:endParaRPr>
              <a:solidFill>
                <a:srgbClr val="000000"/>
              </a:solidFill>
            </a:endParaRPr>
          </a:p>
        </p:txBody>
      </p:sp>
      <p:sp>
        <p:nvSpPr>
          <p:cNvPr id="167" name="Google Shape;16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2 minutes.]</a:t>
            </a:r>
            <a:br>
              <a:rPr lang="en-US">
                <a:solidFill>
                  <a:srgbClr val="000000"/>
                </a:solidFill>
              </a:rPr>
            </a:br>
            <a:br>
              <a:rPr lang="en-US">
                <a:solidFill>
                  <a:srgbClr val="000000"/>
                </a:solidFill>
              </a:rPr>
            </a:br>
            <a:r>
              <a:rPr lang="en-US">
                <a:solidFill>
                  <a:srgbClr val="000000"/>
                </a:solidFill>
              </a:rPr>
              <a:t>So here's where this approach sits. It doesn't replace either track; it needs both as inputs.</a:t>
            </a:r>
            <a:br>
              <a:rPr lang="en-US">
                <a:solidFill>
                  <a:srgbClr val="000000"/>
                </a:solidFill>
              </a:rPr>
            </a:br>
            <a:br>
              <a:rPr lang="en-US">
                <a:solidFill>
                  <a:srgbClr val="000000"/>
                </a:solidFill>
              </a:rPr>
            </a:br>
            <a:r>
              <a:rPr lang="en-US">
                <a:solidFill>
                  <a:srgbClr val="000000"/>
                </a:solidFill>
              </a:rPr>
              <a:t>From the graph side it takes your constraint checks. From the answer side it takes a golden set with exact answers. What it adds is the link: for each wrong answer, which class of defect caused it, and therefore which data-quality fix to fund first.</a:t>
            </a:r>
            <a:br>
              <a:rPr lang="en-US">
                <a:solidFill>
                  <a:srgbClr val="000000"/>
                </a:solidFill>
              </a:rPr>
            </a:br>
            <a:br>
              <a:rPr lang="en-US">
                <a:solidFill>
                  <a:srgbClr val="000000"/>
                </a:solidFill>
              </a:rPr>
            </a:br>
            <a:r>
              <a:rPr lang="en-US">
                <a:solidFill>
                  <a:srgbClr val="000000"/>
                </a:solidFill>
              </a:rPr>
              <a:t>I want to be honest about when you need this. If you have one obvious problem, just fix it. This earns its keep when you have a golden set, checks you can run per query, and several candidate fixes competing for the same engineering time. That's the situation most mature graph teams are in.</a:t>
            </a:r>
            <a:endParaRPr>
              <a:solidFill>
                <a:srgbClr val="000000"/>
              </a:solidFill>
            </a:endParaRPr>
          </a:p>
        </p:txBody>
      </p:sp>
      <p:sp>
        <p:nvSpPr>
          <p:cNvPr id="198" name="Google Shape;19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1 minute.]</a:t>
            </a:r>
            <a:br>
              <a:rPr lang="en-US">
                <a:solidFill>
                  <a:srgbClr val="000000"/>
                </a:solidFill>
              </a:rPr>
            </a:br>
            <a:br>
              <a:rPr lang="en-US">
                <a:solidFill>
                  <a:srgbClr val="000000"/>
                </a:solidFill>
              </a:rPr>
            </a:br>
            <a:r>
              <a:rPr lang="en-US">
                <a:solidFill>
                  <a:srgbClr val="000000"/>
                </a:solidFill>
              </a:rPr>
              <a:t>The whole method is one loop.</a:t>
            </a:r>
            <a:br>
              <a:rPr lang="en-US">
                <a:solidFill>
                  <a:srgbClr val="000000"/>
                </a:solidFill>
              </a:rPr>
            </a:br>
            <a:br>
              <a:rPr lang="en-US">
                <a:solidFill>
                  <a:srgbClr val="000000"/>
                </a:solidFill>
              </a:rPr>
            </a:br>
            <a:r>
              <a:rPr lang="en-US">
                <a:solidFill>
                  <a:srgbClr val="000000"/>
                </a:solidFill>
              </a:rPr>
              <a:t>Measure: score every question in the golden set by exact match, and report the number on held-out questions so you're not grading on the questions you diagnosed with.</a:t>
            </a:r>
            <a:br>
              <a:rPr lang="en-US">
                <a:solidFill>
                  <a:srgbClr val="000000"/>
                </a:solidFill>
              </a:rPr>
            </a:br>
            <a:br>
              <a:rPr lang="en-US">
                <a:solidFill>
                  <a:srgbClr val="000000"/>
                </a:solidFill>
              </a:rPr>
            </a:br>
            <a:r>
              <a:rPr lang="en-US">
                <a:solidFill>
                  <a:srgbClr val="000000"/>
                </a:solidFill>
              </a:rPr>
              <a:t>Diagnose: for every question, count the defects along the path the query took, then use a classifier and SHAP to attribute the failures.</a:t>
            </a:r>
            <a:br>
              <a:rPr lang="en-US">
                <a:solidFill>
                  <a:srgbClr val="000000"/>
                </a:solidFill>
              </a:rPr>
            </a:br>
            <a:br>
              <a:rPr lang="en-US">
                <a:solidFill>
                  <a:srgbClr val="000000"/>
                </a:solidFill>
              </a:rPr>
            </a:br>
            <a:r>
              <a:rPr lang="en-US">
                <a:solidFill>
                  <a:srgbClr val="000000"/>
                </a:solidFill>
              </a:rPr>
              <a:t>Fix: apply the data-quality control that the diagnosis ranks first. The fix uses only the schema and the source systems, never the golden answers.</a:t>
            </a:r>
            <a:br>
              <a:rPr lang="en-US">
                <a:solidFill>
                  <a:srgbClr val="000000"/>
                </a:solidFill>
              </a:rPr>
            </a:br>
            <a:br>
              <a:rPr lang="en-US">
                <a:solidFill>
                  <a:srgbClr val="000000"/>
                </a:solidFill>
              </a:rPr>
            </a:br>
            <a:r>
              <a:rPr lang="en-US">
                <a:solidFill>
                  <a:srgbClr val="000000"/>
                </a:solidFill>
              </a:rPr>
              <a:t>Re-measure, and repeat until you hit your benchmark or run out of controls.</a:t>
            </a:r>
            <a:br>
              <a:rPr lang="en-US">
                <a:solidFill>
                  <a:srgbClr val="000000"/>
                </a:solidFill>
              </a:rPr>
            </a:br>
            <a:br>
              <a:rPr lang="en-US">
                <a:solidFill>
                  <a:srgbClr val="000000"/>
                </a:solidFill>
              </a:rPr>
            </a:br>
            <a:r>
              <a:rPr lang="en-US">
                <a:solidFill>
                  <a:srgbClr val="000000"/>
                </a:solidFill>
              </a:rPr>
              <a:t>The point is that each round costs real engineering time, so the order matters. And nothing counts until it's re-scored. The next five slides are what you need to set up to run this loop.</a:t>
            </a:r>
            <a:endParaRPr>
              <a:solidFill>
                <a:srgbClr val="000000"/>
              </a:solidFill>
            </a:endParaRPr>
          </a:p>
        </p:txBody>
      </p:sp>
      <p:sp>
        <p:nvSpPr>
          <p:cNvPr id="221" name="Google Shape;22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2 to 3 minutes.]</a:t>
            </a:r>
            <a:br>
              <a:rPr lang="en-US">
                <a:solidFill>
                  <a:srgbClr val="000000"/>
                </a:solidFill>
              </a:rPr>
            </a:br>
            <a:br>
              <a:rPr lang="en-US">
                <a:solidFill>
                  <a:srgbClr val="000000"/>
                </a:solidFill>
              </a:rPr>
            </a:br>
            <a:r>
              <a:rPr lang="en-US">
                <a:solidFill>
                  <a:srgbClr val="000000"/>
                </a:solidFill>
              </a:rPr>
              <a:t>Setup step one is the golden set, and the most important design choice is how you compare answers.</a:t>
            </a:r>
            <a:br>
              <a:rPr lang="en-US">
                <a:solidFill>
                  <a:srgbClr val="000000"/>
                </a:solidFill>
              </a:rPr>
            </a:br>
            <a:br>
              <a:rPr lang="en-US">
                <a:solidFill>
                  <a:srgbClr val="000000"/>
                </a:solidFill>
              </a:rPr>
            </a:br>
            <a:r>
              <a:rPr lang="en-US">
                <a:solidFill>
                  <a:srgbClr val="000000"/>
                </a:solidFill>
              </a:rPr>
              <a:t>Each golden record has three parts: the question, the query that answers it, and the expected answer expressed as a set of entity IDs, business keys from your system of record, not names.</a:t>
            </a:r>
            <a:br>
              <a:rPr lang="en-US">
                <a:solidFill>
                  <a:srgbClr val="000000"/>
                </a:solidFill>
              </a:rPr>
            </a:br>
            <a:br>
              <a:rPr lang="en-US">
                <a:solidFill>
                  <a:srgbClr val="000000"/>
                </a:solidFill>
              </a:rPr>
            </a:br>
            <a:r>
              <a:rPr lang="en-US">
                <a:solidFill>
                  <a:srgbClr val="000000"/>
                </a:solidFill>
              </a:rPr>
              <a:t>Two independent routes produce two sets. On top, the query runs on the graph you're testing and returns IDs. On the bottom, the expected answer comes from the source system, for example a SQL query on the warehouse, or a curated answer that's been resolved to keys. Then we compare the two sets. Order doesn't matter, and no text is compared.</a:t>
            </a:r>
            <a:br>
              <a:rPr lang="en-US">
                <a:solidFill>
                  <a:srgbClr val="000000"/>
                </a:solidFill>
              </a:rPr>
            </a:br>
            <a:br>
              <a:rPr lang="en-US">
                <a:solidFill>
                  <a:srgbClr val="000000"/>
                </a:solidFill>
              </a:rPr>
            </a:br>
            <a:r>
              <a:rPr lang="en-US">
                <a:solidFill>
                  <a:srgbClr val="000000"/>
                </a:solidFill>
              </a:rPr>
              <a:t>Identical sets are correct. Anything else gets a verdict that tells the fixing team something: incomplete means true answers are missing, contaminated means extra ones crept in, empty means nothing came back.</a:t>
            </a:r>
            <a:br>
              <a:rPr lang="en-US">
                <a:solidFill>
                  <a:srgbClr val="000000"/>
                </a:solidFill>
              </a:rPr>
            </a:br>
            <a:br>
              <a:rPr lang="en-US">
                <a:solidFill>
                  <a:srgbClr val="000000"/>
                </a:solidFill>
              </a:rPr>
            </a:br>
            <a:r>
              <a:rPr lang="en-US">
                <a:solidFill>
                  <a:srgbClr val="000000"/>
                </a:solidFill>
              </a:rPr>
              <a:t>Why IDs? Names are ambiguous, and in a damaged graph two entities can share a name. IDs also make duplicates fail correctly: a duplicate's ID doesn't exist in the source, so landing on it shows up as a wrong answer, which it is.</a:t>
            </a:r>
            <a:endParaRPr>
              <a:solidFill>
                <a:srgbClr val="000000"/>
              </a:solidFill>
            </a:endParaRPr>
          </a:p>
        </p:txBody>
      </p:sp>
      <p:sp>
        <p:nvSpPr>
          <p:cNvPr id="257" name="Google Shape;25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2 minutes.]</a:t>
            </a:r>
            <a:br>
              <a:rPr lang="en-US">
                <a:solidFill>
                  <a:srgbClr val="000000"/>
                </a:solidFill>
              </a:rPr>
            </a:br>
            <a:br>
              <a:rPr lang="en-US">
                <a:solidFill>
                  <a:srgbClr val="000000"/>
                </a:solidFill>
              </a:rPr>
            </a:br>
            <a:r>
              <a:rPr lang="en-US">
                <a:solidFill>
                  <a:srgbClr val="000000"/>
                </a:solidFill>
              </a:rPr>
              <a:t>Setup step two is the queries. In many teams these already exist: the known queries behind dashboards, reports or a question catalog. Here it's shown as Cypher, but the same applies to SPARQL, Gremlin or SQL over a graph.</a:t>
            </a:r>
            <a:br>
              <a:rPr lang="en-US">
                <a:solidFill>
                  <a:srgbClr val="000000"/>
                </a:solidFill>
              </a:rPr>
            </a:br>
            <a:br>
              <a:rPr lang="en-US">
                <a:solidFill>
                  <a:srgbClr val="000000"/>
                </a:solidFill>
              </a:rPr>
            </a:br>
            <a:r>
              <a:rPr lang="en-US">
                <a:solidFill>
                  <a:srgbClr val="000000"/>
                </a:solidFill>
              </a:rPr>
              <a:t>Three rules. First, return business keys, never display names, so the comparison with the expected IDs is exact.</a:t>
            </a:r>
            <a:br>
              <a:rPr lang="en-US">
                <a:solidFill>
                  <a:srgbClr val="000000"/>
                </a:solidFill>
              </a:rPr>
            </a:br>
            <a:br>
              <a:rPr lang="en-US">
                <a:solidFill>
                  <a:srgbClr val="000000"/>
                </a:solidFill>
              </a:rPr>
            </a:br>
            <a:r>
              <a:rPr lang="en-US">
                <a:solidFill>
                  <a:srgbClr val="000000"/>
                </a:solidFill>
              </a:rPr>
              <a:t>Second, return the path, the highlighted lines. Collecting the IDs of everything the query touched gives you the query's footprint, and that footprint is where we'll look for defects in the next step.</a:t>
            </a:r>
            <a:br>
              <a:rPr lang="en-US">
                <a:solidFill>
                  <a:srgbClr val="000000"/>
                </a:solidFill>
              </a:rPr>
            </a:br>
            <a:br>
              <a:rPr lang="en-US">
                <a:solidFill>
                  <a:srgbClr val="000000"/>
                </a:solidFill>
              </a:rPr>
            </a:br>
            <a:r>
              <a:rPr lang="en-US">
                <a:solidFill>
                  <a:srgbClr val="000000"/>
                </a:solidFill>
              </a:rPr>
              <a:t>Third, validate each query once against a snapshot you trust, such as the last release the business signed off, or a copy rebuilt from source. If a query fails there, it's a query bug, and you don't want to blame the graph for it.</a:t>
            </a:r>
            <a:br>
              <a:rPr lang="en-US">
                <a:solidFill>
                  <a:srgbClr val="000000"/>
                </a:solidFill>
              </a:rPr>
            </a:br>
            <a:br>
              <a:rPr lang="en-US">
                <a:solidFill>
                  <a:srgbClr val="000000"/>
                </a:solidFill>
              </a:rPr>
            </a:br>
            <a:r>
              <a:rPr lang="en-US">
                <a:solidFill>
                  <a:srgbClr val="000000"/>
                </a:solidFill>
              </a:rPr>
              <a:t>Notice there's no LLM in this loop. Each question's query is fixed. That's deliberate: it isolates graph quality, so every wrong answer is the graph's fault. I'll show how to bring the LLM back in near the end.</a:t>
            </a:r>
            <a:endParaRPr>
              <a:solidFill>
                <a:srgbClr val="000000"/>
              </a:solidFill>
            </a:endParaRPr>
          </a:p>
        </p:txBody>
      </p:sp>
      <p:sp>
        <p:nvSpPr>
          <p:cNvPr id="305" name="Google Shape;30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2 to 3 minutes.]</a:t>
            </a:r>
            <a:br>
              <a:rPr lang="en-US">
                <a:solidFill>
                  <a:srgbClr val="000000"/>
                </a:solidFill>
              </a:rPr>
            </a:br>
            <a:br>
              <a:rPr lang="en-US">
                <a:solidFill>
                  <a:srgbClr val="000000"/>
                </a:solidFill>
              </a:rPr>
            </a:br>
            <a:r>
              <a:rPr lang="en-US">
                <a:solidFill>
                  <a:srgbClr val="000000"/>
                </a:solidFill>
              </a:rPr>
              <a:t>Setup step three is the features, and this is where most of the judgment goes.</a:t>
            </a:r>
            <a:br>
              <a:rPr lang="en-US">
                <a:solidFill>
                  <a:srgbClr val="000000"/>
                </a:solidFill>
              </a:rPr>
            </a:br>
            <a:br>
              <a:rPr lang="en-US">
                <a:solidFill>
                  <a:srgbClr val="000000"/>
                </a:solidFill>
              </a:rPr>
            </a:br>
            <a:r>
              <a:rPr lang="en-US">
                <a:solidFill>
                  <a:srgbClr val="000000"/>
                </a:solidFill>
              </a:rPr>
              <a:t>Take the IDs each query touched and run your constraint checks on just those entities and relationships. Count the violations. On the left are the kinds of signals we use, grouped by the control that would prevent them: duplicates and unknown keys for deduplication; type and hierarchy violations for schema validation; broken steps, cardinality and totals that no longer reconcile for referential integrity; and missing required properties for completeness.</a:t>
            </a:r>
            <a:br>
              <a:rPr lang="en-US">
                <a:solidFill>
                  <a:srgbClr val="000000"/>
                </a:solidFill>
              </a:rPr>
            </a:br>
            <a:br>
              <a:rPr lang="en-US">
                <a:solidFill>
                  <a:srgbClr val="000000"/>
                </a:solidFill>
              </a:rPr>
            </a:br>
            <a:r>
              <a:rPr lang="en-US">
                <a:solidFill>
                  <a:srgbClr val="000000"/>
                </a:solidFill>
              </a:rPr>
              <a:t>The rule that matters most: a defect signal must be zero on a valid graph. If a signal is non-zero on clean data, it's measuring something else, and you'll send engineers to fix a problem that doesn't exist.</a:t>
            </a:r>
            <a:br>
              <a:rPr lang="en-US">
                <a:solidFill>
                  <a:srgbClr val="000000"/>
                </a:solidFill>
              </a:rPr>
            </a:br>
            <a:br>
              <a:rPr lang="en-US">
                <a:solidFill>
                  <a:srgbClr val="000000"/>
                </a:solidFill>
              </a:rPr>
            </a:br>
            <a:r>
              <a:rPr lang="en-US">
                <a:solidFill>
                  <a:srgbClr val="000000"/>
                </a:solidFill>
              </a:rPr>
              <a:t>On the right are exposure features: how big and how deep the question is. Questions that walk large hierarchies simply have more ways to fail. The model needs those to avoid mistaking difficulty for damage, but blame that lands on them is never routed to a fix.</a:t>
            </a:r>
            <a:br>
              <a:rPr lang="en-US">
                <a:solidFill>
                  <a:srgbClr val="000000"/>
                </a:solidFill>
              </a:rPr>
            </a:br>
            <a:br>
              <a:rPr lang="en-US">
                <a:solidFill>
                  <a:srgbClr val="000000"/>
                </a:solidFill>
              </a:rPr>
            </a:br>
            <a:r>
              <a:rPr lang="en-US">
                <a:solidFill>
                  <a:srgbClr val="000000"/>
                </a:solidFill>
              </a:rPr>
              <a:t>And one pitfall we hit ourselves. Our first version used subgraph size and averages, like mean property fill over the touched nodes. The classifier scored an AUC of 0.99, which should have been a warning. Those features move whenever the answer changes, so the model was predicting wrong answers from wrong answers. Counts of defects avoid that.</a:t>
            </a:r>
            <a:endParaRPr>
              <a:solidFill>
                <a:srgbClr val="000000"/>
              </a:solidFill>
            </a:endParaRPr>
          </a:p>
        </p:txBody>
      </p:sp>
      <p:sp>
        <p:nvSpPr>
          <p:cNvPr id="325" name="Google Shape;32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2 minutes.]</a:t>
            </a:r>
            <a:br>
              <a:rPr lang="en-US">
                <a:solidFill>
                  <a:srgbClr val="000000"/>
                </a:solidFill>
              </a:rPr>
            </a:br>
            <a:br>
              <a:rPr lang="en-US">
                <a:solidFill>
                  <a:srgbClr val="000000"/>
                </a:solidFill>
              </a:rPr>
            </a:br>
            <a:r>
              <a:rPr lang="en-US">
                <a:solidFill>
                  <a:srgbClr val="000000"/>
                </a:solidFill>
              </a:rPr>
              <a:t>Setup step four turns per-question signals into a decision.</a:t>
            </a:r>
            <a:br>
              <a:rPr lang="en-US">
                <a:solidFill>
                  <a:srgbClr val="000000"/>
                </a:solidFill>
              </a:rPr>
            </a:br>
            <a:br>
              <a:rPr lang="en-US">
                <a:solidFill>
                  <a:srgbClr val="000000"/>
                </a:solidFill>
              </a:rPr>
            </a:br>
            <a:r>
              <a:rPr lang="en-US">
                <a:solidFill>
                  <a:srgbClr val="000000"/>
                </a:solidFill>
              </a:rPr>
              <a:t>First, train a classifier on the trace features to predict which questions fail. In the demo it's LightGBM, but any model with per-prediction attributions works.</a:t>
            </a:r>
            <a:br>
              <a:rPr lang="en-US">
                <a:solidFill>
                  <a:srgbClr val="000000"/>
                </a:solidFill>
              </a:rPr>
            </a:br>
            <a:br>
              <a:rPr lang="en-US">
                <a:solidFill>
                  <a:srgbClr val="000000"/>
                </a:solidFill>
              </a:rPr>
            </a:br>
            <a:r>
              <a:rPr lang="en-US">
                <a:solidFill>
                  <a:srgbClr val="000000"/>
                </a:solidFill>
              </a:rPr>
              <a:t>Second, for each wrong answer, look at the SHAP values: which features pushed this particular prediction toward wrong.</a:t>
            </a:r>
            <a:br>
              <a:rPr lang="en-US">
                <a:solidFill>
                  <a:srgbClr val="000000"/>
                </a:solidFill>
              </a:rPr>
            </a:br>
            <a:br>
              <a:rPr lang="en-US">
                <a:solidFill>
                  <a:srgbClr val="000000"/>
                </a:solidFill>
              </a:rPr>
            </a:br>
            <a:r>
              <a:rPr lang="en-US">
                <a:solidFill>
                  <a:srgbClr val="000000"/>
                </a:solidFill>
              </a:rPr>
              <a:t>Third, give each wrong answer exactly one unit of blame and split it across those features in proportion to their contribution. That keeps the arithmetic honest: total blame equals the number of wrong answers.</a:t>
            </a:r>
            <a:br>
              <a:rPr lang="en-US">
                <a:solidFill>
                  <a:srgbClr val="000000"/>
                </a:solidFill>
              </a:rPr>
            </a:br>
            <a:br>
              <a:rPr lang="en-US">
                <a:solidFill>
                  <a:srgbClr val="000000"/>
                </a:solidFill>
              </a:rPr>
            </a:br>
            <a:r>
              <a:rPr lang="en-US">
                <a:solidFill>
                  <a:srgbClr val="000000"/>
                </a:solidFill>
              </a:rPr>
              <a:t>Fourth, roll the blame up by control, using the map from signals to controls. Blame that lands on exposure features stays with the question; some questions are simply harder, and no data-quality fix changes that.</a:t>
            </a:r>
            <a:br>
              <a:rPr lang="en-US">
                <a:solidFill>
                  <a:srgbClr val="000000"/>
                </a:solidFill>
              </a:rPr>
            </a:br>
            <a:br>
              <a:rPr lang="en-US">
                <a:solidFill>
                  <a:srgbClr val="000000"/>
                </a:solidFill>
              </a:rPr>
            </a:br>
            <a:r>
              <a:rPr lang="en-US">
                <a:solidFill>
                  <a:srgbClr val="000000"/>
                </a:solidFill>
              </a:rPr>
              <a:t>The output is a ranked list of controls with an attributed number of wrong answers per thousand questions. You'll see the demo's version shortly.</a:t>
            </a:r>
            <a:endParaRPr>
              <a:solidFill>
                <a:srgbClr val="000000"/>
              </a:solidFill>
            </a:endParaRPr>
          </a:p>
        </p:txBody>
      </p:sp>
      <p:sp>
        <p:nvSpPr>
          <p:cNvPr id="340" name="Google Shape;34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1 minute.]</a:t>
            </a:r>
            <a:br>
              <a:rPr lang="en-US">
                <a:solidFill>
                  <a:srgbClr val="000000"/>
                </a:solidFill>
              </a:rPr>
            </a:br>
            <a:br>
              <a:rPr lang="en-US">
                <a:solidFill>
                  <a:srgbClr val="000000"/>
                </a:solidFill>
              </a:rPr>
            </a:br>
            <a:r>
              <a:rPr lang="en-US">
                <a:solidFill>
                  <a:srgbClr val="000000"/>
                </a:solidFill>
              </a:rPr>
              <a:t>Here's the setup checklist in one place.</a:t>
            </a:r>
            <a:br>
              <a:rPr lang="en-US">
                <a:solidFill>
                  <a:srgbClr val="000000"/>
                </a:solidFill>
              </a:rPr>
            </a:br>
            <a:br>
              <a:rPr lang="en-US">
                <a:solidFill>
                  <a:srgbClr val="000000"/>
                </a:solidFill>
              </a:rPr>
            </a:br>
            <a:r>
              <a:rPr lang="en-US">
                <a:solidFill>
                  <a:srgbClr val="000000"/>
                </a:solidFill>
              </a:rPr>
              <a:t>The golden set is by far the biggest cost: hundreds of questions whose answers someone trusts, expressed as IDs. The good news is that it's the same asset you need for any serious evaluation, so it pays for itself several ways.</a:t>
            </a:r>
            <a:br>
              <a:rPr lang="en-US">
                <a:solidFill>
                  <a:srgbClr val="000000"/>
                </a:solidFill>
              </a:rPr>
            </a:br>
            <a:br>
              <a:rPr lang="en-US">
                <a:solidFill>
                  <a:srgbClr val="000000"/>
                </a:solidFill>
              </a:rPr>
            </a:br>
            <a:r>
              <a:rPr lang="en-US">
                <a:solidFill>
                  <a:srgbClr val="000000"/>
                </a:solidFill>
              </a:rPr>
              <a:t>Path-returning queries are cheap if the queries already exist. Constraint checks often exist already as data tests. A trusted reference, either the last good snapshot or the source system, usually exists too.</a:t>
            </a:r>
            <a:br>
              <a:rPr lang="en-US">
                <a:solidFill>
                  <a:srgbClr val="000000"/>
                </a:solidFill>
              </a:rPr>
            </a:br>
            <a:br>
              <a:rPr lang="en-US">
                <a:solidFill>
                  <a:srgbClr val="000000"/>
                </a:solidFill>
              </a:rPr>
            </a:br>
            <a:r>
              <a:rPr lang="en-US">
                <a:solidFill>
                  <a:srgbClr val="000000"/>
                </a:solidFill>
              </a:rPr>
              <a:t>The genuinely new work is the map from signals to controls, and writing down the fix procedures each control implies. Now let's see it run.</a:t>
            </a:r>
            <a:endParaRPr>
              <a:solidFill>
                <a:srgbClr val="000000"/>
              </a:solidFill>
            </a:endParaRPr>
          </a:p>
        </p:txBody>
      </p:sp>
      <p:sp>
        <p:nvSpPr>
          <p:cNvPr id="383" name="Google Shape;38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1 to 2 minutes.]</a:t>
            </a:r>
            <a:br>
              <a:rPr lang="en-US">
                <a:solidFill>
                  <a:srgbClr val="000000"/>
                </a:solidFill>
              </a:rPr>
            </a:br>
            <a:br>
              <a:rPr lang="en-US">
                <a:solidFill>
                  <a:srgbClr val="000000"/>
                </a:solidFill>
              </a:rPr>
            </a:br>
            <a:r>
              <a:rPr lang="en-US">
                <a:solidFill>
                  <a:srgbClr val="000000"/>
                </a:solidFill>
              </a:rPr>
              <a:t>Here's the dataset for the demo. AdventureWorks is Microsoft's sample database for a fictional bicycle manufacturer, released under the MIT license. Most of you have probably seen it in SQL tutorials. It covers purchasing, manufacturing, sales and HR.</a:t>
            </a:r>
            <a:br>
              <a:rPr lang="en-US">
                <a:solidFill>
                  <a:srgbClr val="000000"/>
                </a:solidFill>
              </a:rPr>
            </a:br>
            <a:br>
              <a:rPr lang="en-US">
                <a:solidFill>
                  <a:srgbClr val="000000"/>
                </a:solidFill>
              </a:rPr>
            </a:br>
            <a:r>
              <a:rPr lang="en-US">
                <a:solidFill>
                  <a:srgbClr val="000000"/>
                </a:solidFill>
              </a:rPr>
              <a:t>We loaded it as a graph: every ID column becomes an entity type and every foreign key becomes a typed relationship. That gives 17 entity types, 22 relationship types, about 57 thousand entities and 271 thousand relationships. This picture shows the main ones.</a:t>
            </a:r>
            <a:br>
              <a:rPr lang="en-US">
                <a:solidFill>
                  <a:srgbClr val="000000"/>
                </a:solidFill>
              </a:rPr>
            </a:br>
            <a:br>
              <a:rPr lang="en-US">
                <a:solidFill>
                  <a:srgbClr val="000000"/>
                </a:solidFill>
              </a:rPr>
            </a:br>
            <a:r>
              <a:rPr lang="en-US">
                <a:solidFill>
                  <a:srgbClr val="000000"/>
                </a:solidFill>
              </a:rPr>
              <a:t>Follow the middle row: purchase orders are placed with vendors, vendors supply products, products are stocked at locations. Below, customers place sales orders, which contain products, are booked in territories and sold by salespeople.</a:t>
            </a:r>
            <a:br>
              <a:rPr lang="en-US">
                <a:solidFill>
                  <a:srgbClr val="000000"/>
                </a:solidFill>
              </a:rPr>
            </a:br>
            <a:br>
              <a:rPr lang="en-US">
                <a:solidFill>
                  <a:srgbClr val="000000"/>
                </a:solidFill>
              </a:rPr>
            </a:br>
            <a:r>
              <a:rPr lang="en-US">
                <a:solidFill>
                  <a:srgbClr val="000000"/>
                </a:solidFill>
              </a:rPr>
              <a:t>Two things make it a good test bed. First, the product node has a recursive bill of materials: products contain components, which contain components, to any depth. That's exactly the kind of question graphs are good at and SQL finds awkward. Second, real questions cross domains. 'If this vendor stops supplying, which finished bikes are affected?' starts in purchasing and walks through manufacturing.</a:t>
            </a:r>
            <a:br>
              <a:rPr lang="en-US">
                <a:solidFill>
                  <a:srgbClr val="000000"/>
                </a:solidFill>
              </a:rPr>
            </a:br>
            <a:br>
              <a:rPr lang="en-US">
                <a:solidFill>
                  <a:srgbClr val="000000"/>
                </a:solidFill>
              </a:rPr>
            </a:br>
            <a:r>
              <a:rPr lang="en-US">
                <a:solidFill>
                  <a:srgbClr val="000000"/>
                </a:solidFill>
              </a:rPr>
              <a:t>It's also a well-known synthetic company, so treat the numbers that follow as a controlled test, not a production benchmark.</a:t>
            </a:r>
            <a:endParaRPr>
              <a:solidFill>
                <a:srgbClr val="000000"/>
              </a:solidFill>
            </a:endParaRPr>
          </a:p>
        </p:txBody>
      </p:sp>
      <p:sp>
        <p:nvSpPr>
          <p:cNvPr id="391" name="Google Shape;39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3 minutes, including the switch to the notebook.]</a:t>
            </a:r>
            <a:br>
              <a:rPr lang="en-US">
                <a:solidFill>
                  <a:srgbClr val="000000"/>
                </a:solidFill>
              </a:rPr>
            </a:br>
            <a:br>
              <a:rPr lang="en-US">
                <a:solidFill>
                  <a:srgbClr val="000000"/>
                </a:solidFill>
              </a:rPr>
            </a:br>
            <a:r>
              <a:rPr lang="en-US">
                <a:solidFill>
                  <a:srgbClr val="000000"/>
                </a:solidFill>
              </a:rPr>
              <a:t>Here's how the demo is set up, using the four setup steps from earlier.</a:t>
            </a:r>
            <a:br>
              <a:rPr lang="en-US">
                <a:solidFill>
                  <a:srgbClr val="000000"/>
                </a:solidFill>
              </a:rPr>
            </a:br>
            <a:br>
              <a:rPr lang="en-US">
                <a:solidFill>
                  <a:srgbClr val="000000"/>
                </a:solidFill>
              </a:rPr>
            </a:br>
            <a:r>
              <a:rPr lang="en-US">
                <a:solidFill>
                  <a:srgbClr val="000000"/>
                </a:solidFill>
              </a:rPr>
              <a:t>The golden set has 1,214 questions generated from 13 templates, four of which recurse through the bill of materials. Every expected answer is computed by SQL directly on the source tables, so the yardstick never touches the graph. As a sanity check, a faithful copy of the source built as a graph answers all 1,214 correctly. That proves the queries and the gold answers agree.</a:t>
            </a:r>
            <a:br>
              <a:rPr lang="en-US">
                <a:solidFill>
                  <a:srgbClr val="000000"/>
                </a:solidFill>
              </a:rPr>
            </a:br>
            <a:br>
              <a:rPr lang="en-US">
                <a:solidFill>
                  <a:srgbClr val="000000"/>
                </a:solidFill>
              </a:rPr>
            </a:br>
            <a:r>
              <a:rPr lang="en-US">
                <a:solidFill>
                  <a:srgbClr val="000000"/>
                </a:solidFill>
              </a:rPr>
              <a:t>The graph under test is the same build passed through a simulated production pipeline that injects four kinds of defects. Which ones, and how many, stays hidden until the end, so the diagnosis has to find them. We diagnose on half the questions and report accuracy on the other half, against a 95% exact-match benchmark.</a:t>
            </a:r>
            <a:br>
              <a:rPr lang="en-US">
                <a:solidFill>
                  <a:srgbClr val="000000"/>
                </a:solidFill>
              </a:rPr>
            </a:br>
            <a:br>
              <a:rPr lang="en-US">
                <a:solidFill>
                  <a:srgbClr val="000000"/>
                </a:solidFill>
              </a:rPr>
            </a:br>
            <a:r>
              <a:rPr lang="en-US">
                <a:solidFill>
                  <a:srgbClr val="000000"/>
                </a:solidFill>
              </a:rPr>
              <a:t>[Switch to the local full notebook so all outputs are already there.] Show three things: the sanity check; the baseline accuracy table for the graph under test; and the loop running round by round. Then come back to the slides.</a:t>
            </a:r>
            <a:endParaRPr>
              <a:solidFill>
                <a:srgbClr val="000000"/>
              </a:solidFill>
            </a:endParaRPr>
          </a:p>
        </p:txBody>
      </p:sp>
      <p:sp>
        <p:nvSpPr>
          <p:cNvPr id="454" name="Google Shape;45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1 to 2 minutes.]</a:t>
            </a:r>
            <a:br>
              <a:rPr lang="en-US">
                <a:solidFill>
                  <a:srgbClr val="000000"/>
                </a:solidFill>
              </a:rPr>
            </a:br>
            <a:br>
              <a:rPr lang="en-US">
                <a:solidFill>
                  <a:srgbClr val="000000"/>
                </a:solidFill>
              </a:rPr>
            </a:br>
            <a:r>
              <a:rPr lang="en-US">
                <a:solidFill>
                  <a:srgbClr val="000000"/>
                </a:solidFill>
              </a:rPr>
              <a:t>Back on the slides, here's the baseline diagnosis from the demo. Mean F1 is 0.95, but only 71% of held-out answers are exactly right: the same effect as the toy example at the start, now at scale.</a:t>
            </a:r>
            <a:br>
              <a:rPr lang="en-US">
                <a:solidFill>
                  <a:srgbClr val="000000"/>
                </a:solidFill>
              </a:rPr>
            </a:br>
            <a:br>
              <a:rPr lang="en-US">
                <a:solidFill>
                  <a:srgbClr val="000000"/>
                </a:solidFill>
              </a:rPr>
            </a:br>
            <a:r>
              <a:rPr lang="en-US">
                <a:solidFill>
                  <a:srgbClr val="000000"/>
                </a:solidFill>
              </a:rPr>
              <a:t>The classifier separates failing from passing questions well, with an out-of-fold AUC of 0.99, using only defect and exposure features.</a:t>
            </a:r>
            <a:br>
              <a:rPr lang="en-US">
                <a:solidFill>
                  <a:srgbClr val="000000"/>
                </a:solidFill>
              </a:rPr>
            </a:br>
            <a:br>
              <a:rPr lang="en-US">
                <a:solidFill>
                  <a:srgbClr val="000000"/>
                </a:solidFill>
              </a:rPr>
            </a:br>
            <a:r>
              <a:rPr lang="en-US">
                <a:solidFill>
                  <a:srgbClr val="000000"/>
                </a:solidFill>
              </a:rPr>
              <a:t>The chart is the ranked output from setup step four. Question exposure carries the most blame, which is expected: complex, recursive questions fail more, and no fix changes that. Among fixable controls, schema and hierarchy validation ranks first, then completeness, referential integrity and deduplication. So round one of the loop applies schema and hierarchy validation.</a:t>
            </a:r>
            <a:endParaRPr>
              <a:solidFill>
                <a:srgbClr val="000000"/>
              </a:solidFill>
            </a:endParaRPr>
          </a:p>
        </p:txBody>
      </p:sp>
      <p:sp>
        <p:nvSpPr>
          <p:cNvPr id="480" name="Google Shape;48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1 minute.]</a:t>
            </a:r>
            <a:br>
              <a:rPr lang="en-US">
                <a:solidFill>
                  <a:srgbClr val="000000"/>
                </a:solidFill>
              </a:rPr>
            </a:br>
            <a:br>
              <a:rPr lang="en-US">
                <a:solidFill>
                  <a:srgbClr val="000000"/>
                </a:solidFill>
              </a:rPr>
            </a:br>
            <a:r>
              <a:rPr lang="en-US">
                <a:solidFill>
                  <a:srgbClr val="000000"/>
                </a:solidFill>
              </a:rPr>
              <a:t>Here's the loop end to end. Baseline 71% on held-out questions. Round one applies schema and hierarchy validation, as ranked: 83%. Round two, completeness: 89%. Round three, deduplication: 92%. Round four, referential integrity: past the 95% benchmark.</a:t>
            </a:r>
            <a:br>
              <a:rPr lang="en-US">
                <a:solidFill>
                  <a:srgbClr val="000000"/>
                </a:solidFill>
              </a:rPr>
            </a:br>
            <a:br>
              <a:rPr lang="en-US">
                <a:solidFill>
                  <a:srgbClr val="000000"/>
                </a:solidFill>
              </a:rPr>
            </a:br>
            <a:r>
              <a:rPr lang="en-US">
                <a:solidFill>
                  <a:srgbClr val="000000"/>
                </a:solidFill>
              </a:rPr>
              <a:t>Please take the caveat seriously, and I'd say this out loud to any stakeholder. It reaches 100% only because each fix in the demo exactly reverses one kind of simulated defect. Real fixes are partial and sometimes introduce new errors, so in practice expect a plateau below 100%.</a:t>
            </a:r>
            <a:br>
              <a:rPr lang="en-US">
                <a:solidFill>
                  <a:srgbClr val="000000"/>
                </a:solidFill>
              </a:rPr>
            </a:br>
            <a:br>
              <a:rPr lang="en-US">
                <a:solidFill>
                  <a:srgbClr val="000000"/>
                </a:solidFill>
              </a:rPr>
            </a:br>
            <a:r>
              <a:rPr lang="en-US">
                <a:solidFill>
                  <a:srgbClr val="000000"/>
                </a:solidFill>
              </a:rPr>
              <a:t>In each round we also measured every alternative fix on a scratch copy. SHAP's first choice was the best available fix in three of the four rounds. Which raises the obvious question: is that luck?</a:t>
            </a:r>
            <a:endParaRPr>
              <a:solidFill>
                <a:srgbClr val="000000"/>
              </a:solidFill>
            </a:endParaRPr>
          </a:p>
        </p:txBody>
      </p:sp>
      <p:sp>
        <p:nvSpPr>
          <p:cNvPr id="493" name="Google Shape;49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2 minutes.]</a:t>
            </a:r>
            <a:br>
              <a:rPr lang="en-US">
                <a:solidFill>
                  <a:srgbClr val="000000"/>
                </a:solidFill>
              </a:rPr>
            </a:br>
            <a:br>
              <a:rPr lang="en-US">
                <a:solidFill>
                  <a:srgbClr val="000000"/>
                </a:solidFill>
              </a:rPr>
            </a:br>
            <a:r>
              <a:rPr lang="en-US">
                <a:solidFill>
                  <a:srgbClr val="000000"/>
                </a:solidFill>
              </a:rPr>
              <a:t>To check whether the ranking is trustworthy, we built 16 more graphs with randomly scaled defect rates, each rate between a quarter and four times the demo's. For each one, we measured by trial which fix actually recovers the most answers, and compared three ways of choosing.</a:t>
            </a:r>
            <a:br>
              <a:rPr lang="en-US">
                <a:solidFill>
                  <a:srgbClr val="000000"/>
                </a:solidFill>
              </a:rPr>
            </a:br>
            <a:br>
              <a:rPr lang="en-US">
                <a:solidFill>
                  <a:srgbClr val="000000"/>
                </a:solidFill>
              </a:rPr>
            </a:br>
            <a:r>
              <a:rPr lang="en-US">
                <a:solidFill>
                  <a:srgbClr val="000000"/>
                </a:solidFill>
              </a:rPr>
              <a:t>SHAP attribution picked the best first fix 9 times out of 16. A simple heuristic, picking the control whose signals fire on the most failed questions, managed 2. Random choice would get about 4.</a:t>
            </a:r>
            <a:br>
              <a:rPr lang="en-US">
                <a:solidFill>
                  <a:srgbClr val="000000"/>
                </a:solidFill>
              </a:rPr>
            </a:br>
            <a:br>
              <a:rPr lang="en-US">
                <a:solidFill>
                  <a:srgbClr val="000000"/>
                </a:solidFill>
              </a:rPr>
            </a:br>
            <a:r>
              <a:rPr lang="en-US">
                <a:solidFill>
                  <a:srgbClr val="000000"/>
                </a:solidFill>
              </a:rPr>
              <a:t>Hit rate isn't everything, so we also measured the cost of each choice: how many wrong answers per thousand the first pick leaves unrecovered compared with the best pick. About 15 for SHAP versus 57 for the heuristic.</a:t>
            </a:r>
            <a:br>
              <a:rPr lang="en-US">
                <a:solidFill>
                  <a:srgbClr val="000000"/>
                </a:solidFill>
              </a:rPr>
            </a:br>
            <a:br>
              <a:rPr lang="en-US">
                <a:solidFill>
                  <a:srgbClr val="000000"/>
                </a:solidFill>
              </a:rPr>
            </a:br>
            <a:r>
              <a:rPr lang="en-US">
                <a:solidFill>
                  <a:srgbClr val="000000"/>
                </a:solidFill>
              </a:rPr>
              <a:t>When it misses, the usual cause is dropped many-to-many links, like a missing supplier relationship. Nothing on the query's path says a link should be there, so no detector fires. The lesson generalizes: the diagnosis is only as good as its detectors. Treat the ranking as a shortlist you verify, not an oracle.</a:t>
            </a:r>
            <a:endParaRPr>
              <a:solidFill>
                <a:srgbClr val="000000"/>
              </a:solidFill>
            </a:endParaRPr>
          </a:p>
        </p:txBody>
      </p:sp>
      <p:sp>
        <p:nvSpPr>
          <p:cNvPr id="506" name="Google Shape;50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2 minutes.]</a:t>
            </a:r>
            <a:br>
              <a:rPr lang="en-US">
                <a:solidFill>
                  <a:srgbClr val="000000"/>
                </a:solidFill>
              </a:rPr>
            </a:br>
            <a:br>
              <a:rPr lang="en-US">
                <a:solidFill>
                  <a:srgbClr val="000000"/>
                </a:solidFill>
              </a:rPr>
            </a:br>
            <a:r>
              <a:rPr lang="en-US">
                <a:solidFill>
                  <a:srgbClr val="000000"/>
                </a:solidFill>
              </a:rPr>
              <a:t>Four limits I'd like you to remember, because they're where this approach can mislead you.</a:t>
            </a:r>
            <a:br>
              <a:rPr lang="en-US">
                <a:solidFill>
                  <a:srgbClr val="000000"/>
                </a:solidFill>
              </a:rPr>
            </a:br>
            <a:br>
              <a:rPr lang="en-US">
                <a:solidFill>
                  <a:srgbClr val="000000"/>
                </a:solidFill>
              </a:rPr>
            </a:br>
            <a:r>
              <a:rPr lang="en-US">
                <a:solidFill>
                  <a:srgbClr val="000000"/>
                </a:solidFill>
              </a:rPr>
              <a:t>It doesn't test the query layer. We assumed a perfect parser on purpose. If your system generates queries with an LLM, that layer needs its own test, which I'll show in a moment.</a:t>
            </a:r>
            <a:br>
              <a:rPr lang="en-US">
                <a:solidFill>
                  <a:srgbClr val="000000"/>
                </a:solidFill>
              </a:rPr>
            </a:br>
            <a:br>
              <a:rPr lang="en-US">
                <a:solidFill>
                  <a:srgbClr val="000000"/>
                </a:solidFill>
              </a:rPr>
            </a:br>
            <a:r>
              <a:rPr lang="en-US">
                <a:solidFill>
                  <a:srgbClr val="000000"/>
                </a:solidFill>
              </a:rPr>
              <a:t>It only sees what the golden set asks about. A defect that no question touches costs nothing in this measurement, so build the golden set from the questions users actually ask.</a:t>
            </a:r>
            <a:br>
              <a:rPr lang="en-US">
                <a:solidFill>
                  <a:srgbClr val="000000"/>
                </a:solidFill>
              </a:rPr>
            </a:br>
            <a:br>
              <a:rPr lang="en-US">
                <a:solidFill>
                  <a:srgbClr val="000000"/>
                </a:solidFill>
              </a:rPr>
            </a:br>
            <a:r>
              <a:rPr lang="en-US">
                <a:solidFill>
                  <a:srgbClr val="000000"/>
                </a:solidFill>
              </a:rPr>
              <a:t>It can only blame defects it has detectors for, as we just saw. Track the share of failures that no signal explains; when it grows, you need a new detector.</a:t>
            </a:r>
            <a:br>
              <a:rPr lang="en-US">
                <a:solidFill>
                  <a:srgbClr val="000000"/>
                </a:solidFill>
              </a:rPr>
            </a:br>
            <a:br>
              <a:rPr lang="en-US">
                <a:solidFill>
                  <a:srgbClr val="000000"/>
                </a:solidFill>
              </a:rPr>
            </a:br>
            <a:r>
              <a:rPr lang="en-US">
                <a:solidFill>
                  <a:srgbClr val="000000"/>
                </a:solidFill>
              </a:rPr>
              <a:t>And attribution is a ranking, not a forecast. Use it to decide what to try first, and report the re-measured accuracy, not the attributed number.</a:t>
            </a:r>
            <a:br>
              <a:rPr lang="en-US">
                <a:solidFill>
                  <a:srgbClr val="000000"/>
                </a:solidFill>
              </a:rPr>
            </a:br>
            <a:br>
              <a:rPr lang="en-US">
                <a:solidFill>
                  <a:srgbClr val="000000"/>
                </a:solidFill>
              </a:rPr>
            </a:br>
            <a:r>
              <a:rPr lang="en-US">
                <a:solidFill>
                  <a:srgbClr val="000000"/>
                </a:solidFill>
              </a:rPr>
              <a:t>One more note on the demo: the defects there are simulated, which is exactly what lets us check the diagnosis against known causes. The fixes are ordinary data-quality procedures.</a:t>
            </a:r>
            <a:endParaRPr>
              <a:solidFill>
                <a:srgbClr val="000000"/>
              </a:solidFill>
            </a:endParaRPr>
          </a:p>
        </p:txBody>
      </p:sp>
      <p:sp>
        <p:nvSpPr>
          <p:cNvPr id="519" name="Google Shape;51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2 minutes.]</a:t>
            </a:r>
            <a:br>
              <a:rPr lang="en-US">
                <a:solidFill>
                  <a:srgbClr val="000000"/>
                </a:solidFill>
              </a:rPr>
            </a:br>
            <a:br>
              <a:rPr lang="en-US">
                <a:solidFill>
                  <a:srgbClr val="000000"/>
                </a:solidFill>
              </a:rPr>
            </a:br>
            <a:r>
              <a:rPr lang="en-US">
                <a:solidFill>
                  <a:srgbClr val="000000"/>
                </a:solidFill>
              </a:rPr>
              <a:t>How do you run this day to day? Treat it like continuous integration for graph releases, not as an autopilot that edits your graph.</a:t>
            </a:r>
            <a:br>
              <a:rPr lang="en-US">
                <a:solidFill>
                  <a:srgbClr val="000000"/>
                </a:solidFill>
              </a:rPr>
            </a:br>
            <a:br>
              <a:rPr lang="en-US">
                <a:solidFill>
                  <a:srgbClr val="000000"/>
                </a:solidFill>
              </a:rPr>
            </a:br>
            <a:r>
              <a:rPr lang="en-US">
                <a:solidFill>
                  <a:srgbClr val="000000"/>
                </a:solidFill>
              </a:rPr>
              <a:t>Constraint checks run on every load and take seconds. The golden-set regression runs on every load and takes minutes; if accuracy falls below the benchmark, the release is blocked.</a:t>
            </a:r>
            <a:br>
              <a:rPr lang="en-US">
                <a:solidFill>
                  <a:srgbClr val="000000"/>
                </a:solidFill>
              </a:rPr>
            </a:br>
            <a:br>
              <a:rPr lang="en-US">
                <a:solidFill>
                  <a:srgbClr val="000000"/>
                </a:solidFill>
              </a:rPr>
            </a:br>
            <a:r>
              <a:rPr lang="en-US">
                <a:solidFill>
                  <a:srgbClr val="000000"/>
                </a:solidFill>
              </a:rPr>
              <a:t>When accuracy drops, run the diagnosis comparing the new snapshot's query traces with the last good snapshot. That's a sharper question than 'what's wrong with my graph': it's 'what did this release break', and the attribution is much cleaner.</a:t>
            </a:r>
            <a:br>
              <a:rPr lang="en-US">
                <a:solidFill>
                  <a:srgbClr val="000000"/>
                </a:solidFill>
              </a:rPr>
            </a:br>
            <a:br>
              <a:rPr lang="en-US">
                <a:solidFill>
                  <a:srgbClr val="000000"/>
                </a:solidFill>
              </a:rPr>
            </a:br>
            <a:r>
              <a:rPr lang="en-US">
                <a:solidFill>
                  <a:srgbClr val="000000"/>
                </a:solidFill>
              </a:rPr>
              <a:t>Safe repairs, such as re-syncing properties or restoring keys from the source, can run automatically on a staging copy and be promoted or rolled back based on the re-score. Repairs that need judgment, like merging entities or changing the schema, go to a person with the evidence attached: the failed questions, the signals that fired, the entities involved.</a:t>
            </a:r>
            <a:br>
              <a:rPr lang="en-US">
                <a:solidFill>
                  <a:srgbClr val="000000"/>
                </a:solidFill>
              </a:rPr>
            </a:br>
            <a:br>
              <a:rPr lang="en-US">
                <a:solidFill>
                  <a:srgbClr val="000000"/>
                </a:solidFill>
              </a:rPr>
            </a:br>
            <a:r>
              <a:rPr lang="en-US">
                <a:solidFill>
                  <a:srgbClr val="000000"/>
                </a:solidFill>
              </a:rPr>
              <a:t>And the most important operational rule: fix the pipeline, not just the graph. A defect class that keeps coming back is a bug in the ETL step that creates it.</a:t>
            </a:r>
            <a:endParaRPr>
              <a:solidFill>
                <a:srgbClr val="000000"/>
              </a:solidFill>
            </a:endParaRPr>
          </a:p>
        </p:txBody>
      </p:sp>
      <p:sp>
        <p:nvSpPr>
          <p:cNvPr id="539" name="Google Shape;53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 name="Google Shape;54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1 minute.]</a:t>
            </a:r>
            <a:br>
              <a:rPr lang="en-US">
                <a:solidFill>
                  <a:srgbClr val="000000"/>
                </a:solidFill>
              </a:rPr>
            </a:br>
            <a:br>
              <a:rPr lang="en-US">
                <a:solidFill>
                  <a:srgbClr val="000000"/>
                </a:solidFill>
              </a:rPr>
            </a:br>
            <a:r>
              <a:rPr lang="en-US">
                <a:solidFill>
                  <a:srgbClr val="000000"/>
                </a:solidFill>
              </a:rPr>
              <a:t>Most real GraphRAG systems generate queries with an LLM, so how do you bring that layer back in? With one extra run, and the same golden set.</a:t>
            </a:r>
            <a:br>
              <a:rPr lang="en-US">
                <a:solidFill>
                  <a:srgbClr val="000000"/>
                </a:solidFill>
              </a:rPr>
            </a:br>
            <a:br>
              <a:rPr lang="en-US">
                <a:solidFill>
                  <a:srgbClr val="000000"/>
                </a:solidFill>
              </a:rPr>
            </a:br>
            <a:r>
              <a:rPr lang="en-US">
                <a:solidFill>
                  <a:srgbClr val="000000"/>
                </a:solidFill>
              </a:rPr>
              <a:t>Run the LLM's query on a trusted snapshot as well as on the graph under test. If it's right on the trusted snapshot but wrong on the graph under test, the query was fine and the graph is at fault: use the diagnosis from this talk. If it's wrong on the trusted snapshot, the LLM wrote a bad query: fix the prompt, the schema description or the examples. The rare masked case is a query bug hidden by a graph defect.</a:t>
            </a:r>
            <a:br>
              <a:rPr lang="en-US">
                <a:solidFill>
                  <a:srgbClr val="000000"/>
                </a:solidFill>
              </a:rPr>
            </a:br>
            <a:br>
              <a:rPr lang="en-US">
                <a:solidFill>
                  <a:srgbClr val="000000"/>
                </a:solidFill>
              </a:rPr>
            </a:br>
            <a:r>
              <a:rPr lang="en-US">
                <a:solidFill>
                  <a:srgbClr val="000000"/>
                </a:solidFill>
              </a:rPr>
              <a:t>That two-by-two answers the most common argument in GraphRAG teams: is it the model or the data?</a:t>
            </a:r>
            <a:br>
              <a:rPr lang="en-US">
                <a:solidFill>
                  <a:srgbClr val="000000"/>
                </a:solidFill>
              </a:rPr>
            </a:br>
            <a:br>
              <a:rPr lang="en-US">
                <a:solidFill>
                  <a:srgbClr val="000000"/>
                </a:solidFill>
              </a:rPr>
            </a:br>
            <a:r>
              <a:rPr lang="en-US">
                <a:solidFill>
                  <a:srgbClr val="000000"/>
                </a:solidFill>
              </a:rPr>
              <a:t>For graphs extracted by LLMs from documents, there's no system of record to reconcile against, so the detectors change: they check provenance, whether the source passage actually supports each relationship.</a:t>
            </a:r>
            <a:endParaRPr>
              <a:solidFill>
                <a:srgbClr val="000000"/>
              </a:solidFill>
            </a:endParaRPr>
          </a:p>
        </p:txBody>
      </p:sp>
      <p:sp>
        <p:nvSpPr>
          <p:cNvPr id="549" name="Google Shape;54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 name="Google Shape;57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[About 1 minute, then questions.]</a:t>
            </a:r>
            <a:br>
              <a:rPr lang="en-US">
                <a:solidFill>
                  <a:srgbClr val="000000"/>
                </a:solidFill>
              </a:rPr>
            </a:br>
            <a:br>
              <a:rPr lang="en-US">
                <a:solidFill>
                  <a:srgbClr val="000000"/>
                </a:solidFill>
              </a:rPr>
            </a:br>
            <a:r>
              <a:rPr lang="en-US">
                <a:solidFill>
                  <a:srgbClr val="000000"/>
                </a:solidFill>
              </a:rPr>
              <a:t>Three things to take home.</a:t>
            </a:r>
            <a:br>
              <a:rPr lang="en-US">
                <a:solidFill>
                  <a:srgbClr val="000000"/>
                </a:solidFill>
              </a:rPr>
            </a:br>
            <a:br>
              <a:rPr lang="en-US">
                <a:solidFill>
                  <a:srgbClr val="000000"/>
                </a:solidFill>
              </a:rPr>
            </a:br>
            <a:r>
              <a:rPr lang="en-US">
                <a:solidFill>
                  <a:srgbClr val="000000"/>
                </a:solidFill>
              </a:rPr>
              <a:t>One: score your graph on exact answers from a golden set. Averages like F1 reward near misses, and near misses are wrong answers to the people using them.</a:t>
            </a:r>
            <a:br>
              <a:rPr lang="en-US">
                <a:solidFill>
                  <a:srgbClr val="000000"/>
                </a:solidFill>
              </a:rPr>
            </a:br>
            <a:br>
              <a:rPr lang="en-US">
                <a:solidFill>
                  <a:srgbClr val="000000"/>
                </a:solidFill>
              </a:rPr>
            </a:br>
            <a:r>
              <a:rPr lang="en-US">
                <a:solidFill>
                  <a:srgbClr val="000000"/>
                </a:solidFill>
              </a:rPr>
              <a:t>Two: count defects along each query's path, using signals that are zero on valid data, and attribute failures to the data-quality control that would prevent them. That links the graph team's checks to the AI team's accuracy.</a:t>
            </a:r>
            <a:br>
              <a:rPr lang="en-US">
                <a:solidFill>
                  <a:srgbClr val="000000"/>
                </a:solidFill>
              </a:rPr>
            </a:br>
            <a:br>
              <a:rPr lang="en-US">
                <a:solidFill>
                  <a:srgbClr val="000000"/>
                </a:solidFill>
              </a:rPr>
            </a:br>
            <a:r>
              <a:rPr lang="en-US">
                <a:solidFill>
                  <a:srgbClr val="000000"/>
                </a:solidFill>
              </a:rPr>
              <a:t>Three: treat the ranking as a shortlist, re-measure every fix, and run the whole thing as a release gate rather than an autopilot.</a:t>
            </a:r>
            <a:br>
              <a:rPr lang="en-US">
                <a:solidFill>
                  <a:srgbClr val="000000"/>
                </a:solidFill>
              </a:rPr>
            </a:br>
            <a:br>
              <a:rPr lang="en-US">
                <a:solidFill>
                  <a:srgbClr val="000000"/>
                </a:solidFill>
              </a:rPr>
            </a:br>
            <a:r>
              <a:rPr lang="en-US">
                <a:solidFill>
                  <a:srgbClr val="000000"/>
                </a:solidFill>
              </a:rPr>
              <a:t>Everything is in the repository on the QR code, including the notebook and the robustness experiment. Thank you, and I'm happy to take questions.</a:t>
            </a:r>
            <a:endParaRPr>
              <a:solidFill>
                <a:srgbClr val="000000"/>
              </a:solidFill>
            </a:endParaRPr>
          </a:p>
        </p:txBody>
      </p:sp>
      <p:sp>
        <p:nvSpPr>
          <p:cNvPr id="572" name="Google Shape;57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00000"/>
                </a:solidFill>
              </a:rPr>
              <a:t>[Backup slide; not presented.]</a:t>
            </a:r>
            <a:br>
              <a:rPr lang="en-US">
                <a:solidFill>
                  <a:srgbClr val="000000"/>
                </a:solidFill>
              </a:rPr>
            </a:br>
            <a:br>
              <a:rPr lang="en-US">
                <a:solidFill>
                  <a:srgbClr val="000000"/>
                </a:solidFill>
              </a:rPr>
            </a:br>
            <a:r>
              <a:rPr lang="en-US">
                <a:solidFill>
                  <a:srgbClr val="000000"/>
                </a:solidFill>
              </a:rPr>
              <a:t>References for the landscape and production slides. Leave this up during questions if someone asks where a claim comes from. The tutorial code, data and robustness experiment are in the repository listed at the bottom.</a:t>
            </a:r>
            <a:endParaRPr>
              <a:solidFill>
                <a:srgbClr val="000000"/>
              </a:solidFill>
            </a:endParaRPr>
          </a:p>
        </p:txBody>
      </p:sp>
      <p:sp>
        <p:nvSpPr>
          <p:cNvPr id="591" name="Google Shape;59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DSC_TITLE">
  <p:cSld name="ODSC_TITL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2"/>
          <p:cNvSpPr txBox="1"/>
          <p:nvPr>
            <p:ph type="title"/>
          </p:nvPr>
        </p:nvSpPr>
        <p:spPr>
          <a:xfrm>
            <a:off x="457200" y="685800"/>
            <a:ext cx="6126480" cy="13258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2700"/>
              <a:buFont typeface="Arial"/>
              <a:buNone/>
              <a:defRPr b="1" i="0" sz="27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
          <p:cNvSpPr txBox="1"/>
          <p:nvPr>
            <p:ph idx="1" type="body"/>
          </p:nvPr>
        </p:nvSpPr>
        <p:spPr>
          <a:xfrm>
            <a:off x="457200" y="2103120"/>
            <a:ext cx="6126480" cy="41148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accent2"/>
              </a:buClr>
              <a:buSzPts val="1600"/>
              <a:buFont typeface="Arial"/>
              <a:buNone/>
              <a:defRPr b="0" i="0" sz="1600" u="none" cap="none" strike="noStrike">
                <a:solidFill>
                  <a:schemeClr val="accent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DSC_CONTENT">
  <p:cSld name="ODSC_CONTENT">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56032"/>
            <a:ext cx="6949440" cy="74980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2100"/>
              <a:buFont typeface="Arial"/>
              <a:buNone/>
              <a:defRPr b="1" i="0" sz="21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3"/>
          <p:cNvSpPr txBox="1"/>
          <p:nvPr>
            <p:ph idx="12"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rgbClr val="8A82A6"/>
                </a:solidFill>
                <a:latin typeface="Calibri"/>
                <a:ea typeface="Calibri"/>
                <a:cs typeface="Calibri"/>
                <a:sym typeface="Calibri"/>
              </a:defRPr>
            </a:lvl1pPr>
            <a:lvl2pPr indent="0" lvl="1" marL="0" marR="0" algn="r">
              <a:spcBef>
                <a:spcPts val="0"/>
              </a:spcBef>
              <a:buNone/>
              <a:defRPr b="0" i="0" sz="900" u="none" cap="none" strike="noStrike">
                <a:solidFill>
                  <a:srgbClr val="8A82A6"/>
                </a:solidFill>
                <a:latin typeface="Calibri"/>
                <a:ea typeface="Calibri"/>
                <a:cs typeface="Calibri"/>
                <a:sym typeface="Calibri"/>
              </a:defRPr>
            </a:lvl2pPr>
            <a:lvl3pPr indent="0" lvl="2" marL="0" marR="0" algn="r">
              <a:spcBef>
                <a:spcPts val="0"/>
              </a:spcBef>
              <a:buNone/>
              <a:defRPr b="0" i="0" sz="900" u="none" cap="none" strike="noStrike">
                <a:solidFill>
                  <a:srgbClr val="8A82A6"/>
                </a:solidFill>
                <a:latin typeface="Calibri"/>
                <a:ea typeface="Calibri"/>
                <a:cs typeface="Calibri"/>
                <a:sym typeface="Calibri"/>
              </a:defRPr>
            </a:lvl3pPr>
            <a:lvl4pPr indent="0" lvl="3" marL="0" marR="0" algn="r">
              <a:spcBef>
                <a:spcPts val="0"/>
              </a:spcBef>
              <a:buNone/>
              <a:defRPr b="0" i="0" sz="900" u="none" cap="none" strike="noStrike">
                <a:solidFill>
                  <a:srgbClr val="8A82A6"/>
                </a:solidFill>
                <a:latin typeface="Calibri"/>
                <a:ea typeface="Calibri"/>
                <a:cs typeface="Calibri"/>
                <a:sym typeface="Calibri"/>
              </a:defRPr>
            </a:lvl4pPr>
            <a:lvl5pPr indent="0" lvl="4" marL="0" marR="0" algn="r">
              <a:spcBef>
                <a:spcPts val="0"/>
              </a:spcBef>
              <a:buNone/>
              <a:defRPr b="0" i="0" sz="900" u="none" cap="none" strike="noStrike">
                <a:solidFill>
                  <a:srgbClr val="8A82A6"/>
                </a:solidFill>
                <a:latin typeface="Calibri"/>
                <a:ea typeface="Calibri"/>
                <a:cs typeface="Calibri"/>
                <a:sym typeface="Calibri"/>
              </a:defRPr>
            </a:lvl5pPr>
            <a:lvl6pPr indent="0" lvl="5" marL="0" marR="0" algn="r">
              <a:spcBef>
                <a:spcPts val="0"/>
              </a:spcBef>
              <a:buNone/>
              <a:defRPr b="0" i="0" sz="900" u="none" cap="none" strike="noStrike">
                <a:solidFill>
                  <a:srgbClr val="8A82A6"/>
                </a:solidFill>
                <a:latin typeface="Calibri"/>
                <a:ea typeface="Calibri"/>
                <a:cs typeface="Calibri"/>
                <a:sym typeface="Calibri"/>
              </a:defRPr>
            </a:lvl6pPr>
            <a:lvl7pPr indent="0" lvl="6" marL="0" marR="0" algn="r">
              <a:spcBef>
                <a:spcPts val="0"/>
              </a:spcBef>
              <a:buNone/>
              <a:defRPr b="0" i="0" sz="900" u="none" cap="none" strike="noStrike">
                <a:solidFill>
                  <a:srgbClr val="8A82A6"/>
                </a:solidFill>
                <a:latin typeface="Calibri"/>
                <a:ea typeface="Calibri"/>
                <a:cs typeface="Calibri"/>
                <a:sym typeface="Calibri"/>
              </a:defRPr>
            </a:lvl7pPr>
            <a:lvl8pPr indent="0" lvl="7" marL="0" marR="0" algn="r">
              <a:spcBef>
                <a:spcPts val="0"/>
              </a:spcBef>
              <a:buNone/>
              <a:defRPr b="0" i="0" sz="900" u="none" cap="none" strike="noStrike">
                <a:solidFill>
                  <a:srgbClr val="8A82A6"/>
                </a:solidFill>
                <a:latin typeface="Calibri"/>
                <a:ea typeface="Calibri"/>
                <a:cs typeface="Calibri"/>
                <a:sym typeface="Calibri"/>
              </a:defRPr>
            </a:lvl8pPr>
            <a:lvl9pPr indent="0" lvl="8" marL="0" marR="0" algn="r">
              <a:spcBef>
                <a:spcPts val="0"/>
              </a:spcBef>
              <a:buNone/>
              <a:defRPr b="0" i="0" sz="900" u="none" cap="none" strike="noStrike">
                <a:solidFill>
                  <a:srgbClr val="8A82A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DSC_EMPHASIS">
  <p:cSld name="ODSC_EMPHASIS">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56032"/>
            <a:ext cx="6949440" cy="74980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2100"/>
              <a:buFont typeface="Arial"/>
              <a:buNone/>
              <a:defRPr b="1" i="0" sz="21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4"/>
          <p:cNvSpPr txBox="1"/>
          <p:nvPr>
            <p:ph idx="12"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rgbClr val="8A82A6"/>
                </a:solidFill>
                <a:latin typeface="Calibri"/>
                <a:ea typeface="Calibri"/>
                <a:cs typeface="Calibri"/>
                <a:sym typeface="Calibri"/>
              </a:defRPr>
            </a:lvl1pPr>
            <a:lvl2pPr indent="0" lvl="1" marL="0" marR="0" algn="r">
              <a:spcBef>
                <a:spcPts val="0"/>
              </a:spcBef>
              <a:buNone/>
              <a:defRPr b="0" i="0" sz="900" u="none" cap="none" strike="noStrike">
                <a:solidFill>
                  <a:srgbClr val="8A82A6"/>
                </a:solidFill>
                <a:latin typeface="Calibri"/>
                <a:ea typeface="Calibri"/>
                <a:cs typeface="Calibri"/>
                <a:sym typeface="Calibri"/>
              </a:defRPr>
            </a:lvl2pPr>
            <a:lvl3pPr indent="0" lvl="2" marL="0" marR="0" algn="r">
              <a:spcBef>
                <a:spcPts val="0"/>
              </a:spcBef>
              <a:buNone/>
              <a:defRPr b="0" i="0" sz="900" u="none" cap="none" strike="noStrike">
                <a:solidFill>
                  <a:srgbClr val="8A82A6"/>
                </a:solidFill>
                <a:latin typeface="Calibri"/>
                <a:ea typeface="Calibri"/>
                <a:cs typeface="Calibri"/>
                <a:sym typeface="Calibri"/>
              </a:defRPr>
            </a:lvl3pPr>
            <a:lvl4pPr indent="0" lvl="3" marL="0" marR="0" algn="r">
              <a:spcBef>
                <a:spcPts val="0"/>
              </a:spcBef>
              <a:buNone/>
              <a:defRPr b="0" i="0" sz="900" u="none" cap="none" strike="noStrike">
                <a:solidFill>
                  <a:srgbClr val="8A82A6"/>
                </a:solidFill>
                <a:latin typeface="Calibri"/>
                <a:ea typeface="Calibri"/>
                <a:cs typeface="Calibri"/>
                <a:sym typeface="Calibri"/>
              </a:defRPr>
            </a:lvl4pPr>
            <a:lvl5pPr indent="0" lvl="4" marL="0" marR="0" algn="r">
              <a:spcBef>
                <a:spcPts val="0"/>
              </a:spcBef>
              <a:buNone/>
              <a:defRPr b="0" i="0" sz="900" u="none" cap="none" strike="noStrike">
                <a:solidFill>
                  <a:srgbClr val="8A82A6"/>
                </a:solidFill>
                <a:latin typeface="Calibri"/>
                <a:ea typeface="Calibri"/>
                <a:cs typeface="Calibri"/>
                <a:sym typeface="Calibri"/>
              </a:defRPr>
            </a:lvl5pPr>
            <a:lvl6pPr indent="0" lvl="5" marL="0" marR="0" algn="r">
              <a:spcBef>
                <a:spcPts val="0"/>
              </a:spcBef>
              <a:buNone/>
              <a:defRPr b="0" i="0" sz="900" u="none" cap="none" strike="noStrike">
                <a:solidFill>
                  <a:srgbClr val="8A82A6"/>
                </a:solidFill>
                <a:latin typeface="Calibri"/>
                <a:ea typeface="Calibri"/>
                <a:cs typeface="Calibri"/>
                <a:sym typeface="Calibri"/>
              </a:defRPr>
            </a:lvl6pPr>
            <a:lvl7pPr indent="0" lvl="6" marL="0" marR="0" algn="r">
              <a:spcBef>
                <a:spcPts val="0"/>
              </a:spcBef>
              <a:buNone/>
              <a:defRPr b="0" i="0" sz="900" u="none" cap="none" strike="noStrike">
                <a:solidFill>
                  <a:srgbClr val="8A82A6"/>
                </a:solidFill>
                <a:latin typeface="Calibri"/>
                <a:ea typeface="Calibri"/>
                <a:cs typeface="Calibri"/>
                <a:sym typeface="Calibri"/>
              </a:defRPr>
            </a:lvl7pPr>
            <a:lvl8pPr indent="0" lvl="7" marL="0" marR="0" algn="r">
              <a:spcBef>
                <a:spcPts val="0"/>
              </a:spcBef>
              <a:buNone/>
              <a:defRPr b="0" i="0" sz="900" u="none" cap="none" strike="noStrike">
                <a:solidFill>
                  <a:srgbClr val="8A82A6"/>
                </a:solidFill>
                <a:latin typeface="Calibri"/>
                <a:ea typeface="Calibri"/>
                <a:cs typeface="Calibri"/>
                <a:sym typeface="Calibri"/>
              </a:defRPr>
            </a:lvl8pPr>
            <a:lvl9pPr indent="0" lvl="8" marL="0" marR="0" algn="r">
              <a:spcBef>
                <a:spcPts val="0"/>
              </a:spcBef>
              <a:buNone/>
              <a:defRPr b="0" i="0" sz="900" u="none" cap="none" strike="noStrike">
                <a:solidFill>
                  <a:srgbClr val="8A82A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0" name="Shape 2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900" u="none" cap="none" strike="noStrike">
                <a:solidFill>
                  <a:srgbClr val="8A82A6"/>
                </a:solidFill>
                <a:latin typeface="Calibri"/>
                <a:ea typeface="Calibri"/>
                <a:cs typeface="Calibri"/>
                <a:sym typeface="Calibri"/>
              </a:defRPr>
            </a:lvl1pPr>
            <a:lvl2pPr indent="0" lvl="1" marL="0" marR="0" rtl="0" algn="r">
              <a:spcBef>
                <a:spcPts val="0"/>
              </a:spcBef>
              <a:buNone/>
              <a:defRPr b="0" i="0" sz="900" u="none" cap="none" strike="noStrike">
                <a:solidFill>
                  <a:srgbClr val="8A82A6"/>
                </a:solidFill>
                <a:latin typeface="Calibri"/>
                <a:ea typeface="Calibri"/>
                <a:cs typeface="Calibri"/>
                <a:sym typeface="Calibri"/>
              </a:defRPr>
            </a:lvl2pPr>
            <a:lvl3pPr indent="0" lvl="2" marL="0" marR="0" rtl="0" algn="r">
              <a:spcBef>
                <a:spcPts val="0"/>
              </a:spcBef>
              <a:buNone/>
              <a:defRPr b="0" i="0" sz="900" u="none" cap="none" strike="noStrike">
                <a:solidFill>
                  <a:srgbClr val="8A82A6"/>
                </a:solidFill>
                <a:latin typeface="Calibri"/>
                <a:ea typeface="Calibri"/>
                <a:cs typeface="Calibri"/>
                <a:sym typeface="Calibri"/>
              </a:defRPr>
            </a:lvl3pPr>
            <a:lvl4pPr indent="0" lvl="3" marL="0" marR="0" rtl="0" algn="r">
              <a:spcBef>
                <a:spcPts val="0"/>
              </a:spcBef>
              <a:buNone/>
              <a:defRPr b="0" i="0" sz="900" u="none" cap="none" strike="noStrike">
                <a:solidFill>
                  <a:srgbClr val="8A82A6"/>
                </a:solidFill>
                <a:latin typeface="Calibri"/>
                <a:ea typeface="Calibri"/>
                <a:cs typeface="Calibri"/>
                <a:sym typeface="Calibri"/>
              </a:defRPr>
            </a:lvl4pPr>
            <a:lvl5pPr indent="0" lvl="4" marL="0" marR="0" rtl="0" algn="r">
              <a:spcBef>
                <a:spcPts val="0"/>
              </a:spcBef>
              <a:buNone/>
              <a:defRPr b="0" i="0" sz="900" u="none" cap="none" strike="noStrike">
                <a:solidFill>
                  <a:srgbClr val="8A82A6"/>
                </a:solidFill>
                <a:latin typeface="Calibri"/>
                <a:ea typeface="Calibri"/>
                <a:cs typeface="Calibri"/>
                <a:sym typeface="Calibri"/>
              </a:defRPr>
            </a:lvl5pPr>
            <a:lvl6pPr indent="0" lvl="5" marL="0" marR="0" rtl="0" algn="r">
              <a:spcBef>
                <a:spcPts val="0"/>
              </a:spcBef>
              <a:buNone/>
              <a:defRPr b="0" i="0" sz="900" u="none" cap="none" strike="noStrike">
                <a:solidFill>
                  <a:srgbClr val="8A82A6"/>
                </a:solidFill>
                <a:latin typeface="Calibri"/>
                <a:ea typeface="Calibri"/>
                <a:cs typeface="Calibri"/>
                <a:sym typeface="Calibri"/>
              </a:defRPr>
            </a:lvl6pPr>
            <a:lvl7pPr indent="0" lvl="6" marL="0" marR="0" rtl="0" algn="r">
              <a:spcBef>
                <a:spcPts val="0"/>
              </a:spcBef>
              <a:buNone/>
              <a:defRPr b="0" i="0" sz="900" u="none" cap="none" strike="noStrike">
                <a:solidFill>
                  <a:srgbClr val="8A82A6"/>
                </a:solidFill>
                <a:latin typeface="Calibri"/>
                <a:ea typeface="Calibri"/>
                <a:cs typeface="Calibri"/>
                <a:sym typeface="Calibri"/>
              </a:defRPr>
            </a:lvl7pPr>
            <a:lvl8pPr indent="0" lvl="7" marL="0" marR="0" rtl="0" algn="r">
              <a:spcBef>
                <a:spcPts val="0"/>
              </a:spcBef>
              <a:buNone/>
              <a:defRPr b="0" i="0" sz="900" u="none" cap="none" strike="noStrike">
                <a:solidFill>
                  <a:srgbClr val="8A82A6"/>
                </a:solidFill>
                <a:latin typeface="Calibri"/>
                <a:ea typeface="Calibri"/>
                <a:cs typeface="Calibri"/>
                <a:sym typeface="Calibri"/>
              </a:defRPr>
            </a:lvl8pPr>
            <a:lvl9pPr indent="0" lvl="8" marL="0" marR="0" rtl="0" algn="r">
              <a:spcBef>
                <a:spcPts val="0"/>
              </a:spcBef>
              <a:buNone/>
              <a:defRPr b="0" i="0" sz="900" u="none" cap="none" strike="noStrike">
                <a:solidFill>
                  <a:srgbClr val="8A82A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sp>
        <p:nvSpPr>
          <p:cNvPr id="26" name="Google Shape;26;p6"/>
          <p:cNvSpPr txBox="1"/>
          <p:nvPr>
            <p:ph type="title"/>
          </p:nvPr>
        </p:nvSpPr>
        <p:spPr>
          <a:xfrm>
            <a:off x="457200" y="685800"/>
            <a:ext cx="6126480" cy="132588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dk1"/>
              </a:buClr>
              <a:buSzPts val="2700"/>
              <a:buFont typeface="Arial"/>
              <a:buNone/>
            </a:pPr>
            <a:r>
              <a:rPr b="1" lang="en-US" sz="2700">
                <a:solidFill>
                  <a:schemeClr val="dk1"/>
                </a:solidFill>
              </a:rPr>
              <a:t>A ML Attribution Framework for Measuring Knowledge Graph Quality in GraphRAG</a:t>
            </a:r>
            <a:endParaRPr sz="2700"/>
          </a:p>
        </p:txBody>
      </p:sp>
      <p:sp>
        <p:nvSpPr>
          <p:cNvPr id="27" name="Google Shape;27;p6"/>
          <p:cNvSpPr txBox="1"/>
          <p:nvPr>
            <p:ph idx="1" type="body"/>
          </p:nvPr>
        </p:nvSpPr>
        <p:spPr>
          <a:xfrm>
            <a:off x="457200" y="2103120"/>
            <a:ext cx="6126480" cy="4114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2"/>
              </a:buClr>
              <a:buSzPts val="1600"/>
              <a:buNone/>
            </a:pPr>
            <a:r>
              <a:rPr lang="en-US" sz="1600">
                <a:solidFill>
                  <a:schemeClr val="accent2"/>
                </a:solidFill>
              </a:rPr>
              <a:t>Which data-quality fix recovers the most answers?</a:t>
            </a:r>
            <a:endParaRPr sz="1600"/>
          </a:p>
        </p:txBody>
      </p:sp>
      <p:sp>
        <p:nvSpPr>
          <p:cNvPr id="28" name="Google Shape;28;p6"/>
          <p:cNvSpPr txBox="1"/>
          <p:nvPr/>
        </p:nvSpPr>
        <p:spPr>
          <a:xfrm>
            <a:off x="457200" y="2578608"/>
            <a:ext cx="61264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0" i="0" lang="en-US" sz="1500" u="none" cap="none" strike="noStrike">
                <a:solidFill>
                  <a:schemeClr val="dk2"/>
                </a:solidFill>
                <a:latin typeface="Calibri"/>
                <a:ea typeface="Calibri"/>
                <a:cs typeface="Calibri"/>
                <a:sym typeface="Calibri"/>
              </a:rPr>
              <a:t>Lokesh Prakash Manohar</a:t>
            </a:r>
            <a:endParaRPr b="0" i="0" sz="1500" u="none" cap="none" strike="noStrike">
              <a:solidFill>
                <a:schemeClr val="dk1"/>
              </a:solidFill>
              <a:latin typeface="Calibri"/>
              <a:ea typeface="Calibri"/>
              <a:cs typeface="Calibri"/>
              <a:sym typeface="Calibri"/>
            </a:endParaRPr>
          </a:p>
        </p:txBody>
      </p:sp>
      <p:sp>
        <p:nvSpPr>
          <p:cNvPr id="29" name="Google Shape;29;p6"/>
          <p:cNvSpPr/>
          <p:nvPr/>
        </p:nvSpPr>
        <p:spPr>
          <a:xfrm>
            <a:off x="6949440" y="914400"/>
            <a:ext cx="1600200" cy="1600200"/>
          </a:xfrm>
          <a:prstGeom prst="roundRect">
            <a:avLst>
              <a:gd fmla="val 4571"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QR code linking to the tutorial repository on GitHub" id="30" name="Google Shape;30;p6"/>
          <p:cNvPicPr preferRelativeResize="0"/>
          <p:nvPr/>
        </p:nvPicPr>
        <p:blipFill rotWithShape="1">
          <a:blip r:embed="rId3">
            <a:alphaModFix/>
          </a:blip>
          <a:srcRect b="0" l="0" r="0" t="0"/>
          <a:stretch/>
        </p:blipFill>
        <p:spPr>
          <a:xfrm>
            <a:off x="7013448" y="978408"/>
            <a:ext cx="1472184" cy="1472184"/>
          </a:xfrm>
          <a:prstGeom prst="rect">
            <a:avLst/>
          </a:prstGeom>
          <a:noFill/>
          <a:ln>
            <a:noFill/>
          </a:ln>
        </p:spPr>
      </p:pic>
      <p:sp>
        <p:nvSpPr>
          <p:cNvPr id="31" name="Google Shape;31;p6"/>
          <p:cNvSpPr txBox="1"/>
          <p:nvPr/>
        </p:nvSpPr>
        <p:spPr>
          <a:xfrm>
            <a:off x="6812280" y="2578608"/>
            <a:ext cx="187452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0" i="0" lang="en-US" sz="1000" u="none" cap="none" strike="noStrike">
                <a:solidFill>
                  <a:schemeClr val="dk2"/>
                </a:solidFill>
                <a:latin typeface="Calibri"/>
                <a:ea typeface="Calibri"/>
                <a:cs typeface="Calibri"/>
                <a:sym typeface="Calibri"/>
              </a:rPr>
              <a:t>Repo, notebook and setup guide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7"/>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Everything from today is public, so you don't need to code along</a:t>
            </a:r>
            <a:endParaRPr sz="2100"/>
          </a:p>
        </p:txBody>
      </p:sp>
      <p:sp>
        <p:nvSpPr>
          <p:cNvPr id="38" name="Google Shape;38;p7"/>
          <p:cNvSpPr/>
          <p:nvPr/>
        </p:nvSpPr>
        <p:spPr>
          <a:xfrm>
            <a:off x="457200" y="1234440"/>
            <a:ext cx="2560320" cy="2331720"/>
          </a:xfrm>
          <a:prstGeom prst="roundRect">
            <a:avLst>
              <a:gd fmla="val 3137"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nvSpPr>
        <p:spPr>
          <a:xfrm>
            <a:off x="685800" y="1417320"/>
            <a:ext cx="21031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600"/>
              <a:buFont typeface="Calibri"/>
              <a:buNone/>
            </a:pPr>
            <a:r>
              <a:rPr b="1" i="0" lang="en-US" sz="1600" u="none" cap="none" strike="noStrike">
                <a:solidFill>
                  <a:schemeClr val="accent1"/>
                </a:solidFill>
                <a:latin typeface="Calibri"/>
                <a:ea typeface="Calibri"/>
                <a:cs typeface="Calibri"/>
                <a:sym typeface="Calibri"/>
              </a:rPr>
              <a:t>Repository</a:t>
            </a:r>
            <a:endParaRPr b="0" i="0" sz="1600" u="none" cap="none" strike="noStrike">
              <a:solidFill>
                <a:schemeClr val="dk1"/>
              </a:solidFill>
              <a:latin typeface="Calibri"/>
              <a:ea typeface="Calibri"/>
              <a:cs typeface="Calibri"/>
              <a:sym typeface="Calibri"/>
            </a:endParaRPr>
          </a:p>
        </p:txBody>
      </p:sp>
      <p:sp>
        <p:nvSpPr>
          <p:cNvPr id="40" name="Google Shape;40;p7"/>
          <p:cNvSpPr txBox="1"/>
          <p:nvPr/>
        </p:nvSpPr>
        <p:spPr>
          <a:xfrm>
            <a:off x="685800" y="1783080"/>
            <a:ext cx="21031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github.com/Lokeshs-git/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kg-quality-attribution-odsc2026</a:t>
            </a:r>
            <a:endParaRPr b="0" i="0" sz="1200" u="none" cap="none" strike="noStrike">
              <a:solidFill>
                <a:schemeClr val="dk1"/>
              </a:solidFill>
              <a:latin typeface="Calibri"/>
              <a:ea typeface="Calibri"/>
              <a:cs typeface="Calibri"/>
              <a:sym typeface="Calibri"/>
            </a:endParaRPr>
          </a:p>
        </p:txBody>
      </p:sp>
      <p:sp>
        <p:nvSpPr>
          <p:cNvPr id="41" name="Google Shape;41;p7"/>
          <p:cNvSpPr txBox="1"/>
          <p:nvPr/>
        </p:nvSpPr>
        <p:spPr>
          <a:xfrm>
            <a:off x="685800" y="2468880"/>
            <a:ext cx="21031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Notebook, data, attendee setup guide and the robustness check.</a:t>
            </a:r>
            <a:endParaRPr b="0" i="0" sz="1400" u="none" cap="none" strike="noStrike">
              <a:solidFill>
                <a:schemeClr val="dk1"/>
              </a:solidFill>
              <a:latin typeface="Calibri"/>
              <a:ea typeface="Calibri"/>
              <a:cs typeface="Calibri"/>
              <a:sym typeface="Calibri"/>
            </a:endParaRPr>
          </a:p>
        </p:txBody>
      </p:sp>
      <p:sp>
        <p:nvSpPr>
          <p:cNvPr id="42" name="Google Shape;42;p7"/>
          <p:cNvSpPr/>
          <p:nvPr/>
        </p:nvSpPr>
        <p:spPr>
          <a:xfrm>
            <a:off x="3291840" y="1234440"/>
            <a:ext cx="2560320" cy="2331720"/>
          </a:xfrm>
          <a:prstGeom prst="roundRect">
            <a:avLst>
              <a:gd fmla="val 3137"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7"/>
          <p:cNvSpPr txBox="1"/>
          <p:nvPr/>
        </p:nvSpPr>
        <p:spPr>
          <a:xfrm>
            <a:off x="3520440" y="1417320"/>
            <a:ext cx="21031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600"/>
              <a:buFont typeface="Calibri"/>
              <a:buNone/>
            </a:pPr>
            <a:r>
              <a:rPr b="1" i="0" lang="en-US" sz="1600" u="none" cap="none" strike="noStrike">
                <a:solidFill>
                  <a:schemeClr val="accent1"/>
                </a:solidFill>
                <a:latin typeface="Calibri"/>
                <a:ea typeface="Calibri"/>
                <a:cs typeface="Calibri"/>
                <a:sym typeface="Calibri"/>
              </a:rPr>
              <a:t>Notebook</a:t>
            </a:r>
            <a:endParaRPr b="0" i="0" sz="1600" u="none" cap="none" strike="noStrike">
              <a:solidFill>
                <a:schemeClr val="dk1"/>
              </a:solidFill>
              <a:latin typeface="Calibri"/>
              <a:ea typeface="Calibri"/>
              <a:cs typeface="Calibri"/>
              <a:sym typeface="Calibri"/>
            </a:endParaRPr>
          </a:p>
        </p:txBody>
      </p:sp>
      <p:sp>
        <p:nvSpPr>
          <p:cNvPr id="44" name="Google Shape;44;p7"/>
          <p:cNvSpPr txBox="1"/>
          <p:nvPr/>
        </p:nvSpPr>
        <p:spPr>
          <a:xfrm>
            <a:off x="3520440" y="1783080"/>
            <a:ext cx="21031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Open in Colab from the README</a:t>
            </a:r>
            <a:endParaRPr b="0" i="0" sz="1200" u="none" cap="none" strike="noStrike">
              <a:solidFill>
                <a:schemeClr val="dk1"/>
              </a:solidFill>
              <a:latin typeface="Calibri"/>
              <a:ea typeface="Calibri"/>
              <a:cs typeface="Calibri"/>
              <a:sym typeface="Calibri"/>
            </a:endParaRPr>
          </a:p>
        </p:txBody>
      </p:sp>
      <p:sp>
        <p:nvSpPr>
          <p:cNvPr id="45" name="Google Shape;45;p7"/>
          <p:cNvSpPr txBox="1"/>
          <p:nvPr/>
        </p:nvSpPr>
        <p:spPr>
          <a:xfrm>
            <a:off x="3520440" y="2468880"/>
            <a:ext cx="21031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Runs end to end in about three minutes on a free CPU. No API keys, no GPU.</a:t>
            </a:r>
            <a:endParaRPr b="0" i="0" sz="1400" u="none" cap="none" strike="noStrike">
              <a:solidFill>
                <a:schemeClr val="dk1"/>
              </a:solidFill>
              <a:latin typeface="Calibri"/>
              <a:ea typeface="Calibri"/>
              <a:cs typeface="Calibri"/>
              <a:sym typeface="Calibri"/>
            </a:endParaRPr>
          </a:p>
        </p:txBody>
      </p:sp>
      <p:sp>
        <p:nvSpPr>
          <p:cNvPr id="46" name="Google Shape;46;p7"/>
          <p:cNvSpPr/>
          <p:nvPr/>
        </p:nvSpPr>
        <p:spPr>
          <a:xfrm>
            <a:off x="6126480" y="1234440"/>
            <a:ext cx="2560320" cy="2331720"/>
          </a:xfrm>
          <a:prstGeom prst="roundRect">
            <a:avLst>
              <a:gd fmla="val 3137"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7"/>
          <p:cNvSpPr txBox="1"/>
          <p:nvPr/>
        </p:nvSpPr>
        <p:spPr>
          <a:xfrm>
            <a:off x="6355080" y="1417320"/>
            <a:ext cx="21031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600"/>
              <a:buFont typeface="Calibri"/>
              <a:buNone/>
            </a:pPr>
            <a:r>
              <a:rPr b="1" i="0" lang="en-US" sz="1600" u="none" cap="none" strike="noStrike">
                <a:solidFill>
                  <a:schemeClr val="accent1"/>
                </a:solidFill>
                <a:latin typeface="Calibri"/>
                <a:ea typeface="Calibri"/>
                <a:cs typeface="Calibri"/>
                <a:sym typeface="Calibri"/>
              </a:rPr>
              <a:t>Run it later</a:t>
            </a:r>
            <a:endParaRPr b="0" i="0" sz="1600" u="none" cap="none" strike="noStrike">
              <a:solidFill>
                <a:schemeClr val="dk1"/>
              </a:solidFill>
              <a:latin typeface="Calibri"/>
              <a:ea typeface="Calibri"/>
              <a:cs typeface="Calibri"/>
              <a:sym typeface="Calibri"/>
            </a:endParaRPr>
          </a:p>
        </p:txBody>
      </p:sp>
      <p:sp>
        <p:nvSpPr>
          <p:cNvPr id="48" name="Google Shape;48;p7"/>
          <p:cNvSpPr txBox="1"/>
          <p:nvPr/>
        </p:nvSpPr>
        <p:spPr>
          <a:xfrm>
            <a:off x="6355080" y="1783080"/>
            <a:ext cx="21031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Local setup in five commands</a:t>
            </a:r>
            <a:endParaRPr b="0" i="0" sz="1200" u="none" cap="none" strike="noStrike">
              <a:solidFill>
                <a:schemeClr val="dk1"/>
              </a:solidFill>
              <a:latin typeface="Calibri"/>
              <a:ea typeface="Calibri"/>
              <a:cs typeface="Calibri"/>
              <a:sym typeface="Calibri"/>
            </a:endParaRPr>
          </a:p>
        </p:txBody>
      </p:sp>
      <p:sp>
        <p:nvSpPr>
          <p:cNvPr id="49" name="Google Shape;49;p7"/>
          <p:cNvSpPr txBox="1"/>
          <p:nvPr/>
        </p:nvSpPr>
        <p:spPr>
          <a:xfrm>
            <a:off x="6355080" y="2468880"/>
            <a:ext cx="21031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Once installed, the notebook works fully offline.</a:t>
            </a:r>
            <a:endParaRPr b="0" i="0" sz="1400" u="none" cap="none" strike="noStrike">
              <a:solidFill>
                <a:schemeClr val="dk1"/>
              </a:solidFill>
              <a:latin typeface="Calibri"/>
              <a:ea typeface="Calibri"/>
              <a:cs typeface="Calibri"/>
              <a:sym typeface="Calibri"/>
            </a:endParaRPr>
          </a:p>
        </p:txBody>
      </p:sp>
      <p:sp>
        <p:nvSpPr>
          <p:cNvPr id="50" name="Google Shape;50;p7"/>
          <p:cNvSpPr/>
          <p:nvPr/>
        </p:nvSpPr>
        <p:spPr>
          <a:xfrm>
            <a:off x="457200" y="3840480"/>
            <a:ext cx="8229600" cy="685800"/>
          </a:xfrm>
          <a:prstGeom prst="roundRect">
            <a:avLst>
              <a:gd fmla="val 10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txBox="1"/>
          <p:nvPr/>
        </p:nvSpPr>
        <p:spPr>
          <a:xfrm>
            <a:off x="685800" y="3840480"/>
            <a:ext cx="77724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Today: why graph quality is hard to act on, how teams evaluate it now, how to set up this approach, results, then limits and production use.</a:t>
            </a:r>
            <a:endParaRPr b="0" i="0" sz="1400" u="none" cap="none" strike="noStrike">
              <a:solidFill>
                <a:schemeClr val="dk1"/>
              </a:solidFill>
              <a:latin typeface="Calibri"/>
              <a:ea typeface="Calibri"/>
              <a:cs typeface="Calibri"/>
              <a:sym typeface="Calibri"/>
            </a:endParaRPr>
          </a:p>
        </p:txBody>
      </p:sp>
      <p:sp>
        <p:nvSpPr>
          <p:cNvPr id="52" name="Google Shape;52;p7"/>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8"/>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Partial-credit scores hide answers that are simply wrong</a:t>
            </a:r>
            <a:endParaRPr sz="2100"/>
          </a:p>
        </p:txBody>
      </p:sp>
      <p:sp>
        <p:nvSpPr>
          <p:cNvPr id="59" name="Google Shape;59;p8"/>
          <p:cNvSpPr/>
          <p:nvPr/>
        </p:nvSpPr>
        <p:spPr>
          <a:xfrm>
            <a:off x="457200" y="1188720"/>
            <a:ext cx="5120640" cy="685800"/>
          </a:xfrm>
          <a:prstGeom prst="roundRect">
            <a:avLst>
              <a:gd fmla="val 10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8"/>
          <p:cNvSpPr txBox="1"/>
          <p:nvPr/>
        </p:nvSpPr>
        <p:spPr>
          <a:xfrm>
            <a:off x="640080" y="1188720"/>
            <a:ext cx="47548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Question: </a:t>
            </a:r>
            <a:r>
              <a:rPr b="0" i="0" lang="en-US" sz="1400" u="none" cap="none" strike="noStrike">
                <a:solidFill>
                  <a:schemeClr val="dk1"/>
                </a:solidFill>
                <a:latin typeface="Calibri"/>
                <a:ea typeface="Calibri"/>
                <a:cs typeface="Calibri"/>
                <a:sym typeface="Calibri"/>
              </a:rPr>
              <a:t>which entities are linked to X?</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2"/>
              </a:buClr>
              <a:buSzPts val="1400"/>
              <a:buFont typeface="Calibri"/>
              <a:buNone/>
            </a:pPr>
            <a:r>
              <a:rPr b="1" i="0" lang="en-US" sz="1400" u="none" cap="none" strike="noStrike">
                <a:solidFill>
                  <a:schemeClr val="accent2"/>
                </a:solidFill>
                <a:latin typeface="Calibri"/>
                <a:ea typeface="Calibri"/>
                <a:cs typeface="Calibri"/>
                <a:sym typeface="Calibri"/>
              </a:rPr>
              <a:t>Correct answer: </a:t>
            </a:r>
            <a:r>
              <a:rPr b="0" i="0" lang="en-US" sz="1400" u="none" cap="none" strike="noStrike">
                <a:solidFill>
                  <a:schemeClr val="dk1"/>
                </a:solidFill>
                <a:latin typeface="Calibri"/>
                <a:ea typeface="Calibri"/>
                <a:cs typeface="Calibri"/>
                <a:sym typeface="Calibri"/>
              </a:rPr>
              <a:t>{A, B, C, D}</a:t>
            </a:r>
            <a:endParaRPr b="0" i="0" sz="1400" u="none" cap="none" strike="noStrike">
              <a:solidFill>
                <a:schemeClr val="dk1"/>
              </a:solidFill>
              <a:latin typeface="Calibri"/>
              <a:ea typeface="Calibri"/>
              <a:cs typeface="Calibri"/>
              <a:sym typeface="Calibri"/>
            </a:endParaRPr>
          </a:p>
        </p:txBody>
      </p:sp>
      <p:sp>
        <p:nvSpPr>
          <p:cNvPr id="61" name="Google Shape;61;p8"/>
          <p:cNvSpPr txBox="1"/>
          <p:nvPr/>
        </p:nvSpPr>
        <p:spPr>
          <a:xfrm>
            <a:off x="640080" y="2011680"/>
            <a:ext cx="20116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Graph returns</a:t>
            </a:r>
            <a:endParaRPr b="0" i="0" sz="1200" u="none" cap="none" strike="noStrike">
              <a:solidFill>
                <a:schemeClr val="dk1"/>
              </a:solidFill>
              <a:latin typeface="Calibri"/>
              <a:ea typeface="Calibri"/>
              <a:cs typeface="Calibri"/>
              <a:sym typeface="Calibri"/>
            </a:endParaRPr>
          </a:p>
        </p:txBody>
      </p:sp>
      <p:sp>
        <p:nvSpPr>
          <p:cNvPr id="62" name="Google Shape;62;p8"/>
          <p:cNvSpPr txBox="1"/>
          <p:nvPr/>
        </p:nvSpPr>
        <p:spPr>
          <a:xfrm>
            <a:off x="2697480" y="2011680"/>
            <a:ext cx="9144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F1</a:t>
            </a:r>
            <a:endParaRPr b="0" i="0" sz="1200" u="none" cap="none" strike="noStrike">
              <a:solidFill>
                <a:schemeClr val="dk1"/>
              </a:solidFill>
              <a:latin typeface="Calibri"/>
              <a:ea typeface="Calibri"/>
              <a:cs typeface="Calibri"/>
              <a:sym typeface="Calibri"/>
            </a:endParaRPr>
          </a:p>
        </p:txBody>
      </p:sp>
      <p:sp>
        <p:nvSpPr>
          <p:cNvPr id="63" name="Google Shape;63;p8"/>
          <p:cNvSpPr txBox="1"/>
          <p:nvPr/>
        </p:nvSpPr>
        <p:spPr>
          <a:xfrm>
            <a:off x="3703320" y="2011680"/>
            <a:ext cx="18288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Exact match</a:t>
            </a:r>
            <a:endParaRPr b="0" i="0" sz="1200" u="none" cap="none" strike="noStrike">
              <a:solidFill>
                <a:schemeClr val="dk1"/>
              </a:solidFill>
              <a:latin typeface="Calibri"/>
              <a:ea typeface="Calibri"/>
              <a:cs typeface="Calibri"/>
              <a:sym typeface="Calibri"/>
            </a:endParaRPr>
          </a:p>
        </p:txBody>
      </p:sp>
      <p:sp>
        <p:nvSpPr>
          <p:cNvPr id="64" name="Google Shape;64;p8"/>
          <p:cNvSpPr/>
          <p:nvPr/>
        </p:nvSpPr>
        <p:spPr>
          <a:xfrm>
            <a:off x="457200" y="2331720"/>
            <a:ext cx="5120640" cy="640080"/>
          </a:xfrm>
          <a:prstGeom prst="roundRect">
            <a:avLst>
              <a:gd fmla="val 11429"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8"/>
          <p:cNvSpPr txBox="1"/>
          <p:nvPr/>
        </p:nvSpPr>
        <p:spPr>
          <a:xfrm>
            <a:off x="640080" y="2331720"/>
            <a:ext cx="20116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Courier New"/>
              <a:buNone/>
            </a:pPr>
            <a:r>
              <a:rPr b="1" i="0" lang="en-US" sz="1600" u="none" cap="none" strike="noStrike">
                <a:solidFill>
                  <a:schemeClr val="dk1"/>
                </a:solidFill>
                <a:latin typeface="Courier New"/>
                <a:ea typeface="Courier New"/>
                <a:cs typeface="Courier New"/>
                <a:sym typeface="Courier New"/>
              </a:rPr>
              <a:t>{A, B, C}</a:t>
            </a:r>
            <a:endParaRPr b="0" i="0" sz="1600" u="none" cap="none" strike="noStrike">
              <a:solidFill>
                <a:schemeClr val="dk1"/>
              </a:solidFill>
              <a:latin typeface="Calibri"/>
              <a:ea typeface="Calibri"/>
              <a:cs typeface="Calibri"/>
              <a:sym typeface="Calibri"/>
            </a:endParaRPr>
          </a:p>
        </p:txBody>
      </p:sp>
      <p:sp>
        <p:nvSpPr>
          <p:cNvPr id="66" name="Google Shape;66;p8"/>
          <p:cNvSpPr txBox="1"/>
          <p:nvPr/>
        </p:nvSpPr>
        <p:spPr>
          <a:xfrm>
            <a:off x="2697480" y="2331720"/>
            <a:ext cx="9144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2000"/>
              <a:buFont typeface="Arial"/>
              <a:buNone/>
            </a:pPr>
            <a:r>
              <a:rPr b="1" i="0" lang="en-US" sz="2000" u="none" cap="none" strike="noStrike">
                <a:solidFill>
                  <a:schemeClr val="accent2"/>
                </a:solidFill>
                <a:latin typeface="Arial"/>
                <a:ea typeface="Arial"/>
                <a:cs typeface="Arial"/>
                <a:sym typeface="Arial"/>
              </a:rPr>
              <a:t>0.86</a:t>
            </a:r>
            <a:endParaRPr b="0" i="0" sz="2000" u="none" cap="none" strike="noStrike">
              <a:solidFill>
                <a:schemeClr val="dk1"/>
              </a:solidFill>
              <a:latin typeface="Calibri"/>
              <a:ea typeface="Calibri"/>
              <a:cs typeface="Calibri"/>
              <a:sym typeface="Calibri"/>
            </a:endParaRPr>
          </a:p>
        </p:txBody>
      </p:sp>
      <p:sp>
        <p:nvSpPr>
          <p:cNvPr id="67" name="Google Shape;67;p8"/>
          <p:cNvSpPr/>
          <p:nvPr/>
        </p:nvSpPr>
        <p:spPr>
          <a:xfrm>
            <a:off x="3794760" y="2487168"/>
            <a:ext cx="1645920" cy="329184"/>
          </a:xfrm>
          <a:prstGeom prst="roundRect">
            <a:avLst>
              <a:gd fmla="val 16667" name="adj"/>
            </a:avLst>
          </a:prstGeom>
          <a:solidFill>
            <a:schemeClr val="lt1"/>
          </a:solidFill>
          <a:ln cap="flat" cmpd="sng" w="158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txBox="1"/>
          <p:nvPr/>
        </p:nvSpPr>
        <p:spPr>
          <a:xfrm>
            <a:off x="3794760" y="2487168"/>
            <a:ext cx="1645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1100"/>
              <a:buFont typeface="Calibri"/>
              <a:buNone/>
            </a:pPr>
            <a:r>
              <a:rPr b="1" i="0" lang="en-US" sz="1100" u="none" cap="none" strike="noStrike">
                <a:solidFill>
                  <a:schemeClr val="accent3"/>
                </a:solidFill>
                <a:latin typeface="Calibri"/>
                <a:ea typeface="Calibri"/>
                <a:cs typeface="Calibri"/>
                <a:sym typeface="Calibri"/>
              </a:rPr>
              <a:t>Wrong: incomplete</a:t>
            </a:r>
            <a:endParaRPr b="0" i="0" sz="1100" u="none" cap="none" strike="noStrike">
              <a:solidFill>
                <a:schemeClr val="dk1"/>
              </a:solidFill>
              <a:latin typeface="Calibri"/>
              <a:ea typeface="Calibri"/>
              <a:cs typeface="Calibri"/>
              <a:sym typeface="Calibri"/>
            </a:endParaRPr>
          </a:p>
        </p:txBody>
      </p:sp>
      <p:sp>
        <p:nvSpPr>
          <p:cNvPr id="69" name="Google Shape;69;p8"/>
          <p:cNvSpPr/>
          <p:nvPr/>
        </p:nvSpPr>
        <p:spPr>
          <a:xfrm>
            <a:off x="457200" y="3108960"/>
            <a:ext cx="5120640" cy="640080"/>
          </a:xfrm>
          <a:prstGeom prst="roundRect">
            <a:avLst>
              <a:gd fmla="val 11429"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8"/>
          <p:cNvSpPr txBox="1"/>
          <p:nvPr/>
        </p:nvSpPr>
        <p:spPr>
          <a:xfrm>
            <a:off x="640080" y="3108960"/>
            <a:ext cx="20116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Courier New"/>
              <a:buNone/>
            </a:pPr>
            <a:r>
              <a:rPr b="1" i="0" lang="en-US" sz="1600" u="none" cap="none" strike="noStrike">
                <a:solidFill>
                  <a:schemeClr val="dk1"/>
                </a:solidFill>
                <a:latin typeface="Courier New"/>
                <a:ea typeface="Courier New"/>
                <a:cs typeface="Courier New"/>
                <a:sym typeface="Courier New"/>
              </a:rPr>
              <a:t>{A, B, C, D, E}</a:t>
            </a:r>
            <a:endParaRPr b="0" i="0" sz="1600" u="none" cap="none" strike="noStrike">
              <a:solidFill>
                <a:schemeClr val="dk1"/>
              </a:solidFill>
              <a:latin typeface="Calibri"/>
              <a:ea typeface="Calibri"/>
              <a:cs typeface="Calibri"/>
              <a:sym typeface="Calibri"/>
            </a:endParaRPr>
          </a:p>
        </p:txBody>
      </p:sp>
      <p:sp>
        <p:nvSpPr>
          <p:cNvPr id="71" name="Google Shape;71;p8"/>
          <p:cNvSpPr txBox="1"/>
          <p:nvPr/>
        </p:nvSpPr>
        <p:spPr>
          <a:xfrm>
            <a:off x="2697480" y="3108960"/>
            <a:ext cx="9144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2000"/>
              <a:buFont typeface="Arial"/>
              <a:buNone/>
            </a:pPr>
            <a:r>
              <a:rPr b="1" i="0" lang="en-US" sz="2000" u="none" cap="none" strike="noStrike">
                <a:solidFill>
                  <a:schemeClr val="accent2"/>
                </a:solidFill>
                <a:latin typeface="Arial"/>
                <a:ea typeface="Arial"/>
                <a:cs typeface="Arial"/>
                <a:sym typeface="Arial"/>
              </a:rPr>
              <a:t>0.89</a:t>
            </a:r>
            <a:endParaRPr b="0" i="0" sz="2000" u="none" cap="none" strike="noStrike">
              <a:solidFill>
                <a:schemeClr val="dk1"/>
              </a:solidFill>
              <a:latin typeface="Calibri"/>
              <a:ea typeface="Calibri"/>
              <a:cs typeface="Calibri"/>
              <a:sym typeface="Calibri"/>
            </a:endParaRPr>
          </a:p>
        </p:txBody>
      </p:sp>
      <p:sp>
        <p:nvSpPr>
          <p:cNvPr id="72" name="Google Shape;72;p8"/>
          <p:cNvSpPr/>
          <p:nvPr/>
        </p:nvSpPr>
        <p:spPr>
          <a:xfrm>
            <a:off x="3794760" y="3264408"/>
            <a:ext cx="1645920" cy="329184"/>
          </a:xfrm>
          <a:prstGeom prst="roundRect">
            <a:avLst>
              <a:gd fmla="val 16667" name="adj"/>
            </a:avLst>
          </a:prstGeom>
          <a:solidFill>
            <a:schemeClr val="lt1"/>
          </a:solidFill>
          <a:ln cap="flat" cmpd="sng" w="158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txBox="1"/>
          <p:nvPr/>
        </p:nvSpPr>
        <p:spPr>
          <a:xfrm>
            <a:off x="3794760" y="3264408"/>
            <a:ext cx="1645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1100"/>
              <a:buFont typeface="Calibri"/>
              <a:buNone/>
            </a:pPr>
            <a:r>
              <a:rPr b="1" i="0" lang="en-US" sz="1100" u="none" cap="none" strike="noStrike">
                <a:solidFill>
                  <a:schemeClr val="accent3"/>
                </a:solidFill>
                <a:latin typeface="Calibri"/>
                <a:ea typeface="Calibri"/>
                <a:cs typeface="Calibri"/>
                <a:sym typeface="Calibri"/>
              </a:rPr>
              <a:t>Wrong: contaminated</a:t>
            </a:r>
            <a:endParaRPr b="0" i="0" sz="1100" u="none" cap="none" strike="noStrike">
              <a:solidFill>
                <a:schemeClr val="dk1"/>
              </a:solidFill>
              <a:latin typeface="Calibri"/>
              <a:ea typeface="Calibri"/>
              <a:cs typeface="Calibri"/>
              <a:sym typeface="Calibri"/>
            </a:endParaRPr>
          </a:p>
        </p:txBody>
      </p:sp>
      <p:sp>
        <p:nvSpPr>
          <p:cNvPr id="74" name="Google Shape;74;p8"/>
          <p:cNvSpPr/>
          <p:nvPr/>
        </p:nvSpPr>
        <p:spPr>
          <a:xfrm>
            <a:off x="5852160" y="1188720"/>
            <a:ext cx="2834640" cy="2697480"/>
          </a:xfrm>
          <a:prstGeom prst="roundRect">
            <a:avLst>
              <a:gd fmla="val 2712" name="adj"/>
            </a:avLst>
          </a:prstGeom>
          <a:solidFill>
            <a:schemeClr val="l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txBox="1"/>
          <p:nvPr/>
        </p:nvSpPr>
        <p:spPr>
          <a:xfrm>
            <a:off x="6035040" y="1325880"/>
            <a:ext cx="246888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500"/>
              <a:buFont typeface="Calibri"/>
              <a:buNone/>
            </a:pPr>
            <a:r>
              <a:rPr b="1" i="0" lang="en-US" sz="1500" u="none" cap="none" strike="noStrike">
                <a:solidFill>
                  <a:schemeClr val="accent3"/>
                </a:solidFill>
                <a:latin typeface="Calibri"/>
                <a:ea typeface="Calibri"/>
                <a:cs typeface="Calibri"/>
                <a:sym typeface="Calibri"/>
              </a:rPr>
              <a:t>Average scores reward near misses</a:t>
            </a:r>
            <a:endParaRPr b="0" i="0" sz="1500" u="none" cap="none" strike="noStrike">
              <a:solidFill>
                <a:schemeClr val="dk1"/>
              </a:solidFill>
              <a:latin typeface="Calibri"/>
              <a:ea typeface="Calibri"/>
              <a:cs typeface="Calibri"/>
              <a:sym typeface="Calibri"/>
            </a:endParaRPr>
          </a:p>
        </p:txBody>
      </p:sp>
      <p:sp>
        <p:nvSpPr>
          <p:cNvPr id="76" name="Google Shape;76;p8"/>
          <p:cNvSpPr txBox="1"/>
          <p:nvPr/>
        </p:nvSpPr>
        <p:spPr>
          <a:xfrm>
            <a:off x="6035040" y="1965960"/>
            <a:ext cx="246888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Someone acting on either list makes a wrong decision. Score exact answers; keep F1 as context.</a:t>
            </a:r>
            <a:endParaRPr b="0" i="0" sz="1400" u="none" cap="none" strike="noStrike">
              <a:solidFill>
                <a:schemeClr val="dk1"/>
              </a:solidFill>
              <a:latin typeface="Calibri"/>
              <a:ea typeface="Calibri"/>
              <a:cs typeface="Calibri"/>
              <a:sym typeface="Calibri"/>
            </a:endParaRPr>
          </a:p>
        </p:txBody>
      </p:sp>
      <p:sp>
        <p:nvSpPr>
          <p:cNvPr id="77" name="Google Shape;77;p8"/>
          <p:cNvSpPr/>
          <p:nvPr/>
        </p:nvSpPr>
        <p:spPr>
          <a:xfrm>
            <a:off x="457200" y="4023360"/>
            <a:ext cx="8229600" cy="502920"/>
          </a:xfrm>
          <a:prstGeom prst="roundRect">
            <a:avLst>
              <a:gd fmla="val 14545"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txBox="1"/>
          <p:nvPr/>
        </p:nvSpPr>
        <p:spPr>
          <a:xfrm>
            <a:off x="685800" y="402336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Later, on the demo graph: </a:t>
            </a:r>
            <a:r>
              <a:rPr b="0" i="0" lang="en-US" sz="1300" u="none" cap="none" strike="noStrike">
                <a:solidFill>
                  <a:schemeClr val="dk1"/>
                </a:solidFill>
                <a:latin typeface="Calibri"/>
                <a:ea typeface="Calibri"/>
                <a:cs typeface="Calibri"/>
                <a:sym typeface="Calibri"/>
              </a:rPr>
              <a:t>mean F1 0.95, yet only 71% of answers are exactly right.</a:t>
            </a:r>
            <a:endParaRPr b="0" i="0" sz="1300" u="none" cap="none" strike="noStrike">
              <a:solidFill>
                <a:schemeClr val="dk1"/>
              </a:solidFill>
              <a:latin typeface="Calibri"/>
              <a:ea typeface="Calibri"/>
              <a:cs typeface="Calibri"/>
              <a:sym typeface="Calibri"/>
            </a:endParaRPr>
          </a:p>
        </p:txBody>
      </p:sp>
      <p:sp>
        <p:nvSpPr>
          <p:cNvPr id="79" name="Google Shape;79;p8"/>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9"/>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Graph defects produce plausible answers, not errors</a:t>
            </a:r>
            <a:endParaRPr sz="2100"/>
          </a:p>
        </p:txBody>
      </p:sp>
      <p:sp>
        <p:nvSpPr>
          <p:cNvPr id="86" name="Google Shape;86;p9"/>
          <p:cNvSpPr txBox="1"/>
          <p:nvPr/>
        </p:nvSpPr>
        <p:spPr>
          <a:xfrm>
            <a:off x="457200" y="1097280"/>
            <a:ext cx="3566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Defect in the graph</a:t>
            </a:r>
            <a:endParaRPr b="0" i="0" sz="1200" u="none" cap="none" strike="noStrike">
              <a:solidFill>
                <a:schemeClr val="dk1"/>
              </a:solidFill>
              <a:latin typeface="Calibri"/>
              <a:ea typeface="Calibri"/>
              <a:cs typeface="Calibri"/>
              <a:sym typeface="Calibri"/>
            </a:endParaRPr>
          </a:p>
        </p:txBody>
      </p:sp>
      <p:sp>
        <p:nvSpPr>
          <p:cNvPr id="87" name="Google Shape;87;p9"/>
          <p:cNvSpPr txBox="1"/>
          <p:nvPr/>
        </p:nvSpPr>
        <p:spPr>
          <a:xfrm>
            <a:off x="4617720" y="1097280"/>
            <a:ext cx="40690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What the user sees</a:t>
            </a:r>
            <a:endParaRPr b="0" i="0" sz="1200" u="none" cap="none" strike="noStrike">
              <a:solidFill>
                <a:schemeClr val="dk1"/>
              </a:solidFill>
              <a:latin typeface="Calibri"/>
              <a:ea typeface="Calibri"/>
              <a:cs typeface="Calibri"/>
              <a:sym typeface="Calibri"/>
            </a:endParaRPr>
          </a:p>
        </p:txBody>
      </p:sp>
      <p:sp>
        <p:nvSpPr>
          <p:cNvPr id="88" name="Google Shape;88;p9"/>
          <p:cNvSpPr/>
          <p:nvPr/>
        </p:nvSpPr>
        <p:spPr>
          <a:xfrm>
            <a:off x="457200" y="1417320"/>
            <a:ext cx="3566160" cy="685800"/>
          </a:xfrm>
          <a:prstGeom prst="roundRect">
            <a:avLst>
              <a:gd fmla="val 10667"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txBox="1"/>
          <p:nvPr/>
        </p:nvSpPr>
        <p:spPr>
          <a:xfrm>
            <a:off x="594360" y="1463040"/>
            <a:ext cx="3337560" cy="6126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Duplicate entity</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One real-world entity is stored twice, with its relationships split between the copies</a:t>
            </a:r>
            <a:endParaRPr b="0" i="0" sz="1400" u="none" cap="none" strike="noStrike">
              <a:solidFill>
                <a:schemeClr val="dk1"/>
              </a:solidFill>
              <a:latin typeface="Calibri"/>
              <a:ea typeface="Calibri"/>
              <a:cs typeface="Calibri"/>
              <a:sym typeface="Calibri"/>
            </a:endParaRPr>
          </a:p>
        </p:txBody>
      </p:sp>
      <p:cxnSp>
        <p:nvCxnSpPr>
          <p:cNvPr id="90" name="Google Shape;90;p9"/>
          <p:cNvCxnSpPr/>
          <p:nvPr/>
        </p:nvCxnSpPr>
        <p:spPr>
          <a:xfrm>
            <a:off x="4114800" y="1760220"/>
            <a:ext cx="411480" cy="0"/>
          </a:xfrm>
          <a:prstGeom prst="straightConnector1">
            <a:avLst/>
          </a:prstGeom>
          <a:noFill/>
          <a:ln cap="flat" cmpd="sng" w="15875">
            <a:solidFill>
              <a:schemeClr val="accent5"/>
            </a:solidFill>
            <a:prstDash val="solid"/>
            <a:round/>
            <a:headEnd len="sm" w="sm" type="none"/>
            <a:tailEnd len="med" w="med" type="triangle"/>
          </a:ln>
        </p:spPr>
      </p:cxnSp>
      <p:sp>
        <p:nvSpPr>
          <p:cNvPr id="91" name="Google Shape;91;p9"/>
          <p:cNvSpPr/>
          <p:nvPr/>
        </p:nvSpPr>
        <p:spPr>
          <a:xfrm>
            <a:off x="4617720" y="1417320"/>
            <a:ext cx="4069080" cy="685800"/>
          </a:xfrm>
          <a:prstGeom prst="roundRect">
            <a:avLst>
              <a:gd fmla="val 10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txBox="1"/>
          <p:nvPr/>
        </p:nvSpPr>
        <p:spPr>
          <a:xfrm>
            <a:off x="4754880" y="1417320"/>
            <a:ext cx="2331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Part of the answer goes missing</a:t>
            </a:r>
            <a:endParaRPr b="0" i="0" sz="1400" u="none" cap="none" strike="noStrike">
              <a:solidFill>
                <a:schemeClr val="dk1"/>
              </a:solidFill>
              <a:latin typeface="Calibri"/>
              <a:ea typeface="Calibri"/>
              <a:cs typeface="Calibri"/>
              <a:sym typeface="Calibri"/>
            </a:endParaRPr>
          </a:p>
        </p:txBody>
      </p:sp>
      <p:sp>
        <p:nvSpPr>
          <p:cNvPr id="93" name="Google Shape;93;p9"/>
          <p:cNvSpPr/>
          <p:nvPr/>
        </p:nvSpPr>
        <p:spPr>
          <a:xfrm>
            <a:off x="7178040" y="1600200"/>
            <a:ext cx="1371600" cy="320040"/>
          </a:xfrm>
          <a:prstGeom prst="roundRect">
            <a:avLst>
              <a:gd fmla="val 17143" name="adj"/>
            </a:avLst>
          </a:prstGeom>
          <a:solidFill>
            <a:schemeClr val="lt1"/>
          </a:solidFill>
          <a:ln cap="flat" cmpd="sng" w="158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txBox="1"/>
          <p:nvPr/>
        </p:nvSpPr>
        <p:spPr>
          <a:xfrm>
            <a:off x="7178040" y="1600200"/>
            <a:ext cx="1371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1100"/>
              <a:buFont typeface="Calibri"/>
              <a:buNone/>
            </a:pPr>
            <a:r>
              <a:rPr b="1" i="0" lang="en-US" sz="1100" u="none" cap="none" strike="noStrike">
                <a:solidFill>
                  <a:schemeClr val="accent3"/>
                </a:solidFill>
                <a:latin typeface="Calibri"/>
                <a:ea typeface="Calibri"/>
                <a:cs typeface="Calibri"/>
                <a:sym typeface="Calibri"/>
              </a:rPr>
              <a:t>Incomplete</a:t>
            </a:r>
            <a:endParaRPr b="0" i="0" sz="1100" u="none" cap="none" strike="noStrike">
              <a:solidFill>
                <a:schemeClr val="dk1"/>
              </a:solidFill>
              <a:latin typeface="Calibri"/>
              <a:ea typeface="Calibri"/>
              <a:cs typeface="Calibri"/>
              <a:sym typeface="Calibri"/>
            </a:endParaRPr>
          </a:p>
        </p:txBody>
      </p:sp>
      <p:sp>
        <p:nvSpPr>
          <p:cNvPr id="95" name="Google Shape;95;p9"/>
          <p:cNvSpPr/>
          <p:nvPr/>
        </p:nvSpPr>
        <p:spPr>
          <a:xfrm>
            <a:off x="457200" y="2240280"/>
            <a:ext cx="3566160" cy="685800"/>
          </a:xfrm>
          <a:prstGeom prst="roundRect">
            <a:avLst>
              <a:gd fmla="val 10667"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txBox="1"/>
          <p:nvPr/>
        </p:nvSpPr>
        <p:spPr>
          <a:xfrm>
            <a:off x="594360" y="2286000"/>
            <a:ext cx="3337560" cy="6126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Reversed relationship</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An edge points the wrong way</a:t>
            </a:r>
            <a:endParaRPr b="0" i="0" sz="1400" u="none" cap="none" strike="noStrike">
              <a:solidFill>
                <a:schemeClr val="dk1"/>
              </a:solidFill>
              <a:latin typeface="Calibri"/>
              <a:ea typeface="Calibri"/>
              <a:cs typeface="Calibri"/>
              <a:sym typeface="Calibri"/>
            </a:endParaRPr>
          </a:p>
        </p:txBody>
      </p:sp>
      <p:cxnSp>
        <p:nvCxnSpPr>
          <p:cNvPr id="97" name="Google Shape;97;p9"/>
          <p:cNvCxnSpPr/>
          <p:nvPr/>
        </p:nvCxnSpPr>
        <p:spPr>
          <a:xfrm>
            <a:off x="4114800" y="2583180"/>
            <a:ext cx="411480" cy="0"/>
          </a:xfrm>
          <a:prstGeom prst="straightConnector1">
            <a:avLst/>
          </a:prstGeom>
          <a:noFill/>
          <a:ln cap="flat" cmpd="sng" w="15875">
            <a:solidFill>
              <a:schemeClr val="accent5"/>
            </a:solidFill>
            <a:prstDash val="solid"/>
            <a:round/>
            <a:headEnd len="sm" w="sm" type="none"/>
            <a:tailEnd len="med" w="med" type="triangle"/>
          </a:ln>
        </p:spPr>
      </p:cxnSp>
      <p:sp>
        <p:nvSpPr>
          <p:cNvPr id="98" name="Google Shape;98;p9"/>
          <p:cNvSpPr/>
          <p:nvPr/>
        </p:nvSpPr>
        <p:spPr>
          <a:xfrm>
            <a:off x="4617720" y="2240280"/>
            <a:ext cx="4069080" cy="685800"/>
          </a:xfrm>
          <a:prstGeom prst="roundRect">
            <a:avLst>
              <a:gd fmla="val 10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nvSpPr>
        <p:spPr>
          <a:xfrm>
            <a:off x="4754880" y="2240280"/>
            <a:ext cx="2331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Results from the wrong side appear</a:t>
            </a:r>
            <a:endParaRPr b="0" i="0" sz="1400" u="none" cap="none" strike="noStrike">
              <a:solidFill>
                <a:schemeClr val="dk1"/>
              </a:solidFill>
              <a:latin typeface="Calibri"/>
              <a:ea typeface="Calibri"/>
              <a:cs typeface="Calibri"/>
              <a:sym typeface="Calibri"/>
            </a:endParaRPr>
          </a:p>
        </p:txBody>
      </p:sp>
      <p:sp>
        <p:nvSpPr>
          <p:cNvPr id="100" name="Google Shape;100;p9"/>
          <p:cNvSpPr/>
          <p:nvPr/>
        </p:nvSpPr>
        <p:spPr>
          <a:xfrm>
            <a:off x="7178040" y="2423160"/>
            <a:ext cx="1371600" cy="320040"/>
          </a:xfrm>
          <a:prstGeom prst="roundRect">
            <a:avLst>
              <a:gd fmla="val 17143" name="adj"/>
            </a:avLst>
          </a:prstGeom>
          <a:solidFill>
            <a:schemeClr val="lt1"/>
          </a:solidFill>
          <a:ln cap="flat" cmpd="sng" w="158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txBox="1"/>
          <p:nvPr/>
        </p:nvSpPr>
        <p:spPr>
          <a:xfrm>
            <a:off x="7178040" y="2423160"/>
            <a:ext cx="1371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1100"/>
              <a:buFont typeface="Calibri"/>
              <a:buNone/>
            </a:pPr>
            <a:r>
              <a:rPr b="1" i="0" lang="en-US" sz="1100" u="none" cap="none" strike="noStrike">
                <a:solidFill>
                  <a:schemeClr val="accent3"/>
                </a:solidFill>
                <a:latin typeface="Calibri"/>
                <a:ea typeface="Calibri"/>
                <a:cs typeface="Calibri"/>
                <a:sym typeface="Calibri"/>
              </a:rPr>
              <a:t>Contaminated</a:t>
            </a:r>
            <a:endParaRPr b="0" i="0" sz="1100" u="none" cap="none" strike="noStrike">
              <a:solidFill>
                <a:schemeClr val="dk1"/>
              </a:solidFill>
              <a:latin typeface="Calibri"/>
              <a:ea typeface="Calibri"/>
              <a:cs typeface="Calibri"/>
              <a:sym typeface="Calibri"/>
            </a:endParaRPr>
          </a:p>
        </p:txBody>
      </p:sp>
      <p:sp>
        <p:nvSpPr>
          <p:cNvPr id="102" name="Google Shape;102;p9"/>
          <p:cNvSpPr/>
          <p:nvPr/>
        </p:nvSpPr>
        <p:spPr>
          <a:xfrm>
            <a:off x="457200" y="3063240"/>
            <a:ext cx="3566160" cy="685800"/>
          </a:xfrm>
          <a:prstGeom prst="roundRect">
            <a:avLst>
              <a:gd fmla="val 10667"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txBox="1"/>
          <p:nvPr/>
        </p:nvSpPr>
        <p:spPr>
          <a:xfrm>
            <a:off x="594360" y="3108960"/>
            <a:ext cx="3337560" cy="6126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Missing property</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An attribute that a query filters on is missing</a:t>
            </a:r>
            <a:endParaRPr b="0" i="0" sz="1400" u="none" cap="none" strike="noStrike">
              <a:solidFill>
                <a:schemeClr val="dk1"/>
              </a:solidFill>
              <a:latin typeface="Calibri"/>
              <a:ea typeface="Calibri"/>
              <a:cs typeface="Calibri"/>
              <a:sym typeface="Calibri"/>
            </a:endParaRPr>
          </a:p>
        </p:txBody>
      </p:sp>
      <p:cxnSp>
        <p:nvCxnSpPr>
          <p:cNvPr id="104" name="Google Shape;104;p9"/>
          <p:cNvCxnSpPr/>
          <p:nvPr/>
        </p:nvCxnSpPr>
        <p:spPr>
          <a:xfrm>
            <a:off x="4114800" y="3406140"/>
            <a:ext cx="411480" cy="0"/>
          </a:xfrm>
          <a:prstGeom prst="straightConnector1">
            <a:avLst/>
          </a:prstGeom>
          <a:noFill/>
          <a:ln cap="flat" cmpd="sng" w="15875">
            <a:solidFill>
              <a:schemeClr val="accent5"/>
            </a:solidFill>
            <a:prstDash val="solid"/>
            <a:round/>
            <a:headEnd len="sm" w="sm" type="none"/>
            <a:tailEnd len="med" w="med" type="triangle"/>
          </a:ln>
        </p:spPr>
      </p:cxnSp>
      <p:sp>
        <p:nvSpPr>
          <p:cNvPr id="105" name="Google Shape;105;p9"/>
          <p:cNvSpPr/>
          <p:nvPr/>
        </p:nvSpPr>
        <p:spPr>
          <a:xfrm>
            <a:off x="4617720" y="3063240"/>
            <a:ext cx="4069080" cy="685800"/>
          </a:xfrm>
          <a:prstGeom prst="roundRect">
            <a:avLst>
              <a:gd fmla="val 10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9"/>
          <p:cNvSpPr txBox="1"/>
          <p:nvPr/>
        </p:nvSpPr>
        <p:spPr>
          <a:xfrm>
            <a:off x="4754880" y="3063240"/>
            <a:ext cx="2331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Filters silently drop valid answers</a:t>
            </a:r>
            <a:endParaRPr b="0" i="0" sz="1400" u="none" cap="none" strike="noStrike">
              <a:solidFill>
                <a:schemeClr val="dk1"/>
              </a:solidFill>
              <a:latin typeface="Calibri"/>
              <a:ea typeface="Calibri"/>
              <a:cs typeface="Calibri"/>
              <a:sym typeface="Calibri"/>
            </a:endParaRPr>
          </a:p>
        </p:txBody>
      </p:sp>
      <p:sp>
        <p:nvSpPr>
          <p:cNvPr id="107" name="Google Shape;107;p9"/>
          <p:cNvSpPr/>
          <p:nvPr/>
        </p:nvSpPr>
        <p:spPr>
          <a:xfrm>
            <a:off x="7178040" y="3246120"/>
            <a:ext cx="1371600" cy="320040"/>
          </a:xfrm>
          <a:prstGeom prst="roundRect">
            <a:avLst>
              <a:gd fmla="val 17143" name="adj"/>
            </a:avLst>
          </a:prstGeom>
          <a:solidFill>
            <a:schemeClr val="lt1"/>
          </a:solidFill>
          <a:ln cap="flat" cmpd="sng" w="158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9"/>
          <p:cNvSpPr txBox="1"/>
          <p:nvPr/>
        </p:nvSpPr>
        <p:spPr>
          <a:xfrm>
            <a:off x="7178040" y="3246120"/>
            <a:ext cx="1371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1100"/>
              <a:buFont typeface="Calibri"/>
              <a:buNone/>
            </a:pPr>
            <a:r>
              <a:rPr b="1" i="0" lang="en-US" sz="1100" u="none" cap="none" strike="noStrike">
                <a:solidFill>
                  <a:schemeClr val="accent3"/>
                </a:solidFill>
                <a:latin typeface="Calibri"/>
                <a:ea typeface="Calibri"/>
                <a:cs typeface="Calibri"/>
                <a:sym typeface="Calibri"/>
              </a:rPr>
              <a:t>Incomplete</a:t>
            </a:r>
            <a:endParaRPr b="0" i="0" sz="1100" u="none" cap="none" strike="noStrike">
              <a:solidFill>
                <a:schemeClr val="dk1"/>
              </a:solidFill>
              <a:latin typeface="Calibri"/>
              <a:ea typeface="Calibri"/>
              <a:cs typeface="Calibri"/>
              <a:sym typeface="Calibri"/>
            </a:endParaRPr>
          </a:p>
        </p:txBody>
      </p:sp>
      <p:sp>
        <p:nvSpPr>
          <p:cNvPr id="109" name="Google Shape;109;p9"/>
          <p:cNvSpPr/>
          <p:nvPr/>
        </p:nvSpPr>
        <p:spPr>
          <a:xfrm>
            <a:off x="457200" y="3886200"/>
            <a:ext cx="3566160" cy="685800"/>
          </a:xfrm>
          <a:prstGeom prst="roundRect">
            <a:avLst>
              <a:gd fmla="val 10667"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
          <p:cNvSpPr txBox="1"/>
          <p:nvPr/>
        </p:nvSpPr>
        <p:spPr>
          <a:xfrm>
            <a:off x="594360" y="3931920"/>
            <a:ext cx="3337560" cy="6126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Dropped link</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A relationship never loads</a:t>
            </a:r>
            <a:endParaRPr b="0" i="0" sz="1400" u="none" cap="none" strike="noStrike">
              <a:solidFill>
                <a:schemeClr val="dk1"/>
              </a:solidFill>
              <a:latin typeface="Calibri"/>
              <a:ea typeface="Calibri"/>
              <a:cs typeface="Calibri"/>
              <a:sym typeface="Calibri"/>
            </a:endParaRPr>
          </a:p>
        </p:txBody>
      </p:sp>
      <p:cxnSp>
        <p:nvCxnSpPr>
          <p:cNvPr id="111" name="Google Shape;111;p9"/>
          <p:cNvCxnSpPr/>
          <p:nvPr/>
        </p:nvCxnSpPr>
        <p:spPr>
          <a:xfrm>
            <a:off x="4114800" y="4229100"/>
            <a:ext cx="411480" cy="0"/>
          </a:xfrm>
          <a:prstGeom prst="straightConnector1">
            <a:avLst/>
          </a:prstGeom>
          <a:noFill/>
          <a:ln cap="flat" cmpd="sng" w="15875">
            <a:solidFill>
              <a:schemeClr val="accent5"/>
            </a:solidFill>
            <a:prstDash val="solid"/>
            <a:round/>
            <a:headEnd len="sm" w="sm" type="none"/>
            <a:tailEnd len="med" w="med" type="triangle"/>
          </a:ln>
        </p:spPr>
      </p:cxnSp>
      <p:sp>
        <p:nvSpPr>
          <p:cNvPr id="112" name="Google Shape;112;p9"/>
          <p:cNvSpPr/>
          <p:nvPr/>
        </p:nvSpPr>
        <p:spPr>
          <a:xfrm>
            <a:off x="4617720" y="3886200"/>
            <a:ext cx="4069080" cy="685800"/>
          </a:xfrm>
          <a:prstGeom prst="roundRect">
            <a:avLst>
              <a:gd fmla="val 10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
          <p:cNvSpPr txBox="1"/>
          <p:nvPr/>
        </p:nvSpPr>
        <p:spPr>
          <a:xfrm>
            <a:off x="4754880" y="3886200"/>
            <a:ext cx="2331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Lists come back short, or empty</a:t>
            </a:r>
            <a:endParaRPr b="0" i="0" sz="1400" u="none" cap="none" strike="noStrike">
              <a:solidFill>
                <a:schemeClr val="dk1"/>
              </a:solidFill>
              <a:latin typeface="Calibri"/>
              <a:ea typeface="Calibri"/>
              <a:cs typeface="Calibri"/>
              <a:sym typeface="Calibri"/>
            </a:endParaRPr>
          </a:p>
        </p:txBody>
      </p:sp>
      <p:sp>
        <p:nvSpPr>
          <p:cNvPr id="114" name="Google Shape;114;p9"/>
          <p:cNvSpPr/>
          <p:nvPr/>
        </p:nvSpPr>
        <p:spPr>
          <a:xfrm>
            <a:off x="7178040" y="4069080"/>
            <a:ext cx="1371600" cy="320040"/>
          </a:xfrm>
          <a:prstGeom prst="roundRect">
            <a:avLst>
              <a:gd fmla="val 17143" name="adj"/>
            </a:avLst>
          </a:prstGeom>
          <a:solidFill>
            <a:schemeClr val="lt1"/>
          </a:solidFill>
          <a:ln cap="flat" cmpd="sng" w="158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9"/>
          <p:cNvSpPr txBox="1"/>
          <p:nvPr/>
        </p:nvSpPr>
        <p:spPr>
          <a:xfrm>
            <a:off x="7178040" y="4069080"/>
            <a:ext cx="1371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1100"/>
              <a:buFont typeface="Calibri"/>
              <a:buNone/>
            </a:pPr>
            <a:r>
              <a:rPr b="1" i="0" lang="en-US" sz="1100" u="none" cap="none" strike="noStrike">
                <a:solidFill>
                  <a:schemeClr val="accent3"/>
                </a:solidFill>
                <a:latin typeface="Calibri"/>
                <a:ea typeface="Calibri"/>
                <a:cs typeface="Calibri"/>
                <a:sym typeface="Calibri"/>
              </a:rPr>
              <a:t>Incomplete or empty</a:t>
            </a:r>
            <a:endParaRPr b="0" i="0" sz="1100" u="none" cap="none" strike="noStrike">
              <a:solidFill>
                <a:schemeClr val="dk1"/>
              </a:solidFill>
              <a:latin typeface="Calibri"/>
              <a:ea typeface="Calibri"/>
              <a:cs typeface="Calibri"/>
              <a:sym typeface="Calibri"/>
            </a:endParaRPr>
          </a:p>
        </p:txBody>
      </p:sp>
      <p:sp>
        <p:nvSpPr>
          <p:cNvPr id="116" name="Google Shape;116;p9"/>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0"/>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Teams can see defects and wrong answers, but not which fix pays off</a:t>
            </a:r>
            <a:endParaRPr sz="2100"/>
          </a:p>
        </p:txBody>
      </p:sp>
      <p:sp>
        <p:nvSpPr>
          <p:cNvPr id="123" name="Google Shape;123;p10"/>
          <p:cNvSpPr/>
          <p:nvPr/>
        </p:nvSpPr>
        <p:spPr>
          <a:xfrm>
            <a:off x="457200" y="1234440"/>
            <a:ext cx="3566160" cy="2788920"/>
          </a:xfrm>
          <a:prstGeom prst="roundRect">
            <a:avLst>
              <a:gd fmla="val 2623"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0"/>
          <p:cNvSpPr txBox="1"/>
          <p:nvPr/>
        </p:nvSpPr>
        <p:spPr>
          <a:xfrm>
            <a:off x="685800" y="1371600"/>
            <a:ext cx="31089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600"/>
              <a:buFont typeface="Calibri"/>
              <a:buNone/>
            </a:pPr>
            <a:r>
              <a:rPr b="1" i="0" lang="en-US" sz="1600" u="none" cap="none" strike="noStrike">
                <a:solidFill>
                  <a:schemeClr val="accent1"/>
                </a:solidFill>
                <a:latin typeface="Calibri"/>
                <a:ea typeface="Calibri"/>
                <a:cs typeface="Calibri"/>
                <a:sym typeface="Calibri"/>
              </a:rPr>
              <a:t>The graph team sees</a:t>
            </a:r>
            <a:endParaRPr b="0" i="0" sz="1600" u="none" cap="none" strike="noStrike">
              <a:solidFill>
                <a:schemeClr val="dk1"/>
              </a:solidFill>
              <a:latin typeface="Calibri"/>
              <a:ea typeface="Calibri"/>
              <a:cs typeface="Calibri"/>
              <a:sym typeface="Calibri"/>
            </a:endParaRPr>
          </a:p>
        </p:txBody>
      </p:sp>
      <p:sp>
        <p:nvSpPr>
          <p:cNvPr id="125" name="Google Shape;125;p10"/>
          <p:cNvSpPr txBox="1"/>
          <p:nvPr/>
        </p:nvSpPr>
        <p:spPr>
          <a:xfrm>
            <a:off x="685800" y="1828800"/>
            <a:ext cx="31089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Violations by rule</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schema, cardinality, required properties</a:t>
            </a:r>
            <a:endParaRPr b="0" i="0" sz="1400" u="none" cap="none" strike="noStrike">
              <a:solidFill>
                <a:schemeClr val="dk1"/>
              </a:solidFill>
              <a:latin typeface="Calibri"/>
              <a:ea typeface="Calibri"/>
              <a:cs typeface="Calibri"/>
              <a:sym typeface="Calibri"/>
            </a:endParaRPr>
          </a:p>
        </p:txBody>
      </p:sp>
      <p:sp>
        <p:nvSpPr>
          <p:cNvPr id="126" name="Google Shape;126;p10"/>
          <p:cNvSpPr txBox="1"/>
          <p:nvPr/>
        </p:nvSpPr>
        <p:spPr>
          <a:xfrm>
            <a:off x="685800" y="2542032"/>
            <a:ext cx="31089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Completeness by entity type</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and by source system</a:t>
            </a:r>
            <a:endParaRPr b="0" i="0" sz="1400" u="none" cap="none" strike="noStrike">
              <a:solidFill>
                <a:schemeClr val="dk1"/>
              </a:solidFill>
              <a:latin typeface="Calibri"/>
              <a:ea typeface="Calibri"/>
              <a:cs typeface="Calibri"/>
              <a:sym typeface="Calibri"/>
            </a:endParaRPr>
          </a:p>
        </p:txBody>
      </p:sp>
      <p:sp>
        <p:nvSpPr>
          <p:cNvPr id="127" name="Google Shape;127;p10"/>
          <p:cNvSpPr txBox="1"/>
          <p:nvPr/>
        </p:nvSpPr>
        <p:spPr>
          <a:xfrm>
            <a:off x="685800" y="3255264"/>
            <a:ext cx="31089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Duplicate candidates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clusters waiting for resolution</a:t>
            </a:r>
            <a:endParaRPr b="0" i="0" sz="1400" u="none" cap="none" strike="noStrike">
              <a:solidFill>
                <a:schemeClr val="dk1"/>
              </a:solidFill>
              <a:latin typeface="Calibri"/>
              <a:ea typeface="Calibri"/>
              <a:cs typeface="Calibri"/>
              <a:sym typeface="Calibri"/>
            </a:endParaRPr>
          </a:p>
        </p:txBody>
      </p:sp>
      <p:sp>
        <p:nvSpPr>
          <p:cNvPr id="128" name="Google Shape;128;p10"/>
          <p:cNvSpPr/>
          <p:nvPr/>
        </p:nvSpPr>
        <p:spPr>
          <a:xfrm>
            <a:off x="5120640" y="1234440"/>
            <a:ext cx="3566160" cy="2788920"/>
          </a:xfrm>
          <a:prstGeom prst="roundRect">
            <a:avLst>
              <a:gd fmla="val 2623"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0"/>
          <p:cNvSpPr txBox="1"/>
          <p:nvPr/>
        </p:nvSpPr>
        <p:spPr>
          <a:xfrm>
            <a:off x="5349240" y="1371600"/>
            <a:ext cx="31089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600"/>
              <a:buFont typeface="Calibri"/>
              <a:buNone/>
            </a:pPr>
            <a:r>
              <a:rPr b="1" i="0" lang="en-US" sz="1600" u="none" cap="none" strike="noStrike">
                <a:solidFill>
                  <a:schemeClr val="accent1"/>
                </a:solidFill>
                <a:latin typeface="Calibri"/>
                <a:ea typeface="Calibri"/>
                <a:cs typeface="Calibri"/>
                <a:sym typeface="Calibri"/>
              </a:rPr>
              <a:t>The AI team sees</a:t>
            </a:r>
            <a:endParaRPr b="0" i="0" sz="1600" u="none" cap="none" strike="noStrike">
              <a:solidFill>
                <a:schemeClr val="dk1"/>
              </a:solidFill>
              <a:latin typeface="Calibri"/>
              <a:ea typeface="Calibri"/>
              <a:cs typeface="Calibri"/>
              <a:sym typeface="Calibri"/>
            </a:endParaRPr>
          </a:p>
        </p:txBody>
      </p:sp>
      <p:sp>
        <p:nvSpPr>
          <p:cNvPr id="130" name="Google Shape;130;p10"/>
          <p:cNvSpPr txBox="1"/>
          <p:nvPr/>
        </p:nvSpPr>
        <p:spPr>
          <a:xfrm>
            <a:off x="5349240" y="1828800"/>
            <a:ext cx="31089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Golden-set accuracy</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how many answers are right</a:t>
            </a:r>
            <a:endParaRPr b="0" i="0" sz="1400" u="none" cap="none" strike="noStrike">
              <a:solidFill>
                <a:schemeClr val="dk1"/>
              </a:solidFill>
              <a:latin typeface="Calibri"/>
              <a:ea typeface="Calibri"/>
              <a:cs typeface="Calibri"/>
              <a:sym typeface="Calibri"/>
            </a:endParaRPr>
          </a:p>
        </p:txBody>
      </p:sp>
      <p:sp>
        <p:nvSpPr>
          <p:cNvPr id="131" name="Google Shape;131;p10"/>
          <p:cNvSpPr txBox="1"/>
          <p:nvPr/>
        </p:nvSpPr>
        <p:spPr>
          <a:xfrm>
            <a:off x="5349240" y="2542032"/>
            <a:ext cx="31089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Failed questions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examples and user complaints</a:t>
            </a:r>
            <a:endParaRPr b="0" i="0" sz="1400" u="none" cap="none" strike="noStrike">
              <a:solidFill>
                <a:schemeClr val="dk1"/>
              </a:solidFill>
              <a:latin typeface="Calibri"/>
              <a:ea typeface="Calibri"/>
              <a:cs typeface="Calibri"/>
              <a:sym typeface="Calibri"/>
            </a:endParaRPr>
          </a:p>
        </p:txBody>
      </p:sp>
      <p:sp>
        <p:nvSpPr>
          <p:cNvPr id="132" name="Google Shape;132;p10"/>
          <p:cNvSpPr txBox="1"/>
          <p:nvPr/>
        </p:nvSpPr>
        <p:spPr>
          <a:xfrm>
            <a:off x="5349240" y="3255264"/>
            <a:ext cx="31089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Judge scores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LLM-graded answer quality</a:t>
            </a:r>
            <a:endParaRPr b="0" i="0" sz="1400" u="none" cap="none" strike="noStrike">
              <a:solidFill>
                <a:schemeClr val="dk1"/>
              </a:solidFill>
              <a:latin typeface="Calibri"/>
              <a:ea typeface="Calibri"/>
              <a:cs typeface="Calibri"/>
              <a:sym typeface="Calibri"/>
            </a:endParaRPr>
          </a:p>
        </p:txBody>
      </p:sp>
      <p:sp>
        <p:nvSpPr>
          <p:cNvPr id="133" name="Google Shape;133;p10"/>
          <p:cNvSpPr txBox="1"/>
          <p:nvPr/>
        </p:nvSpPr>
        <p:spPr>
          <a:xfrm>
            <a:off x="4023360" y="2011680"/>
            <a:ext cx="1097280" cy="914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5"/>
              </a:buClr>
              <a:buSzPts val="5400"/>
              <a:buFont typeface="Arial"/>
              <a:buNone/>
            </a:pPr>
            <a:r>
              <a:rPr b="1" i="0" lang="en-US" sz="5400" u="none" cap="none" strike="noStrike">
                <a:solidFill>
                  <a:schemeClr val="accent5"/>
                </a:solidFill>
                <a:latin typeface="Arial"/>
                <a:ea typeface="Arial"/>
                <a:cs typeface="Arial"/>
                <a:sym typeface="Arial"/>
              </a:rPr>
              <a:t>?</a:t>
            </a:r>
            <a:endParaRPr b="0" i="0" sz="5400" u="none" cap="none" strike="noStrike">
              <a:solidFill>
                <a:schemeClr val="dk1"/>
              </a:solidFill>
              <a:latin typeface="Calibri"/>
              <a:ea typeface="Calibri"/>
              <a:cs typeface="Calibri"/>
              <a:sym typeface="Calibri"/>
            </a:endParaRPr>
          </a:p>
        </p:txBody>
      </p:sp>
      <p:sp>
        <p:nvSpPr>
          <p:cNvPr id="134" name="Google Shape;134;p10"/>
          <p:cNvSpPr txBox="1"/>
          <p:nvPr/>
        </p:nvSpPr>
        <p:spPr>
          <a:xfrm>
            <a:off x="457200" y="416052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Which defects caused which wrong answers, and which fix recovers the most?</a:t>
            </a:r>
            <a:endParaRPr b="0" i="0" sz="1500" u="none" cap="none" strike="noStrike">
              <a:solidFill>
                <a:schemeClr val="dk1"/>
              </a:solidFill>
              <a:latin typeface="Calibri"/>
              <a:ea typeface="Calibri"/>
              <a:cs typeface="Calibri"/>
              <a:sym typeface="Calibri"/>
            </a:endParaRPr>
          </a:p>
        </p:txBody>
      </p:sp>
      <p:sp>
        <p:nvSpPr>
          <p:cNvPr id="135" name="Google Shape;135;p10"/>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1"/>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Four established ways to evaluate a knowledge graph, each with a blind spot</a:t>
            </a:r>
            <a:endParaRPr sz="2100"/>
          </a:p>
        </p:txBody>
      </p:sp>
      <p:sp>
        <p:nvSpPr>
          <p:cNvPr id="142" name="Google Shape;142;p11"/>
          <p:cNvSpPr/>
          <p:nvPr/>
        </p:nvSpPr>
        <p:spPr>
          <a:xfrm>
            <a:off x="457200" y="1143000"/>
            <a:ext cx="4023360" cy="1554480"/>
          </a:xfrm>
          <a:prstGeom prst="roundRect">
            <a:avLst>
              <a:gd fmla="val 4706"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
          <p:cNvSpPr txBox="1"/>
          <p:nvPr/>
        </p:nvSpPr>
        <p:spPr>
          <a:xfrm>
            <a:off x="640080" y="1252728"/>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Constraint validation</a:t>
            </a:r>
            <a:endParaRPr b="0" i="0" sz="1500" u="none" cap="none" strike="noStrike">
              <a:solidFill>
                <a:schemeClr val="dk1"/>
              </a:solidFill>
              <a:latin typeface="Calibri"/>
              <a:ea typeface="Calibri"/>
              <a:cs typeface="Calibri"/>
              <a:sym typeface="Calibri"/>
            </a:endParaRPr>
          </a:p>
        </p:txBody>
      </p:sp>
      <p:sp>
        <p:nvSpPr>
          <p:cNvPr id="144" name="Google Shape;144;p11"/>
          <p:cNvSpPr txBox="1"/>
          <p:nvPr/>
        </p:nvSpPr>
        <p:spPr>
          <a:xfrm>
            <a:off x="640080" y="1545336"/>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50"/>
              <a:buFont typeface="Calibri"/>
              <a:buNone/>
            </a:pPr>
            <a:r>
              <a:rPr b="0" i="0" lang="en-US" sz="1050" u="none" cap="none" strike="noStrike">
                <a:solidFill>
                  <a:schemeClr val="dk2"/>
                </a:solidFill>
                <a:latin typeface="Calibri"/>
                <a:ea typeface="Calibri"/>
                <a:cs typeface="Calibri"/>
                <a:sym typeface="Calibri"/>
              </a:rPr>
              <a:t>SHACL shapes, schema constraints, data tests (Great Expectations, dbt, Soda)</a:t>
            </a:r>
            <a:endParaRPr b="0" i="0" sz="1050" u="none" cap="none" strike="noStrike">
              <a:solidFill>
                <a:schemeClr val="dk1"/>
              </a:solidFill>
              <a:latin typeface="Calibri"/>
              <a:ea typeface="Calibri"/>
              <a:cs typeface="Calibri"/>
              <a:sym typeface="Calibri"/>
            </a:endParaRPr>
          </a:p>
        </p:txBody>
      </p:sp>
      <p:sp>
        <p:nvSpPr>
          <p:cNvPr id="145" name="Google Shape;145;p11"/>
          <p:cNvSpPr txBox="1"/>
          <p:nvPr/>
        </p:nvSpPr>
        <p:spPr>
          <a:xfrm>
            <a:off x="640080" y="1947672"/>
            <a:ext cx="365760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300"/>
              <a:buFont typeface="Calibri"/>
              <a:buNone/>
            </a:pPr>
            <a:r>
              <a:rPr b="1" i="0" lang="en-US" sz="1300" u="none" cap="none" strike="noStrike">
                <a:solidFill>
                  <a:schemeClr val="accent2"/>
                </a:solidFill>
                <a:latin typeface="Calibri"/>
                <a:ea typeface="Calibri"/>
                <a:cs typeface="Calibri"/>
                <a:sym typeface="Calibri"/>
              </a:rPr>
              <a:t>Tells you </a:t>
            </a:r>
            <a:r>
              <a:rPr b="0" i="0" lang="en-US" sz="1300" u="none" cap="none" strike="noStrike">
                <a:solidFill>
                  <a:schemeClr val="dk1"/>
                </a:solidFill>
                <a:latin typeface="Calibri"/>
                <a:ea typeface="Calibri"/>
                <a:cs typeface="Calibri"/>
                <a:sym typeface="Calibri"/>
              </a:rPr>
              <a:t>which rules the graph breaks</a:t>
            </a:r>
            <a:endParaRPr b="0" i="0" sz="1300" u="none" cap="none" strike="noStrike">
              <a:solidFill>
                <a:schemeClr val="dk1"/>
              </a:solidFill>
              <a:latin typeface="Calibri"/>
              <a:ea typeface="Calibri"/>
              <a:cs typeface="Calibri"/>
              <a:sym typeface="Calibri"/>
            </a:endParaRPr>
          </a:p>
        </p:txBody>
      </p:sp>
      <p:sp>
        <p:nvSpPr>
          <p:cNvPr id="146" name="Google Shape;146;p11"/>
          <p:cNvSpPr txBox="1"/>
          <p:nvPr/>
        </p:nvSpPr>
        <p:spPr>
          <a:xfrm>
            <a:off x="640080" y="2276856"/>
            <a:ext cx="365760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300"/>
              <a:buFont typeface="Calibri"/>
              <a:buNone/>
            </a:pPr>
            <a:r>
              <a:rPr b="1" i="0" lang="en-US" sz="1300" u="none" cap="none" strike="noStrike">
                <a:solidFill>
                  <a:schemeClr val="accent3"/>
                </a:solidFill>
                <a:latin typeface="Calibri"/>
                <a:ea typeface="Calibri"/>
                <a:cs typeface="Calibri"/>
                <a:sym typeface="Calibri"/>
              </a:rPr>
              <a:t>Misses </a:t>
            </a:r>
            <a:r>
              <a:rPr b="0" i="0" lang="en-US" sz="1300" u="none" cap="none" strike="noStrike">
                <a:solidFill>
                  <a:schemeClr val="dk1"/>
                </a:solidFill>
                <a:latin typeface="Calibri"/>
                <a:ea typeface="Calibri"/>
                <a:cs typeface="Calibri"/>
                <a:sym typeface="Calibri"/>
              </a:rPr>
              <a:t>which violations cost answers</a:t>
            </a:r>
            <a:endParaRPr b="0" i="0" sz="1300" u="none" cap="none" strike="noStrike">
              <a:solidFill>
                <a:schemeClr val="dk1"/>
              </a:solidFill>
              <a:latin typeface="Calibri"/>
              <a:ea typeface="Calibri"/>
              <a:cs typeface="Calibri"/>
              <a:sym typeface="Calibri"/>
            </a:endParaRPr>
          </a:p>
        </p:txBody>
      </p:sp>
      <p:sp>
        <p:nvSpPr>
          <p:cNvPr id="147" name="Google Shape;147;p11"/>
          <p:cNvSpPr/>
          <p:nvPr/>
        </p:nvSpPr>
        <p:spPr>
          <a:xfrm>
            <a:off x="4663440" y="1143000"/>
            <a:ext cx="4023360" cy="1554480"/>
          </a:xfrm>
          <a:prstGeom prst="roundRect">
            <a:avLst>
              <a:gd fmla="val 4706"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
          <p:cNvSpPr txBox="1"/>
          <p:nvPr/>
        </p:nvSpPr>
        <p:spPr>
          <a:xfrm>
            <a:off x="4846320" y="1252728"/>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Quality metrics and audits</a:t>
            </a:r>
            <a:endParaRPr b="0" i="0" sz="1500" u="none" cap="none" strike="noStrike">
              <a:solidFill>
                <a:schemeClr val="dk1"/>
              </a:solidFill>
              <a:latin typeface="Calibri"/>
              <a:ea typeface="Calibri"/>
              <a:cs typeface="Calibri"/>
              <a:sym typeface="Calibri"/>
            </a:endParaRPr>
          </a:p>
        </p:txBody>
      </p:sp>
      <p:sp>
        <p:nvSpPr>
          <p:cNvPr id="149" name="Google Shape;149;p11"/>
          <p:cNvSpPr txBox="1"/>
          <p:nvPr/>
        </p:nvSpPr>
        <p:spPr>
          <a:xfrm>
            <a:off x="4846320" y="1545336"/>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50"/>
              <a:buFont typeface="Calibri"/>
              <a:buNone/>
            </a:pPr>
            <a:r>
              <a:rPr b="0" i="0" lang="en-US" sz="1050" u="none" cap="none" strike="noStrike">
                <a:solidFill>
                  <a:schemeClr val="dk2"/>
                </a:solidFill>
                <a:latin typeface="Calibri"/>
                <a:ea typeface="Calibri"/>
                <a:cs typeface="Calibri"/>
                <a:sym typeface="Calibri"/>
              </a:rPr>
              <a:t>Linked-data quality dimensions (Zaveri et al.); sampled triple audits (Gao et al., VLDB 2019)</a:t>
            </a:r>
            <a:endParaRPr b="0" i="0" sz="1050" u="none" cap="none" strike="noStrike">
              <a:solidFill>
                <a:schemeClr val="dk1"/>
              </a:solidFill>
              <a:latin typeface="Calibri"/>
              <a:ea typeface="Calibri"/>
              <a:cs typeface="Calibri"/>
              <a:sym typeface="Calibri"/>
            </a:endParaRPr>
          </a:p>
        </p:txBody>
      </p:sp>
      <p:sp>
        <p:nvSpPr>
          <p:cNvPr id="150" name="Google Shape;150;p11"/>
          <p:cNvSpPr txBox="1"/>
          <p:nvPr/>
        </p:nvSpPr>
        <p:spPr>
          <a:xfrm>
            <a:off x="4846320" y="1947672"/>
            <a:ext cx="365760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300"/>
              <a:buFont typeface="Calibri"/>
              <a:buNone/>
            </a:pPr>
            <a:r>
              <a:rPr b="1" i="0" lang="en-US" sz="1300" u="none" cap="none" strike="noStrike">
                <a:solidFill>
                  <a:schemeClr val="accent2"/>
                </a:solidFill>
                <a:latin typeface="Calibri"/>
                <a:ea typeface="Calibri"/>
                <a:cs typeface="Calibri"/>
                <a:sym typeface="Calibri"/>
              </a:rPr>
              <a:t>Tells you </a:t>
            </a:r>
            <a:r>
              <a:rPr b="0" i="0" lang="en-US" sz="1300" u="none" cap="none" strike="noStrike">
                <a:solidFill>
                  <a:schemeClr val="dk1"/>
                </a:solidFill>
                <a:latin typeface="Calibri"/>
                <a:ea typeface="Calibri"/>
                <a:cs typeface="Calibri"/>
                <a:sym typeface="Calibri"/>
              </a:rPr>
              <a:t>how accurate and complete the graph is</a:t>
            </a:r>
            <a:endParaRPr b="0" i="0" sz="1300" u="none" cap="none" strike="noStrike">
              <a:solidFill>
                <a:schemeClr val="dk1"/>
              </a:solidFill>
              <a:latin typeface="Calibri"/>
              <a:ea typeface="Calibri"/>
              <a:cs typeface="Calibri"/>
              <a:sym typeface="Calibri"/>
            </a:endParaRPr>
          </a:p>
        </p:txBody>
      </p:sp>
      <p:sp>
        <p:nvSpPr>
          <p:cNvPr id="151" name="Google Shape;151;p11"/>
          <p:cNvSpPr txBox="1"/>
          <p:nvPr/>
        </p:nvSpPr>
        <p:spPr>
          <a:xfrm>
            <a:off x="4846320" y="2276856"/>
            <a:ext cx="365760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300"/>
              <a:buFont typeface="Calibri"/>
              <a:buNone/>
            </a:pPr>
            <a:r>
              <a:rPr b="1" i="0" lang="en-US" sz="1300" u="none" cap="none" strike="noStrike">
                <a:solidFill>
                  <a:schemeClr val="accent3"/>
                </a:solidFill>
                <a:latin typeface="Calibri"/>
                <a:ea typeface="Calibri"/>
                <a:cs typeface="Calibri"/>
                <a:sym typeface="Calibri"/>
              </a:rPr>
              <a:t>Misses </a:t>
            </a:r>
            <a:r>
              <a:rPr b="0" i="0" lang="en-US" sz="1300" u="none" cap="none" strike="noStrike">
                <a:solidFill>
                  <a:schemeClr val="dk1"/>
                </a:solidFill>
                <a:latin typeface="Calibri"/>
                <a:ea typeface="Calibri"/>
                <a:cs typeface="Calibri"/>
                <a:sym typeface="Calibri"/>
              </a:rPr>
              <a:t>whether errors sit where your questions go</a:t>
            </a:r>
            <a:endParaRPr b="0" i="0" sz="1300" u="none" cap="none" strike="noStrike">
              <a:solidFill>
                <a:schemeClr val="dk1"/>
              </a:solidFill>
              <a:latin typeface="Calibri"/>
              <a:ea typeface="Calibri"/>
              <a:cs typeface="Calibri"/>
              <a:sym typeface="Calibri"/>
            </a:endParaRPr>
          </a:p>
        </p:txBody>
      </p:sp>
      <p:sp>
        <p:nvSpPr>
          <p:cNvPr id="152" name="Google Shape;152;p11"/>
          <p:cNvSpPr/>
          <p:nvPr/>
        </p:nvSpPr>
        <p:spPr>
          <a:xfrm>
            <a:off x="457200" y="2834640"/>
            <a:ext cx="4023360" cy="1554480"/>
          </a:xfrm>
          <a:prstGeom prst="roundRect">
            <a:avLst>
              <a:gd fmla="val 4706"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txBox="1"/>
          <p:nvPr/>
        </p:nvSpPr>
        <p:spPr>
          <a:xfrm>
            <a:off x="640080" y="2944368"/>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End-to-end answer evaluation</a:t>
            </a:r>
            <a:endParaRPr b="0" i="0" sz="1500" u="none" cap="none" strike="noStrike">
              <a:solidFill>
                <a:schemeClr val="dk1"/>
              </a:solidFill>
              <a:latin typeface="Calibri"/>
              <a:ea typeface="Calibri"/>
              <a:cs typeface="Calibri"/>
              <a:sym typeface="Calibri"/>
            </a:endParaRPr>
          </a:p>
        </p:txBody>
      </p:sp>
      <p:sp>
        <p:nvSpPr>
          <p:cNvPr id="154" name="Google Shape;154;p11"/>
          <p:cNvSpPr txBox="1"/>
          <p:nvPr/>
        </p:nvSpPr>
        <p:spPr>
          <a:xfrm>
            <a:off x="640080" y="3236976"/>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50"/>
              <a:buFont typeface="Calibri"/>
              <a:buNone/>
            </a:pPr>
            <a:r>
              <a:rPr b="0" i="0" lang="en-US" sz="1050" u="none" cap="none" strike="noStrike">
                <a:solidFill>
                  <a:schemeClr val="dk2"/>
                </a:solidFill>
                <a:latin typeface="Calibri"/>
                <a:ea typeface="Calibri"/>
                <a:cs typeface="Calibri"/>
                <a:sym typeface="Calibri"/>
              </a:rPr>
              <a:t>Golden QA sets, LLM-as-judge, RAGAS</a:t>
            </a:r>
            <a:endParaRPr b="0" i="0" sz="1050" u="none" cap="none" strike="noStrike">
              <a:solidFill>
                <a:schemeClr val="dk1"/>
              </a:solidFill>
              <a:latin typeface="Calibri"/>
              <a:ea typeface="Calibri"/>
              <a:cs typeface="Calibri"/>
              <a:sym typeface="Calibri"/>
            </a:endParaRPr>
          </a:p>
        </p:txBody>
      </p:sp>
      <p:sp>
        <p:nvSpPr>
          <p:cNvPr id="155" name="Google Shape;155;p11"/>
          <p:cNvSpPr txBox="1"/>
          <p:nvPr/>
        </p:nvSpPr>
        <p:spPr>
          <a:xfrm>
            <a:off x="640080" y="3639312"/>
            <a:ext cx="365760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300"/>
              <a:buFont typeface="Calibri"/>
              <a:buNone/>
            </a:pPr>
            <a:r>
              <a:rPr b="1" i="0" lang="en-US" sz="1300" u="none" cap="none" strike="noStrike">
                <a:solidFill>
                  <a:schemeClr val="accent2"/>
                </a:solidFill>
                <a:latin typeface="Calibri"/>
                <a:ea typeface="Calibri"/>
                <a:cs typeface="Calibri"/>
                <a:sym typeface="Calibri"/>
              </a:rPr>
              <a:t>Tells you </a:t>
            </a:r>
            <a:r>
              <a:rPr b="0" i="0" lang="en-US" sz="1300" u="none" cap="none" strike="noStrike">
                <a:solidFill>
                  <a:schemeClr val="dk1"/>
                </a:solidFill>
                <a:latin typeface="Calibri"/>
                <a:ea typeface="Calibri"/>
                <a:cs typeface="Calibri"/>
                <a:sym typeface="Calibri"/>
              </a:rPr>
              <a:t>how often answers are right</a:t>
            </a:r>
            <a:endParaRPr b="0" i="0" sz="1300" u="none" cap="none" strike="noStrike">
              <a:solidFill>
                <a:schemeClr val="dk1"/>
              </a:solidFill>
              <a:latin typeface="Calibri"/>
              <a:ea typeface="Calibri"/>
              <a:cs typeface="Calibri"/>
              <a:sym typeface="Calibri"/>
            </a:endParaRPr>
          </a:p>
        </p:txBody>
      </p:sp>
      <p:sp>
        <p:nvSpPr>
          <p:cNvPr id="156" name="Google Shape;156;p11"/>
          <p:cNvSpPr txBox="1"/>
          <p:nvPr/>
        </p:nvSpPr>
        <p:spPr>
          <a:xfrm>
            <a:off x="640080" y="3968496"/>
            <a:ext cx="365760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300"/>
              <a:buFont typeface="Calibri"/>
              <a:buNone/>
            </a:pPr>
            <a:r>
              <a:rPr b="1" i="0" lang="en-US" sz="1300" u="none" cap="none" strike="noStrike">
                <a:solidFill>
                  <a:schemeClr val="accent3"/>
                </a:solidFill>
                <a:latin typeface="Calibri"/>
                <a:ea typeface="Calibri"/>
                <a:cs typeface="Calibri"/>
                <a:sym typeface="Calibri"/>
              </a:rPr>
              <a:t>Misses </a:t>
            </a:r>
            <a:r>
              <a:rPr b="0" i="0" lang="en-US" sz="1300" u="none" cap="none" strike="noStrike">
                <a:solidFill>
                  <a:schemeClr val="dk1"/>
                </a:solidFill>
                <a:latin typeface="Calibri"/>
                <a:ea typeface="Calibri"/>
                <a:cs typeface="Calibri"/>
                <a:sym typeface="Calibri"/>
              </a:rPr>
              <a:t>why the wrong ones are wrong</a:t>
            </a:r>
            <a:endParaRPr b="0" i="0" sz="1300" u="none" cap="none" strike="noStrike">
              <a:solidFill>
                <a:schemeClr val="dk1"/>
              </a:solidFill>
              <a:latin typeface="Calibri"/>
              <a:ea typeface="Calibri"/>
              <a:cs typeface="Calibri"/>
              <a:sym typeface="Calibri"/>
            </a:endParaRPr>
          </a:p>
        </p:txBody>
      </p:sp>
      <p:sp>
        <p:nvSpPr>
          <p:cNvPr id="157" name="Google Shape;157;p11"/>
          <p:cNvSpPr/>
          <p:nvPr/>
        </p:nvSpPr>
        <p:spPr>
          <a:xfrm>
            <a:off x="4663440" y="2834640"/>
            <a:ext cx="4023360" cy="1554480"/>
          </a:xfrm>
          <a:prstGeom prst="roundRect">
            <a:avLst>
              <a:gd fmla="val 4706"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txBox="1"/>
          <p:nvPr/>
        </p:nvSpPr>
        <p:spPr>
          <a:xfrm>
            <a:off x="4846320" y="2944368"/>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Query-generation benchmarks</a:t>
            </a:r>
            <a:endParaRPr b="0" i="0" sz="1500" u="none" cap="none" strike="noStrike">
              <a:solidFill>
                <a:schemeClr val="dk1"/>
              </a:solidFill>
              <a:latin typeface="Calibri"/>
              <a:ea typeface="Calibri"/>
              <a:cs typeface="Calibri"/>
              <a:sym typeface="Calibri"/>
            </a:endParaRPr>
          </a:p>
        </p:txBody>
      </p:sp>
      <p:sp>
        <p:nvSpPr>
          <p:cNvPr id="159" name="Google Shape;159;p11"/>
          <p:cNvSpPr txBox="1"/>
          <p:nvPr/>
        </p:nvSpPr>
        <p:spPr>
          <a:xfrm>
            <a:off x="4846320" y="3236976"/>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50"/>
              <a:buFont typeface="Calibri"/>
              <a:buNone/>
            </a:pPr>
            <a:r>
              <a:rPr b="0" i="0" lang="en-US" sz="1050" u="none" cap="none" strike="noStrike">
                <a:solidFill>
                  <a:schemeClr val="dk2"/>
                </a:solidFill>
                <a:latin typeface="Calibri"/>
                <a:ea typeface="Calibri"/>
                <a:cs typeface="Calibri"/>
                <a:sym typeface="Calibri"/>
              </a:rPr>
              <a:t>Text-to-Cypher datasets</a:t>
            </a:r>
            <a:endParaRPr b="0" i="0" sz="1050" u="none" cap="none" strike="noStrike">
              <a:solidFill>
                <a:schemeClr val="dk1"/>
              </a:solidFill>
              <a:latin typeface="Calibri"/>
              <a:ea typeface="Calibri"/>
              <a:cs typeface="Calibri"/>
              <a:sym typeface="Calibri"/>
            </a:endParaRPr>
          </a:p>
        </p:txBody>
      </p:sp>
      <p:sp>
        <p:nvSpPr>
          <p:cNvPr id="160" name="Google Shape;160;p11"/>
          <p:cNvSpPr txBox="1"/>
          <p:nvPr/>
        </p:nvSpPr>
        <p:spPr>
          <a:xfrm>
            <a:off x="4846320" y="3639312"/>
            <a:ext cx="365760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300"/>
              <a:buFont typeface="Calibri"/>
              <a:buNone/>
            </a:pPr>
            <a:r>
              <a:rPr b="1" i="0" lang="en-US" sz="1300" u="none" cap="none" strike="noStrike">
                <a:solidFill>
                  <a:schemeClr val="accent2"/>
                </a:solidFill>
                <a:latin typeface="Calibri"/>
                <a:ea typeface="Calibri"/>
                <a:cs typeface="Calibri"/>
                <a:sym typeface="Calibri"/>
              </a:rPr>
              <a:t>Tells you </a:t>
            </a:r>
            <a:r>
              <a:rPr b="0" i="0" lang="en-US" sz="1300" u="none" cap="none" strike="noStrike">
                <a:solidFill>
                  <a:schemeClr val="dk1"/>
                </a:solidFill>
                <a:latin typeface="Calibri"/>
                <a:ea typeface="Calibri"/>
                <a:cs typeface="Calibri"/>
                <a:sym typeface="Calibri"/>
              </a:rPr>
              <a:t>whether the model writes the right query</a:t>
            </a:r>
            <a:endParaRPr b="0" i="0" sz="1300" u="none" cap="none" strike="noStrike">
              <a:solidFill>
                <a:schemeClr val="dk1"/>
              </a:solidFill>
              <a:latin typeface="Calibri"/>
              <a:ea typeface="Calibri"/>
              <a:cs typeface="Calibri"/>
              <a:sym typeface="Calibri"/>
            </a:endParaRPr>
          </a:p>
        </p:txBody>
      </p:sp>
      <p:sp>
        <p:nvSpPr>
          <p:cNvPr id="161" name="Google Shape;161;p11"/>
          <p:cNvSpPr txBox="1"/>
          <p:nvPr/>
        </p:nvSpPr>
        <p:spPr>
          <a:xfrm>
            <a:off x="4846320" y="3968496"/>
            <a:ext cx="365760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300"/>
              <a:buFont typeface="Calibri"/>
              <a:buNone/>
            </a:pPr>
            <a:r>
              <a:rPr b="1" i="0" lang="en-US" sz="1300" u="none" cap="none" strike="noStrike">
                <a:solidFill>
                  <a:schemeClr val="accent3"/>
                </a:solidFill>
                <a:latin typeface="Calibri"/>
                <a:ea typeface="Calibri"/>
                <a:cs typeface="Calibri"/>
                <a:sym typeface="Calibri"/>
              </a:rPr>
              <a:t>Misses </a:t>
            </a:r>
            <a:r>
              <a:rPr b="0" i="0" lang="en-US" sz="1300" u="none" cap="none" strike="noStrike">
                <a:solidFill>
                  <a:schemeClr val="dk1"/>
                </a:solidFill>
                <a:latin typeface="Calibri"/>
                <a:ea typeface="Calibri"/>
                <a:cs typeface="Calibri"/>
                <a:sym typeface="Calibri"/>
              </a:rPr>
              <a:t>the state of the graph itself</a:t>
            </a:r>
            <a:endParaRPr b="0" i="0" sz="1300" u="none" cap="none" strike="noStrike">
              <a:solidFill>
                <a:schemeClr val="dk1"/>
              </a:solidFill>
              <a:latin typeface="Calibri"/>
              <a:ea typeface="Calibri"/>
              <a:cs typeface="Calibri"/>
              <a:sym typeface="Calibri"/>
            </a:endParaRPr>
          </a:p>
        </p:txBody>
      </p:sp>
      <p:sp>
        <p:nvSpPr>
          <p:cNvPr id="162" name="Google Shape;162;p11"/>
          <p:cNvSpPr txBox="1"/>
          <p:nvPr/>
        </p:nvSpPr>
        <p:spPr>
          <a:xfrm>
            <a:off x="457200" y="4544568"/>
            <a:ext cx="7772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0" i="1" lang="en-US" sz="1000" u="none" cap="none" strike="noStrike">
                <a:solidFill>
                  <a:schemeClr val="dk2"/>
                </a:solidFill>
                <a:latin typeface="Calibri"/>
                <a:ea typeface="Calibri"/>
                <a:cs typeface="Calibri"/>
                <a:sym typeface="Calibri"/>
              </a:rPr>
              <a:t>Emerging: stage-wise diagnostics such as TRIAGE (arXiv, 2026) attach metrics to each GraphRAG pipeline stage.</a:t>
            </a:r>
            <a:endParaRPr b="0" i="0" sz="1000" u="none" cap="none" strike="noStrike">
              <a:solidFill>
                <a:schemeClr val="dk1"/>
              </a:solidFill>
              <a:latin typeface="Calibri"/>
              <a:ea typeface="Calibri"/>
              <a:cs typeface="Calibri"/>
              <a:sym typeface="Calibri"/>
            </a:endParaRPr>
          </a:p>
        </p:txBody>
      </p:sp>
      <p:sp>
        <p:nvSpPr>
          <p:cNvPr id="163" name="Google Shape;163;p11"/>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2"/>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In production, graph checks and answer evaluation run on separate tracks</a:t>
            </a:r>
            <a:endParaRPr sz="2100"/>
          </a:p>
        </p:txBody>
      </p:sp>
      <p:sp>
        <p:nvSpPr>
          <p:cNvPr id="170" name="Google Shape;170;p12"/>
          <p:cNvSpPr/>
          <p:nvPr/>
        </p:nvSpPr>
        <p:spPr>
          <a:xfrm>
            <a:off x="457200" y="1188720"/>
            <a:ext cx="4023360" cy="1325880"/>
          </a:xfrm>
          <a:prstGeom prst="roundRect">
            <a:avLst>
              <a:gd fmla="val 5517"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2"/>
          <p:cNvSpPr txBox="1"/>
          <p:nvPr/>
        </p:nvSpPr>
        <p:spPr>
          <a:xfrm>
            <a:off x="640080" y="1298448"/>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Graphs built from structured systems</a:t>
            </a:r>
            <a:endParaRPr b="0" i="0" sz="1400" u="none" cap="none" strike="noStrike">
              <a:solidFill>
                <a:schemeClr val="dk1"/>
              </a:solidFill>
              <a:latin typeface="Calibri"/>
              <a:ea typeface="Calibri"/>
              <a:cs typeface="Calibri"/>
              <a:sym typeface="Calibri"/>
            </a:endParaRPr>
          </a:p>
        </p:txBody>
      </p:sp>
      <p:sp>
        <p:nvSpPr>
          <p:cNvPr id="172" name="Google Shape;172;p12"/>
          <p:cNvSpPr txBox="1"/>
          <p:nvPr/>
        </p:nvSpPr>
        <p:spPr>
          <a:xfrm>
            <a:off x="640080" y="1600200"/>
            <a:ext cx="36576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0" i="0" lang="en-US" sz="1300" u="none" cap="none" strike="noStrike">
                <a:solidFill>
                  <a:schemeClr val="dk2"/>
                </a:solidFill>
                <a:latin typeface="Calibri"/>
                <a:ea typeface="Calibri"/>
                <a:cs typeface="Calibri"/>
                <a:sym typeface="Calibri"/>
              </a:rPr>
              <a:t>Warehouses and operational systems. Answers are deterministic, and there is a system of record to reconcile against.</a:t>
            </a:r>
            <a:endParaRPr b="0" i="0" sz="1300" u="none" cap="none" strike="noStrike">
              <a:solidFill>
                <a:schemeClr val="dk1"/>
              </a:solidFill>
              <a:latin typeface="Calibri"/>
              <a:ea typeface="Calibri"/>
              <a:cs typeface="Calibri"/>
              <a:sym typeface="Calibri"/>
            </a:endParaRPr>
          </a:p>
        </p:txBody>
      </p:sp>
      <p:sp>
        <p:nvSpPr>
          <p:cNvPr id="173" name="Google Shape;173;p12"/>
          <p:cNvSpPr/>
          <p:nvPr/>
        </p:nvSpPr>
        <p:spPr>
          <a:xfrm>
            <a:off x="4663440" y="1188720"/>
            <a:ext cx="4023360" cy="1325880"/>
          </a:xfrm>
          <a:prstGeom prst="roundRect">
            <a:avLst>
              <a:gd fmla="val 5517"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2"/>
          <p:cNvSpPr txBox="1"/>
          <p:nvPr/>
        </p:nvSpPr>
        <p:spPr>
          <a:xfrm>
            <a:off x="4846320" y="1298448"/>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Graphs extracted by LLMs from documents</a:t>
            </a:r>
            <a:endParaRPr b="0" i="0" sz="1400" u="none" cap="none" strike="noStrike">
              <a:solidFill>
                <a:schemeClr val="dk1"/>
              </a:solidFill>
              <a:latin typeface="Calibri"/>
              <a:ea typeface="Calibri"/>
              <a:cs typeface="Calibri"/>
              <a:sym typeface="Calibri"/>
            </a:endParaRPr>
          </a:p>
        </p:txBody>
      </p:sp>
      <p:sp>
        <p:nvSpPr>
          <p:cNvPr id="175" name="Google Shape;175;p12"/>
          <p:cNvSpPr txBox="1"/>
          <p:nvPr/>
        </p:nvSpPr>
        <p:spPr>
          <a:xfrm>
            <a:off x="4846320" y="1600200"/>
            <a:ext cx="36576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0" i="0" lang="en-US" sz="1300" u="none" cap="none" strike="noStrike">
                <a:solidFill>
                  <a:schemeClr val="dk2"/>
                </a:solidFill>
                <a:latin typeface="Calibri"/>
                <a:ea typeface="Calibri"/>
                <a:cs typeface="Calibri"/>
                <a:sym typeface="Calibri"/>
              </a:rPr>
              <a:t>Tools such as Microsoft GraphRAG. Extracted relationships need validation, and there is no system of record to compare with.</a:t>
            </a:r>
            <a:endParaRPr b="0" i="0" sz="1300" u="none" cap="none" strike="noStrike">
              <a:solidFill>
                <a:schemeClr val="dk1"/>
              </a:solidFill>
              <a:latin typeface="Calibri"/>
              <a:ea typeface="Calibri"/>
              <a:cs typeface="Calibri"/>
              <a:sym typeface="Calibri"/>
            </a:endParaRPr>
          </a:p>
        </p:txBody>
      </p:sp>
      <p:sp>
        <p:nvSpPr>
          <p:cNvPr id="176" name="Google Shape;176;p12"/>
          <p:cNvSpPr/>
          <p:nvPr/>
        </p:nvSpPr>
        <p:spPr>
          <a:xfrm>
            <a:off x="457200" y="2788920"/>
            <a:ext cx="1463040" cy="777240"/>
          </a:xfrm>
          <a:prstGeom prst="roundRect">
            <a:avLst>
              <a:gd fmla="val 9412"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2"/>
          <p:cNvSpPr txBox="1"/>
          <p:nvPr/>
        </p:nvSpPr>
        <p:spPr>
          <a:xfrm>
            <a:off x="548640" y="2788920"/>
            <a:ext cx="128016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Build</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load or extract</a:t>
            </a:r>
            <a:endParaRPr b="0" i="0" sz="1400" u="none" cap="none" strike="noStrike">
              <a:solidFill>
                <a:schemeClr val="dk1"/>
              </a:solidFill>
              <a:latin typeface="Calibri"/>
              <a:ea typeface="Calibri"/>
              <a:cs typeface="Calibri"/>
              <a:sym typeface="Calibri"/>
            </a:endParaRPr>
          </a:p>
        </p:txBody>
      </p:sp>
      <p:cxnSp>
        <p:nvCxnSpPr>
          <p:cNvPr id="178" name="Google Shape;178;p12"/>
          <p:cNvCxnSpPr/>
          <p:nvPr/>
        </p:nvCxnSpPr>
        <p:spPr>
          <a:xfrm>
            <a:off x="1938528" y="3177540"/>
            <a:ext cx="201168" cy="0"/>
          </a:xfrm>
          <a:prstGeom prst="straightConnector1">
            <a:avLst/>
          </a:prstGeom>
          <a:noFill/>
          <a:ln cap="flat" cmpd="sng" w="15875">
            <a:solidFill>
              <a:schemeClr val="accent5"/>
            </a:solidFill>
            <a:prstDash val="solid"/>
            <a:round/>
            <a:headEnd len="sm" w="sm" type="none"/>
            <a:tailEnd len="med" w="med" type="triangle"/>
          </a:ln>
        </p:spPr>
      </p:cxnSp>
      <p:sp>
        <p:nvSpPr>
          <p:cNvPr id="179" name="Google Shape;179;p12"/>
          <p:cNvSpPr/>
          <p:nvPr/>
        </p:nvSpPr>
        <p:spPr>
          <a:xfrm>
            <a:off x="2157984" y="2788920"/>
            <a:ext cx="1463040" cy="777240"/>
          </a:xfrm>
          <a:prstGeom prst="roundRect">
            <a:avLst>
              <a:gd fmla="val 9412"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2"/>
          <p:cNvSpPr txBox="1"/>
          <p:nvPr/>
        </p:nvSpPr>
        <p:spPr>
          <a:xfrm>
            <a:off x="2249424" y="2788920"/>
            <a:ext cx="128016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Resolve</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entities, an ongoing job</a:t>
            </a:r>
            <a:endParaRPr b="0" i="0" sz="1400" u="none" cap="none" strike="noStrike">
              <a:solidFill>
                <a:schemeClr val="dk1"/>
              </a:solidFill>
              <a:latin typeface="Calibri"/>
              <a:ea typeface="Calibri"/>
              <a:cs typeface="Calibri"/>
              <a:sym typeface="Calibri"/>
            </a:endParaRPr>
          </a:p>
        </p:txBody>
      </p:sp>
      <p:cxnSp>
        <p:nvCxnSpPr>
          <p:cNvPr id="181" name="Google Shape;181;p12"/>
          <p:cNvCxnSpPr/>
          <p:nvPr/>
        </p:nvCxnSpPr>
        <p:spPr>
          <a:xfrm>
            <a:off x="3639312" y="3177540"/>
            <a:ext cx="201168" cy="0"/>
          </a:xfrm>
          <a:prstGeom prst="straightConnector1">
            <a:avLst/>
          </a:prstGeom>
          <a:noFill/>
          <a:ln cap="flat" cmpd="sng" w="15875">
            <a:solidFill>
              <a:schemeClr val="accent5"/>
            </a:solidFill>
            <a:prstDash val="solid"/>
            <a:round/>
            <a:headEnd len="sm" w="sm" type="none"/>
            <a:tailEnd len="med" w="med" type="triangle"/>
          </a:ln>
        </p:spPr>
      </p:cxnSp>
      <p:sp>
        <p:nvSpPr>
          <p:cNvPr id="182" name="Google Shape;182;p12"/>
          <p:cNvSpPr/>
          <p:nvPr/>
        </p:nvSpPr>
        <p:spPr>
          <a:xfrm>
            <a:off x="3858768" y="2788920"/>
            <a:ext cx="1463040" cy="777240"/>
          </a:xfrm>
          <a:prstGeom prst="roundRect">
            <a:avLst>
              <a:gd fmla="val 9412"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2"/>
          <p:cNvSpPr txBox="1"/>
          <p:nvPr/>
        </p:nvSpPr>
        <p:spPr>
          <a:xfrm>
            <a:off x="3950208" y="2788920"/>
            <a:ext cx="128016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Validate</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schema gate</a:t>
            </a:r>
            <a:endParaRPr b="0" i="0" sz="1400" u="none" cap="none" strike="noStrike">
              <a:solidFill>
                <a:schemeClr val="dk1"/>
              </a:solidFill>
              <a:latin typeface="Calibri"/>
              <a:ea typeface="Calibri"/>
              <a:cs typeface="Calibri"/>
              <a:sym typeface="Calibri"/>
            </a:endParaRPr>
          </a:p>
        </p:txBody>
      </p:sp>
      <p:cxnSp>
        <p:nvCxnSpPr>
          <p:cNvPr id="184" name="Google Shape;184;p12"/>
          <p:cNvCxnSpPr/>
          <p:nvPr/>
        </p:nvCxnSpPr>
        <p:spPr>
          <a:xfrm>
            <a:off x="5340096" y="3177540"/>
            <a:ext cx="201168" cy="0"/>
          </a:xfrm>
          <a:prstGeom prst="straightConnector1">
            <a:avLst/>
          </a:prstGeom>
          <a:noFill/>
          <a:ln cap="flat" cmpd="sng" w="15875">
            <a:solidFill>
              <a:schemeClr val="accent5"/>
            </a:solidFill>
            <a:prstDash val="solid"/>
            <a:round/>
            <a:headEnd len="sm" w="sm" type="none"/>
            <a:tailEnd len="med" w="med" type="triangle"/>
          </a:ln>
        </p:spPr>
      </p:cxnSp>
      <p:sp>
        <p:nvSpPr>
          <p:cNvPr id="185" name="Google Shape;185;p12"/>
          <p:cNvSpPr/>
          <p:nvPr/>
        </p:nvSpPr>
        <p:spPr>
          <a:xfrm>
            <a:off x="5559552" y="2788920"/>
            <a:ext cx="1463040" cy="777240"/>
          </a:xfrm>
          <a:prstGeom prst="roundRect">
            <a:avLst>
              <a:gd fmla="val 9412" name="adj"/>
            </a:avLst>
          </a:prstGeom>
          <a:solidFill>
            <a:schemeClr val="accent6"/>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2"/>
          <p:cNvSpPr txBox="1"/>
          <p:nvPr/>
        </p:nvSpPr>
        <p:spPr>
          <a:xfrm>
            <a:off x="5650992" y="2788920"/>
            <a:ext cx="128016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Evaluate</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golden sets in CI</a:t>
            </a:r>
            <a:endParaRPr b="0" i="0" sz="1400" u="none" cap="none" strike="noStrike">
              <a:solidFill>
                <a:schemeClr val="dk1"/>
              </a:solidFill>
              <a:latin typeface="Calibri"/>
              <a:ea typeface="Calibri"/>
              <a:cs typeface="Calibri"/>
              <a:sym typeface="Calibri"/>
            </a:endParaRPr>
          </a:p>
        </p:txBody>
      </p:sp>
      <p:cxnSp>
        <p:nvCxnSpPr>
          <p:cNvPr id="187" name="Google Shape;187;p12"/>
          <p:cNvCxnSpPr/>
          <p:nvPr/>
        </p:nvCxnSpPr>
        <p:spPr>
          <a:xfrm>
            <a:off x="7040880" y="3177540"/>
            <a:ext cx="201168" cy="0"/>
          </a:xfrm>
          <a:prstGeom prst="straightConnector1">
            <a:avLst/>
          </a:prstGeom>
          <a:noFill/>
          <a:ln cap="flat" cmpd="sng" w="15875">
            <a:solidFill>
              <a:schemeClr val="accent5"/>
            </a:solidFill>
            <a:prstDash val="solid"/>
            <a:round/>
            <a:headEnd len="sm" w="sm" type="none"/>
            <a:tailEnd len="med" w="med" type="triangle"/>
          </a:ln>
        </p:spPr>
      </p:cxnSp>
      <p:sp>
        <p:nvSpPr>
          <p:cNvPr id="188" name="Google Shape;188;p12"/>
          <p:cNvSpPr/>
          <p:nvPr/>
        </p:nvSpPr>
        <p:spPr>
          <a:xfrm>
            <a:off x="7260336" y="2788920"/>
            <a:ext cx="1463040" cy="777240"/>
          </a:xfrm>
          <a:prstGeom prst="roundRect">
            <a:avLst>
              <a:gd fmla="val 9412" name="adj"/>
            </a:avLst>
          </a:prstGeom>
          <a:solidFill>
            <a:schemeClr val="accent6"/>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2"/>
          <p:cNvSpPr txBox="1"/>
          <p:nvPr/>
        </p:nvSpPr>
        <p:spPr>
          <a:xfrm>
            <a:off x="7351776" y="2788920"/>
            <a:ext cx="128016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Serve</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GraphRAG app</a:t>
            </a:r>
            <a:endParaRPr b="0" i="0" sz="1400" u="none" cap="none" strike="noStrike">
              <a:solidFill>
                <a:schemeClr val="dk1"/>
              </a:solidFill>
              <a:latin typeface="Calibri"/>
              <a:ea typeface="Calibri"/>
              <a:cs typeface="Calibri"/>
              <a:sym typeface="Calibri"/>
            </a:endParaRPr>
          </a:p>
        </p:txBody>
      </p:sp>
      <p:sp>
        <p:nvSpPr>
          <p:cNvPr id="190" name="Google Shape;190;p12"/>
          <p:cNvSpPr txBox="1"/>
          <p:nvPr/>
        </p:nvSpPr>
        <p:spPr>
          <a:xfrm>
            <a:off x="457200" y="3657600"/>
            <a:ext cx="484632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Graph and data engineering</a:t>
            </a:r>
            <a:endParaRPr b="0" i="0" sz="1200" u="none" cap="none" strike="noStrike">
              <a:solidFill>
                <a:schemeClr val="dk1"/>
              </a:solidFill>
              <a:latin typeface="Calibri"/>
              <a:ea typeface="Calibri"/>
              <a:cs typeface="Calibri"/>
              <a:sym typeface="Calibri"/>
            </a:endParaRPr>
          </a:p>
        </p:txBody>
      </p:sp>
      <p:sp>
        <p:nvSpPr>
          <p:cNvPr id="191" name="Google Shape;191;p12"/>
          <p:cNvSpPr txBox="1"/>
          <p:nvPr/>
        </p:nvSpPr>
        <p:spPr>
          <a:xfrm>
            <a:off x="5559552" y="3657600"/>
            <a:ext cx="3127248"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3"/>
              </a:buClr>
              <a:buSzPts val="1200"/>
              <a:buFont typeface="Calibri"/>
              <a:buNone/>
            </a:pPr>
            <a:r>
              <a:rPr b="1" i="0" lang="en-US" sz="1200" u="none" cap="none" strike="noStrike">
                <a:solidFill>
                  <a:schemeClr val="accent3"/>
                </a:solidFill>
                <a:latin typeface="Calibri"/>
                <a:ea typeface="Calibri"/>
                <a:cs typeface="Calibri"/>
                <a:sym typeface="Calibri"/>
              </a:rPr>
              <a:t>AI team</a:t>
            </a:r>
            <a:endParaRPr b="0" i="0" sz="1200" u="none" cap="none" strike="noStrike">
              <a:solidFill>
                <a:schemeClr val="dk1"/>
              </a:solidFill>
              <a:latin typeface="Calibri"/>
              <a:ea typeface="Calibri"/>
              <a:cs typeface="Calibri"/>
              <a:sym typeface="Calibri"/>
            </a:endParaRPr>
          </a:p>
        </p:txBody>
      </p:sp>
      <p:sp>
        <p:nvSpPr>
          <p:cNvPr id="192" name="Google Shape;192;p12"/>
          <p:cNvSpPr txBox="1"/>
          <p:nvPr/>
        </p:nvSpPr>
        <p:spPr>
          <a:xfrm>
            <a:off x="457200" y="4005072"/>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Practitioners describe entity resolution as the bottleneck and an ongoing capability, with schema-conformance checks gating releases.</a:t>
            </a:r>
            <a:endParaRPr b="0" i="0" sz="1300" u="none" cap="none" strike="noStrike">
              <a:solidFill>
                <a:schemeClr val="dk1"/>
              </a:solidFill>
              <a:latin typeface="Calibri"/>
              <a:ea typeface="Calibri"/>
              <a:cs typeface="Calibri"/>
              <a:sym typeface="Calibri"/>
            </a:endParaRPr>
          </a:p>
        </p:txBody>
      </p:sp>
      <p:sp>
        <p:nvSpPr>
          <p:cNvPr id="193" name="Google Shape;193;p12"/>
          <p:cNvSpPr txBox="1"/>
          <p:nvPr/>
        </p:nvSpPr>
        <p:spPr>
          <a:xfrm>
            <a:off x="457200" y="4572000"/>
            <a:ext cx="7772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0" i="1" lang="en-US" sz="1000" u="none" cap="none" strike="noStrike">
                <a:solidFill>
                  <a:schemeClr val="dk2"/>
                </a:solidFill>
                <a:latin typeface="Calibri"/>
                <a:ea typeface="Calibri"/>
                <a:cs typeface="Calibri"/>
                <a:sym typeface="Calibri"/>
              </a:rPr>
              <a:t>Sources: Atlan, Knowledge Graph Construction for AI (2026); practitioner reports.</a:t>
            </a:r>
            <a:endParaRPr b="0" i="0" sz="1000" u="none" cap="none" strike="noStrike">
              <a:solidFill>
                <a:schemeClr val="dk1"/>
              </a:solidFill>
              <a:latin typeface="Calibri"/>
              <a:ea typeface="Calibri"/>
              <a:cs typeface="Calibri"/>
              <a:sym typeface="Calibri"/>
            </a:endParaRPr>
          </a:p>
        </p:txBody>
      </p:sp>
      <p:sp>
        <p:nvSpPr>
          <p:cNvPr id="194" name="Google Shape;194;p12"/>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3"/>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One approach among several: it links the two tracks rather than replacing either</a:t>
            </a:r>
            <a:endParaRPr sz="2100"/>
          </a:p>
        </p:txBody>
      </p:sp>
      <p:sp>
        <p:nvSpPr>
          <p:cNvPr id="201" name="Google Shape;201;p13"/>
          <p:cNvSpPr/>
          <p:nvPr/>
        </p:nvSpPr>
        <p:spPr>
          <a:xfrm>
            <a:off x="457200" y="1234440"/>
            <a:ext cx="2514600" cy="2148840"/>
          </a:xfrm>
          <a:prstGeom prst="roundRect">
            <a:avLst>
              <a:gd fmla="val 3404"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3"/>
          <p:cNvSpPr txBox="1"/>
          <p:nvPr/>
        </p:nvSpPr>
        <p:spPr>
          <a:xfrm>
            <a:off x="640080" y="1371600"/>
            <a:ext cx="21488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Graph-side checks</a:t>
            </a:r>
            <a:endParaRPr b="0" i="0" sz="1500" u="none" cap="none" strike="noStrike">
              <a:solidFill>
                <a:schemeClr val="dk1"/>
              </a:solidFill>
              <a:latin typeface="Calibri"/>
              <a:ea typeface="Calibri"/>
              <a:cs typeface="Calibri"/>
              <a:sym typeface="Calibri"/>
            </a:endParaRPr>
          </a:p>
        </p:txBody>
      </p:sp>
      <p:sp>
        <p:nvSpPr>
          <p:cNvPr id="203" name="Google Shape;203;p13"/>
          <p:cNvSpPr txBox="1"/>
          <p:nvPr/>
        </p:nvSpPr>
        <p:spPr>
          <a:xfrm>
            <a:off x="640080" y="1691640"/>
            <a:ext cx="21488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50"/>
              <a:buFont typeface="Calibri"/>
              <a:buNone/>
            </a:pPr>
            <a:r>
              <a:rPr b="0" i="0" lang="en-US" sz="1150" u="none" cap="none" strike="noStrike">
                <a:solidFill>
                  <a:schemeClr val="dk2"/>
                </a:solidFill>
                <a:latin typeface="Calibri"/>
                <a:ea typeface="Calibri"/>
                <a:cs typeface="Calibri"/>
                <a:sym typeface="Calibri"/>
              </a:rPr>
              <a:t>Constraint validation, quality metrics, accuracy audits</a:t>
            </a:r>
            <a:endParaRPr b="0" i="0" sz="1150" u="none" cap="none" strike="noStrike">
              <a:solidFill>
                <a:schemeClr val="dk1"/>
              </a:solidFill>
              <a:latin typeface="Calibri"/>
              <a:ea typeface="Calibri"/>
              <a:cs typeface="Calibri"/>
              <a:sym typeface="Calibri"/>
            </a:endParaRPr>
          </a:p>
        </p:txBody>
      </p:sp>
      <p:sp>
        <p:nvSpPr>
          <p:cNvPr id="204" name="Google Shape;204;p13"/>
          <p:cNvSpPr txBox="1"/>
          <p:nvPr/>
        </p:nvSpPr>
        <p:spPr>
          <a:xfrm>
            <a:off x="640080" y="2377440"/>
            <a:ext cx="2148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Find defects. Can't say which ones cost answers.</a:t>
            </a:r>
            <a:endParaRPr b="0" i="0" sz="1400" u="none" cap="none" strike="noStrike">
              <a:solidFill>
                <a:schemeClr val="dk1"/>
              </a:solidFill>
              <a:latin typeface="Calibri"/>
              <a:ea typeface="Calibri"/>
              <a:cs typeface="Calibri"/>
              <a:sym typeface="Calibri"/>
            </a:endParaRPr>
          </a:p>
        </p:txBody>
      </p:sp>
      <p:sp>
        <p:nvSpPr>
          <p:cNvPr id="205" name="Google Shape;205;p13"/>
          <p:cNvSpPr/>
          <p:nvPr/>
        </p:nvSpPr>
        <p:spPr>
          <a:xfrm>
            <a:off x="6172200" y="1234440"/>
            <a:ext cx="2514600" cy="2148840"/>
          </a:xfrm>
          <a:prstGeom prst="roundRect">
            <a:avLst>
              <a:gd fmla="val 3404"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3"/>
          <p:cNvSpPr txBox="1"/>
          <p:nvPr/>
        </p:nvSpPr>
        <p:spPr>
          <a:xfrm>
            <a:off x="6355080" y="1371600"/>
            <a:ext cx="21488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Answer-side evaluation</a:t>
            </a:r>
            <a:endParaRPr b="0" i="0" sz="1500" u="none" cap="none" strike="noStrike">
              <a:solidFill>
                <a:schemeClr val="dk1"/>
              </a:solidFill>
              <a:latin typeface="Calibri"/>
              <a:ea typeface="Calibri"/>
              <a:cs typeface="Calibri"/>
              <a:sym typeface="Calibri"/>
            </a:endParaRPr>
          </a:p>
        </p:txBody>
      </p:sp>
      <p:sp>
        <p:nvSpPr>
          <p:cNvPr id="207" name="Google Shape;207;p13"/>
          <p:cNvSpPr txBox="1"/>
          <p:nvPr/>
        </p:nvSpPr>
        <p:spPr>
          <a:xfrm>
            <a:off x="6355080" y="1691640"/>
            <a:ext cx="21488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50"/>
              <a:buFont typeface="Calibri"/>
              <a:buNone/>
            </a:pPr>
            <a:r>
              <a:rPr b="0" i="0" lang="en-US" sz="1150" u="none" cap="none" strike="noStrike">
                <a:solidFill>
                  <a:schemeClr val="dk2"/>
                </a:solidFill>
                <a:latin typeface="Calibri"/>
                <a:ea typeface="Calibri"/>
                <a:cs typeface="Calibri"/>
                <a:sym typeface="Calibri"/>
              </a:rPr>
              <a:t>Golden sets, LLM judges, text-to-query benchmarks</a:t>
            </a:r>
            <a:endParaRPr b="0" i="0" sz="1150" u="none" cap="none" strike="noStrike">
              <a:solidFill>
                <a:schemeClr val="dk1"/>
              </a:solidFill>
              <a:latin typeface="Calibri"/>
              <a:ea typeface="Calibri"/>
              <a:cs typeface="Calibri"/>
              <a:sym typeface="Calibri"/>
            </a:endParaRPr>
          </a:p>
        </p:txBody>
      </p:sp>
      <p:sp>
        <p:nvSpPr>
          <p:cNvPr id="208" name="Google Shape;208;p13"/>
          <p:cNvSpPr txBox="1"/>
          <p:nvPr/>
        </p:nvSpPr>
        <p:spPr>
          <a:xfrm>
            <a:off x="6355080" y="2377440"/>
            <a:ext cx="2148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Find wrong answers. Can't say why.</a:t>
            </a:r>
            <a:endParaRPr b="0" i="0" sz="1400" u="none" cap="none" strike="noStrike">
              <a:solidFill>
                <a:schemeClr val="dk1"/>
              </a:solidFill>
              <a:latin typeface="Calibri"/>
              <a:ea typeface="Calibri"/>
              <a:cs typeface="Calibri"/>
              <a:sym typeface="Calibri"/>
            </a:endParaRPr>
          </a:p>
        </p:txBody>
      </p:sp>
      <p:sp>
        <p:nvSpPr>
          <p:cNvPr id="209" name="Google Shape;209;p13"/>
          <p:cNvSpPr/>
          <p:nvPr/>
        </p:nvSpPr>
        <p:spPr>
          <a:xfrm>
            <a:off x="3337560" y="1097280"/>
            <a:ext cx="2468880" cy="2423160"/>
          </a:xfrm>
          <a:prstGeom prst="roundRect">
            <a:avLst>
              <a:gd fmla="val 3019" name="adj"/>
            </a:avLst>
          </a:prstGeom>
          <a:solidFill>
            <a:schemeClr val="accent6"/>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3"/>
          <p:cNvSpPr txBox="1"/>
          <p:nvPr/>
        </p:nvSpPr>
        <p:spPr>
          <a:xfrm>
            <a:off x="3520440" y="1261872"/>
            <a:ext cx="21031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Impact attribution</a:t>
            </a:r>
            <a:endParaRPr b="0" i="0" sz="1600" u="none" cap="none" strike="noStrike">
              <a:solidFill>
                <a:schemeClr val="dk1"/>
              </a:solidFill>
              <a:latin typeface="Calibri"/>
              <a:ea typeface="Calibri"/>
              <a:cs typeface="Calibri"/>
              <a:sym typeface="Calibri"/>
            </a:endParaRPr>
          </a:p>
        </p:txBody>
      </p:sp>
      <p:sp>
        <p:nvSpPr>
          <p:cNvPr id="211" name="Google Shape;211;p13"/>
          <p:cNvSpPr txBox="1"/>
          <p:nvPr/>
        </p:nvSpPr>
        <p:spPr>
          <a:xfrm>
            <a:off x="3520440" y="1572768"/>
            <a:ext cx="21031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This talk</a:t>
            </a:r>
            <a:endParaRPr b="0" i="0" sz="1200" u="none" cap="none" strike="noStrike">
              <a:solidFill>
                <a:schemeClr val="dk1"/>
              </a:solidFill>
              <a:latin typeface="Calibri"/>
              <a:ea typeface="Calibri"/>
              <a:cs typeface="Calibri"/>
              <a:sym typeface="Calibri"/>
            </a:endParaRPr>
          </a:p>
        </p:txBody>
      </p:sp>
      <p:sp>
        <p:nvSpPr>
          <p:cNvPr id="212" name="Google Shape;212;p13"/>
          <p:cNvSpPr txBox="1"/>
          <p:nvPr/>
        </p:nvSpPr>
        <p:spPr>
          <a:xfrm>
            <a:off x="3520440" y="1920240"/>
            <a:ext cx="210312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Attributes each wrong answer to a defect class and ranks the fix that recovers the most.</a:t>
            </a:r>
            <a:endParaRPr b="0" i="0" sz="1400" u="none" cap="none" strike="noStrike">
              <a:solidFill>
                <a:schemeClr val="dk1"/>
              </a:solidFill>
              <a:latin typeface="Calibri"/>
              <a:ea typeface="Calibri"/>
              <a:cs typeface="Calibri"/>
              <a:sym typeface="Calibri"/>
            </a:endParaRPr>
          </a:p>
        </p:txBody>
      </p:sp>
      <p:cxnSp>
        <p:nvCxnSpPr>
          <p:cNvPr id="213" name="Google Shape;213;p13"/>
          <p:cNvCxnSpPr/>
          <p:nvPr/>
        </p:nvCxnSpPr>
        <p:spPr>
          <a:xfrm>
            <a:off x="2990088" y="2308860"/>
            <a:ext cx="329184" cy="0"/>
          </a:xfrm>
          <a:prstGeom prst="straightConnector1">
            <a:avLst/>
          </a:prstGeom>
          <a:noFill/>
          <a:ln cap="flat" cmpd="sng" w="15875">
            <a:solidFill>
              <a:schemeClr val="accent5"/>
            </a:solidFill>
            <a:prstDash val="solid"/>
            <a:round/>
            <a:headEnd len="sm" w="sm" type="none"/>
            <a:tailEnd len="med" w="med" type="triangle"/>
          </a:ln>
        </p:spPr>
      </p:cxnSp>
      <p:cxnSp>
        <p:nvCxnSpPr>
          <p:cNvPr id="214" name="Google Shape;214;p13"/>
          <p:cNvCxnSpPr/>
          <p:nvPr/>
        </p:nvCxnSpPr>
        <p:spPr>
          <a:xfrm rot="10800000">
            <a:off x="5824728" y="2308860"/>
            <a:ext cx="329184" cy="0"/>
          </a:xfrm>
          <a:prstGeom prst="straightConnector1">
            <a:avLst/>
          </a:prstGeom>
          <a:noFill/>
          <a:ln cap="flat" cmpd="sng" w="15875">
            <a:solidFill>
              <a:schemeClr val="accent5"/>
            </a:solidFill>
            <a:prstDash val="solid"/>
            <a:round/>
            <a:headEnd len="sm" w="sm" type="none"/>
            <a:tailEnd len="med" w="med" type="triangle"/>
          </a:ln>
        </p:spPr>
      </p:cxnSp>
      <p:sp>
        <p:nvSpPr>
          <p:cNvPr id="215" name="Google Shape;215;p13"/>
          <p:cNvSpPr/>
          <p:nvPr/>
        </p:nvSpPr>
        <p:spPr>
          <a:xfrm>
            <a:off x="457200" y="3749040"/>
            <a:ext cx="8229600" cy="777240"/>
          </a:xfrm>
          <a:prstGeom prst="roundRect">
            <a:avLst>
              <a:gd fmla="val 9412"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3"/>
          <p:cNvSpPr txBox="1"/>
          <p:nvPr/>
        </p:nvSpPr>
        <p:spPr>
          <a:xfrm>
            <a:off x="685800" y="3749040"/>
            <a:ext cx="7772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400"/>
              <a:buFont typeface="Calibri"/>
              <a:buNone/>
            </a:pPr>
            <a:r>
              <a:rPr b="1" i="0" lang="en-US" sz="1400" u="none" cap="none" strike="noStrike">
                <a:solidFill>
                  <a:schemeClr val="accent2"/>
                </a:solidFill>
                <a:latin typeface="Calibri"/>
                <a:ea typeface="Calibri"/>
                <a:cs typeface="Calibri"/>
                <a:sym typeface="Calibri"/>
              </a:rPr>
              <a:t>Use it when </a:t>
            </a:r>
            <a:r>
              <a:rPr b="0" i="0" lang="en-US" sz="1400" u="none" cap="none" strike="noStrike">
                <a:solidFill>
                  <a:schemeClr val="dk1"/>
                </a:solidFill>
                <a:latin typeface="Calibri"/>
                <a:ea typeface="Calibri"/>
                <a:cs typeface="Calibri"/>
                <a:sym typeface="Calibri"/>
              </a:rPr>
              <a:t>you have a golden set with exact answers, constraint checks you can run per query, and more than one fix competing for budget.</a:t>
            </a:r>
            <a:endParaRPr b="0" i="0" sz="1400" u="none" cap="none" strike="noStrike">
              <a:solidFill>
                <a:schemeClr val="dk1"/>
              </a:solidFill>
              <a:latin typeface="Calibri"/>
              <a:ea typeface="Calibri"/>
              <a:cs typeface="Calibri"/>
              <a:sym typeface="Calibri"/>
            </a:endParaRPr>
          </a:p>
        </p:txBody>
      </p:sp>
      <p:sp>
        <p:nvSpPr>
          <p:cNvPr id="217" name="Google Shape;217;p13"/>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4"/>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The loop: measure, diagnose, fix and re-measure until the benchmark</a:t>
            </a:r>
            <a:endParaRPr sz="2100"/>
          </a:p>
        </p:txBody>
      </p:sp>
      <p:sp>
        <p:nvSpPr>
          <p:cNvPr id="224" name="Google Shape;224;p14"/>
          <p:cNvSpPr/>
          <p:nvPr/>
        </p:nvSpPr>
        <p:spPr>
          <a:xfrm>
            <a:off x="457200" y="1325880"/>
            <a:ext cx="1783080" cy="1600200"/>
          </a:xfrm>
          <a:prstGeom prst="roundRect">
            <a:avLst>
              <a:gd fmla="val 4571"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4"/>
          <p:cNvSpPr/>
          <p:nvPr/>
        </p:nvSpPr>
        <p:spPr>
          <a:xfrm>
            <a:off x="594360" y="1463040"/>
            <a:ext cx="347472" cy="347472"/>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4"/>
          <p:cNvSpPr txBox="1"/>
          <p:nvPr/>
        </p:nvSpPr>
        <p:spPr>
          <a:xfrm>
            <a:off x="594360" y="146304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27" name="Google Shape;227;p14"/>
          <p:cNvSpPr txBox="1"/>
          <p:nvPr/>
        </p:nvSpPr>
        <p:spPr>
          <a:xfrm>
            <a:off x="1024128" y="1463040"/>
            <a:ext cx="1143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Measure</a:t>
            </a:r>
            <a:endParaRPr b="0" i="0" sz="1500" u="none" cap="none" strike="noStrike">
              <a:solidFill>
                <a:schemeClr val="dk1"/>
              </a:solidFill>
              <a:latin typeface="Calibri"/>
              <a:ea typeface="Calibri"/>
              <a:cs typeface="Calibri"/>
              <a:sym typeface="Calibri"/>
            </a:endParaRPr>
          </a:p>
        </p:txBody>
      </p:sp>
      <p:sp>
        <p:nvSpPr>
          <p:cNvPr id="228" name="Google Shape;228;p14"/>
          <p:cNvSpPr txBox="1"/>
          <p:nvPr/>
        </p:nvSpPr>
        <p:spPr>
          <a:xfrm>
            <a:off x="594360" y="1901952"/>
            <a:ext cx="150876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Score every golden question by exact match, on held-out questions</a:t>
            </a:r>
            <a:endParaRPr b="0" i="0" sz="1200" u="none" cap="none" strike="noStrike">
              <a:solidFill>
                <a:schemeClr val="dk1"/>
              </a:solidFill>
              <a:latin typeface="Calibri"/>
              <a:ea typeface="Calibri"/>
              <a:cs typeface="Calibri"/>
              <a:sym typeface="Calibri"/>
            </a:endParaRPr>
          </a:p>
        </p:txBody>
      </p:sp>
      <p:cxnSp>
        <p:nvCxnSpPr>
          <p:cNvPr id="229" name="Google Shape;229;p14"/>
          <p:cNvCxnSpPr/>
          <p:nvPr/>
        </p:nvCxnSpPr>
        <p:spPr>
          <a:xfrm>
            <a:off x="2258568" y="2125980"/>
            <a:ext cx="329184" cy="0"/>
          </a:xfrm>
          <a:prstGeom prst="straightConnector1">
            <a:avLst/>
          </a:prstGeom>
          <a:noFill/>
          <a:ln cap="flat" cmpd="sng" w="15875">
            <a:solidFill>
              <a:schemeClr val="accent5"/>
            </a:solidFill>
            <a:prstDash val="solid"/>
            <a:round/>
            <a:headEnd len="sm" w="sm" type="none"/>
            <a:tailEnd len="med" w="med" type="triangle"/>
          </a:ln>
        </p:spPr>
      </p:cxnSp>
      <p:sp>
        <p:nvSpPr>
          <p:cNvPr id="230" name="Google Shape;230;p14"/>
          <p:cNvSpPr/>
          <p:nvPr/>
        </p:nvSpPr>
        <p:spPr>
          <a:xfrm>
            <a:off x="2606040" y="1325880"/>
            <a:ext cx="1783080" cy="1600200"/>
          </a:xfrm>
          <a:prstGeom prst="roundRect">
            <a:avLst>
              <a:gd fmla="val 4571" name="adj"/>
            </a:avLst>
          </a:prstGeom>
          <a:solidFill>
            <a:schemeClr val="lt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4"/>
          <p:cNvSpPr/>
          <p:nvPr/>
        </p:nvSpPr>
        <p:spPr>
          <a:xfrm>
            <a:off x="2743200" y="1463040"/>
            <a:ext cx="347472" cy="347472"/>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4"/>
          <p:cNvSpPr txBox="1"/>
          <p:nvPr/>
        </p:nvSpPr>
        <p:spPr>
          <a:xfrm>
            <a:off x="2743200" y="146304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33" name="Google Shape;233;p14"/>
          <p:cNvSpPr txBox="1"/>
          <p:nvPr/>
        </p:nvSpPr>
        <p:spPr>
          <a:xfrm>
            <a:off x="3172968" y="1463040"/>
            <a:ext cx="1143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Diagnose</a:t>
            </a:r>
            <a:endParaRPr b="0" i="0" sz="1500" u="none" cap="none" strike="noStrike">
              <a:solidFill>
                <a:schemeClr val="dk1"/>
              </a:solidFill>
              <a:latin typeface="Calibri"/>
              <a:ea typeface="Calibri"/>
              <a:cs typeface="Calibri"/>
              <a:sym typeface="Calibri"/>
            </a:endParaRPr>
          </a:p>
        </p:txBody>
      </p:sp>
      <p:sp>
        <p:nvSpPr>
          <p:cNvPr id="234" name="Google Shape;234;p14"/>
          <p:cNvSpPr txBox="1"/>
          <p:nvPr/>
        </p:nvSpPr>
        <p:spPr>
          <a:xfrm>
            <a:off x="2743200" y="1901952"/>
            <a:ext cx="150876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Count defects on each query's path, then attribute failures with SHAP</a:t>
            </a:r>
            <a:endParaRPr b="0" i="0" sz="1200" u="none" cap="none" strike="noStrike">
              <a:solidFill>
                <a:schemeClr val="dk1"/>
              </a:solidFill>
              <a:latin typeface="Calibri"/>
              <a:ea typeface="Calibri"/>
              <a:cs typeface="Calibri"/>
              <a:sym typeface="Calibri"/>
            </a:endParaRPr>
          </a:p>
        </p:txBody>
      </p:sp>
      <p:cxnSp>
        <p:nvCxnSpPr>
          <p:cNvPr id="235" name="Google Shape;235;p14"/>
          <p:cNvCxnSpPr/>
          <p:nvPr/>
        </p:nvCxnSpPr>
        <p:spPr>
          <a:xfrm>
            <a:off x="4407408" y="2125980"/>
            <a:ext cx="329184" cy="0"/>
          </a:xfrm>
          <a:prstGeom prst="straightConnector1">
            <a:avLst/>
          </a:prstGeom>
          <a:noFill/>
          <a:ln cap="flat" cmpd="sng" w="15875">
            <a:solidFill>
              <a:schemeClr val="accent5"/>
            </a:solidFill>
            <a:prstDash val="solid"/>
            <a:round/>
            <a:headEnd len="sm" w="sm" type="none"/>
            <a:tailEnd len="med" w="med" type="triangle"/>
          </a:ln>
        </p:spPr>
      </p:cxnSp>
      <p:sp>
        <p:nvSpPr>
          <p:cNvPr id="236" name="Google Shape;236;p14"/>
          <p:cNvSpPr/>
          <p:nvPr/>
        </p:nvSpPr>
        <p:spPr>
          <a:xfrm>
            <a:off x="4754880" y="1325880"/>
            <a:ext cx="1783080" cy="1600200"/>
          </a:xfrm>
          <a:prstGeom prst="roundRect">
            <a:avLst>
              <a:gd fmla="val 4571"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4"/>
          <p:cNvSpPr/>
          <p:nvPr/>
        </p:nvSpPr>
        <p:spPr>
          <a:xfrm>
            <a:off x="4892040" y="1463040"/>
            <a:ext cx="347472" cy="347472"/>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4"/>
          <p:cNvSpPr txBox="1"/>
          <p:nvPr/>
        </p:nvSpPr>
        <p:spPr>
          <a:xfrm>
            <a:off x="4892040" y="146304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39" name="Google Shape;239;p14"/>
          <p:cNvSpPr txBox="1"/>
          <p:nvPr/>
        </p:nvSpPr>
        <p:spPr>
          <a:xfrm>
            <a:off x="5321808" y="1463040"/>
            <a:ext cx="1143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Fix</a:t>
            </a:r>
            <a:endParaRPr b="0" i="0" sz="1500" u="none" cap="none" strike="noStrike">
              <a:solidFill>
                <a:schemeClr val="dk1"/>
              </a:solidFill>
              <a:latin typeface="Calibri"/>
              <a:ea typeface="Calibri"/>
              <a:cs typeface="Calibri"/>
              <a:sym typeface="Calibri"/>
            </a:endParaRPr>
          </a:p>
        </p:txBody>
      </p:sp>
      <p:sp>
        <p:nvSpPr>
          <p:cNvPr id="240" name="Google Shape;240;p14"/>
          <p:cNvSpPr txBox="1"/>
          <p:nvPr/>
        </p:nvSpPr>
        <p:spPr>
          <a:xfrm>
            <a:off x="4892040" y="1901952"/>
            <a:ext cx="150876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Apply the top-ranked data-quality control, using only schema and source</a:t>
            </a:r>
            <a:endParaRPr b="0" i="0" sz="1200" u="none" cap="none" strike="noStrike">
              <a:solidFill>
                <a:schemeClr val="dk1"/>
              </a:solidFill>
              <a:latin typeface="Calibri"/>
              <a:ea typeface="Calibri"/>
              <a:cs typeface="Calibri"/>
              <a:sym typeface="Calibri"/>
            </a:endParaRPr>
          </a:p>
        </p:txBody>
      </p:sp>
      <p:cxnSp>
        <p:nvCxnSpPr>
          <p:cNvPr id="241" name="Google Shape;241;p14"/>
          <p:cNvCxnSpPr/>
          <p:nvPr/>
        </p:nvCxnSpPr>
        <p:spPr>
          <a:xfrm>
            <a:off x="6556248" y="2125980"/>
            <a:ext cx="329184" cy="0"/>
          </a:xfrm>
          <a:prstGeom prst="straightConnector1">
            <a:avLst/>
          </a:prstGeom>
          <a:noFill/>
          <a:ln cap="flat" cmpd="sng" w="15875">
            <a:solidFill>
              <a:schemeClr val="accent5"/>
            </a:solidFill>
            <a:prstDash val="solid"/>
            <a:round/>
            <a:headEnd len="sm" w="sm" type="none"/>
            <a:tailEnd len="med" w="med" type="triangle"/>
          </a:ln>
        </p:spPr>
      </p:cxnSp>
      <p:sp>
        <p:nvSpPr>
          <p:cNvPr id="242" name="Google Shape;242;p14"/>
          <p:cNvSpPr/>
          <p:nvPr/>
        </p:nvSpPr>
        <p:spPr>
          <a:xfrm>
            <a:off x="6903720" y="1325880"/>
            <a:ext cx="1783080" cy="1600200"/>
          </a:xfrm>
          <a:prstGeom prst="roundRect">
            <a:avLst>
              <a:gd fmla="val 4571"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p:nvPr/>
        </p:nvSpPr>
        <p:spPr>
          <a:xfrm>
            <a:off x="7040880" y="1463040"/>
            <a:ext cx="347472" cy="347472"/>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4"/>
          <p:cNvSpPr txBox="1"/>
          <p:nvPr/>
        </p:nvSpPr>
        <p:spPr>
          <a:xfrm>
            <a:off x="7040880" y="146304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45" name="Google Shape;245;p14"/>
          <p:cNvSpPr txBox="1"/>
          <p:nvPr/>
        </p:nvSpPr>
        <p:spPr>
          <a:xfrm>
            <a:off x="7470648" y="1463040"/>
            <a:ext cx="1143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Re-measure</a:t>
            </a:r>
            <a:endParaRPr b="0" i="0" sz="1500" u="none" cap="none" strike="noStrike">
              <a:solidFill>
                <a:schemeClr val="dk1"/>
              </a:solidFill>
              <a:latin typeface="Calibri"/>
              <a:ea typeface="Calibri"/>
              <a:cs typeface="Calibri"/>
              <a:sym typeface="Calibri"/>
            </a:endParaRPr>
          </a:p>
        </p:txBody>
      </p:sp>
      <p:sp>
        <p:nvSpPr>
          <p:cNvPr id="246" name="Google Shape;246;p14"/>
          <p:cNvSpPr txBox="1"/>
          <p:nvPr/>
        </p:nvSpPr>
        <p:spPr>
          <a:xfrm>
            <a:off x="7040880" y="1901952"/>
            <a:ext cx="150876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Re-score, and stop at the benchmark or when no control is left</a:t>
            </a:r>
            <a:endParaRPr b="0" i="0" sz="1200" u="none" cap="none" strike="noStrike">
              <a:solidFill>
                <a:schemeClr val="dk1"/>
              </a:solidFill>
              <a:latin typeface="Calibri"/>
              <a:ea typeface="Calibri"/>
              <a:cs typeface="Calibri"/>
              <a:sym typeface="Calibri"/>
            </a:endParaRPr>
          </a:p>
        </p:txBody>
      </p:sp>
      <p:cxnSp>
        <p:nvCxnSpPr>
          <p:cNvPr id="247" name="Google Shape;247;p14"/>
          <p:cNvCxnSpPr/>
          <p:nvPr/>
        </p:nvCxnSpPr>
        <p:spPr>
          <a:xfrm>
            <a:off x="7749540" y="2944368"/>
            <a:ext cx="0" cy="347472"/>
          </a:xfrm>
          <a:prstGeom prst="straightConnector1">
            <a:avLst/>
          </a:prstGeom>
          <a:noFill/>
          <a:ln cap="flat" cmpd="sng" w="15875">
            <a:solidFill>
              <a:schemeClr val="accent5"/>
            </a:solidFill>
            <a:prstDash val="solid"/>
            <a:round/>
            <a:headEnd len="sm" w="sm" type="none"/>
            <a:tailEnd len="sm" w="sm" type="none"/>
          </a:ln>
        </p:spPr>
      </p:cxnSp>
      <p:cxnSp>
        <p:nvCxnSpPr>
          <p:cNvPr id="248" name="Google Shape;248;p14"/>
          <p:cNvCxnSpPr/>
          <p:nvPr/>
        </p:nvCxnSpPr>
        <p:spPr>
          <a:xfrm>
            <a:off x="1348740" y="3291840"/>
            <a:ext cx="6400800" cy="0"/>
          </a:xfrm>
          <a:prstGeom prst="straightConnector1">
            <a:avLst/>
          </a:prstGeom>
          <a:noFill/>
          <a:ln cap="flat" cmpd="sng" w="15875">
            <a:solidFill>
              <a:schemeClr val="accent5"/>
            </a:solidFill>
            <a:prstDash val="solid"/>
            <a:round/>
            <a:headEnd len="sm" w="sm" type="none"/>
            <a:tailEnd len="sm" w="sm" type="none"/>
          </a:ln>
        </p:spPr>
      </p:cxnSp>
      <p:cxnSp>
        <p:nvCxnSpPr>
          <p:cNvPr id="249" name="Google Shape;249;p14"/>
          <p:cNvCxnSpPr/>
          <p:nvPr/>
        </p:nvCxnSpPr>
        <p:spPr>
          <a:xfrm rot="10800000">
            <a:off x="1348740" y="2944368"/>
            <a:ext cx="0" cy="347472"/>
          </a:xfrm>
          <a:prstGeom prst="straightConnector1">
            <a:avLst/>
          </a:prstGeom>
          <a:noFill/>
          <a:ln cap="flat" cmpd="sng" w="15875">
            <a:solidFill>
              <a:schemeClr val="accent5"/>
            </a:solidFill>
            <a:prstDash val="solid"/>
            <a:round/>
            <a:headEnd len="sm" w="sm" type="none"/>
            <a:tailEnd len="med" w="med" type="triangle"/>
          </a:ln>
        </p:spPr>
      </p:cxnSp>
      <p:sp>
        <p:nvSpPr>
          <p:cNvPr id="250" name="Google Shape;250;p14"/>
          <p:cNvSpPr txBox="1"/>
          <p:nvPr/>
        </p:nvSpPr>
        <p:spPr>
          <a:xfrm>
            <a:off x="2743200" y="3346704"/>
            <a:ext cx="3657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0" i="1" lang="en-US" sz="1100" u="none" cap="none" strike="noStrike">
                <a:solidFill>
                  <a:schemeClr val="dk2"/>
                </a:solidFill>
                <a:latin typeface="Calibri"/>
                <a:ea typeface="Calibri"/>
                <a:cs typeface="Calibri"/>
                <a:sym typeface="Calibri"/>
              </a:rPr>
              <a:t>repeat until held-out accuracy reaches the benchmark</a:t>
            </a:r>
            <a:endParaRPr b="0" i="0" sz="1100" u="none" cap="none" strike="noStrike">
              <a:solidFill>
                <a:schemeClr val="dk1"/>
              </a:solidFill>
              <a:latin typeface="Calibri"/>
              <a:ea typeface="Calibri"/>
              <a:cs typeface="Calibri"/>
              <a:sym typeface="Calibri"/>
            </a:endParaRPr>
          </a:p>
        </p:txBody>
      </p:sp>
      <p:sp>
        <p:nvSpPr>
          <p:cNvPr id="251" name="Google Shape;251;p14"/>
          <p:cNvSpPr/>
          <p:nvPr/>
        </p:nvSpPr>
        <p:spPr>
          <a:xfrm>
            <a:off x="457200" y="3794760"/>
            <a:ext cx="8229600" cy="731520"/>
          </a:xfrm>
          <a:prstGeom prst="roundRect">
            <a:avLst>
              <a:gd fmla="val 10000"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4"/>
          <p:cNvSpPr txBox="1"/>
          <p:nvPr/>
        </p:nvSpPr>
        <p:spPr>
          <a:xfrm>
            <a:off x="685800" y="3794760"/>
            <a:ext cx="77724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Each round costs one fix. The ranking decides the order, and every fix is re-scored against the golden set before it counts.</a:t>
            </a:r>
            <a:endParaRPr b="0" i="0" sz="1400" u="none" cap="none" strike="noStrike">
              <a:solidFill>
                <a:schemeClr val="dk1"/>
              </a:solidFill>
              <a:latin typeface="Calibri"/>
              <a:ea typeface="Calibri"/>
              <a:cs typeface="Calibri"/>
              <a:sym typeface="Calibri"/>
            </a:endParaRPr>
          </a:p>
        </p:txBody>
      </p:sp>
      <p:sp>
        <p:nvSpPr>
          <p:cNvPr id="253" name="Google Shape;253;p14"/>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5"/>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Setup step 1: a golden set scored by entity IDs, not text</a:t>
            </a:r>
            <a:endParaRPr sz="2100"/>
          </a:p>
        </p:txBody>
      </p:sp>
      <p:sp>
        <p:nvSpPr>
          <p:cNvPr id="260" name="Google Shape;260;p15"/>
          <p:cNvSpPr/>
          <p:nvPr/>
        </p:nvSpPr>
        <p:spPr>
          <a:xfrm>
            <a:off x="457200" y="1325880"/>
            <a:ext cx="1783080" cy="2011680"/>
          </a:xfrm>
          <a:prstGeom prst="roundRect">
            <a:avLst>
              <a:gd fmla="val 4103"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
          <p:cNvSpPr txBox="1"/>
          <p:nvPr/>
        </p:nvSpPr>
        <p:spPr>
          <a:xfrm>
            <a:off x="594360" y="1417320"/>
            <a:ext cx="15544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Golden record</a:t>
            </a:r>
            <a:endParaRPr b="0" i="0" sz="1300" u="none" cap="none" strike="noStrike">
              <a:solidFill>
                <a:schemeClr val="dk1"/>
              </a:solidFill>
              <a:latin typeface="Calibri"/>
              <a:ea typeface="Calibri"/>
              <a:cs typeface="Calibri"/>
              <a:sym typeface="Calibri"/>
            </a:endParaRPr>
          </a:p>
        </p:txBody>
      </p:sp>
      <p:sp>
        <p:nvSpPr>
          <p:cNvPr id="262" name="Google Shape;262;p15"/>
          <p:cNvSpPr txBox="1"/>
          <p:nvPr/>
        </p:nvSpPr>
        <p:spPr>
          <a:xfrm>
            <a:off x="594360" y="1737360"/>
            <a:ext cx="155448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Question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100"/>
              <a:buFont typeface="Calibri"/>
              <a:buNone/>
            </a:pPr>
            <a:r>
              <a:rPr b="0" i="0" lang="en-US" sz="1100" u="none" cap="none" strike="noStrike">
                <a:solidFill>
                  <a:schemeClr val="dk2"/>
                </a:solidFill>
                <a:latin typeface="Calibri"/>
                <a:ea typeface="Calibri"/>
                <a:cs typeface="Calibri"/>
                <a:sym typeface="Calibri"/>
              </a:rPr>
              <a:t>Which entities are linked to X?</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Query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100"/>
              <a:buFont typeface="Calibri"/>
              <a:buNone/>
            </a:pPr>
            <a:r>
              <a:rPr b="0" i="0" lang="en-US" sz="1100" u="none" cap="none" strike="noStrike">
                <a:solidFill>
                  <a:schemeClr val="dk2"/>
                </a:solidFill>
                <a:latin typeface="Calibri"/>
                <a:ea typeface="Calibri"/>
                <a:cs typeface="Calibri"/>
                <a:sym typeface="Calibri"/>
              </a:rPr>
              <a:t>fixed, with parameters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Expected answer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100"/>
              <a:buFont typeface="Calibri"/>
              <a:buNone/>
            </a:pPr>
            <a:r>
              <a:rPr b="0" i="0" lang="en-US" sz="1100" u="none" cap="none" strike="noStrike">
                <a:solidFill>
                  <a:schemeClr val="dk2"/>
                </a:solidFill>
                <a:latin typeface="Calibri"/>
                <a:ea typeface="Calibri"/>
                <a:cs typeface="Calibri"/>
                <a:sym typeface="Calibri"/>
              </a:rPr>
              <a:t>a set of IDs</a:t>
            </a:r>
            <a:endParaRPr b="0" i="0" sz="1100" u="none" cap="none" strike="noStrike">
              <a:solidFill>
                <a:schemeClr val="dk1"/>
              </a:solidFill>
              <a:latin typeface="Calibri"/>
              <a:ea typeface="Calibri"/>
              <a:cs typeface="Calibri"/>
              <a:sym typeface="Calibri"/>
            </a:endParaRPr>
          </a:p>
        </p:txBody>
      </p:sp>
      <p:sp>
        <p:nvSpPr>
          <p:cNvPr id="263" name="Google Shape;263;p15"/>
          <p:cNvSpPr/>
          <p:nvPr/>
        </p:nvSpPr>
        <p:spPr>
          <a:xfrm>
            <a:off x="2606040" y="1188720"/>
            <a:ext cx="1920240" cy="731520"/>
          </a:xfrm>
          <a:prstGeom prst="roundRect">
            <a:avLst>
              <a:gd fmla="val 10000"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txBox="1"/>
          <p:nvPr/>
        </p:nvSpPr>
        <p:spPr>
          <a:xfrm>
            <a:off x="2697480" y="1188720"/>
            <a:ext cx="173736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Run the query on the graph under test</a:t>
            </a:r>
            <a:endParaRPr b="0" i="0" sz="1200" u="none" cap="none" strike="noStrike">
              <a:solidFill>
                <a:schemeClr val="dk1"/>
              </a:solidFill>
              <a:latin typeface="Calibri"/>
              <a:ea typeface="Calibri"/>
              <a:cs typeface="Calibri"/>
              <a:sym typeface="Calibri"/>
            </a:endParaRPr>
          </a:p>
        </p:txBody>
      </p:sp>
      <p:sp>
        <p:nvSpPr>
          <p:cNvPr id="265" name="Google Shape;265;p15"/>
          <p:cNvSpPr/>
          <p:nvPr/>
        </p:nvSpPr>
        <p:spPr>
          <a:xfrm>
            <a:off x="2606040" y="2743200"/>
            <a:ext cx="1920240" cy="731520"/>
          </a:xfrm>
          <a:prstGeom prst="roundRect">
            <a:avLst>
              <a:gd fmla="val 10000"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5"/>
          <p:cNvSpPr txBox="1"/>
          <p:nvPr/>
        </p:nvSpPr>
        <p:spPr>
          <a:xfrm>
            <a:off x="2697480" y="2743200"/>
            <a:ext cx="173736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Compute the answer from the source system</a:t>
            </a:r>
            <a:endParaRPr b="0" i="0" sz="1200" u="none" cap="none" strike="noStrike">
              <a:solidFill>
                <a:schemeClr val="dk1"/>
              </a:solidFill>
              <a:latin typeface="Calibri"/>
              <a:ea typeface="Calibri"/>
              <a:cs typeface="Calibri"/>
              <a:sym typeface="Calibri"/>
            </a:endParaRPr>
          </a:p>
        </p:txBody>
      </p:sp>
      <p:sp>
        <p:nvSpPr>
          <p:cNvPr id="267" name="Google Shape;267;p15"/>
          <p:cNvSpPr/>
          <p:nvPr/>
        </p:nvSpPr>
        <p:spPr>
          <a:xfrm>
            <a:off x="4846320" y="1188720"/>
            <a:ext cx="1691640" cy="731520"/>
          </a:xfrm>
          <a:prstGeom prst="roundRect">
            <a:avLst>
              <a:gd fmla="val 10000"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5"/>
          <p:cNvSpPr txBox="1"/>
          <p:nvPr/>
        </p:nvSpPr>
        <p:spPr>
          <a:xfrm>
            <a:off x="4846320" y="1188720"/>
            <a:ext cx="16916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1" i="0" lang="en-US" sz="1200" u="none" cap="none" strike="noStrike">
                <a:solidFill>
                  <a:schemeClr val="dk1"/>
                </a:solidFill>
                <a:latin typeface="Calibri"/>
                <a:ea typeface="Calibri"/>
                <a:cs typeface="Calibri"/>
                <a:sym typeface="Calibri"/>
              </a:rPr>
              <a:t>Returned IDs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accent2"/>
              </a:buClr>
              <a:buSzPts val="1200"/>
              <a:buFont typeface="Calibri"/>
              <a:buNone/>
            </a:pPr>
            <a:r>
              <a:rPr b="0" i="0" lang="en-US" sz="1200" u="none" cap="none" strike="noStrike">
                <a:solidFill>
                  <a:schemeClr val="accent2"/>
                </a:solidFill>
                <a:latin typeface="Calibri"/>
                <a:ea typeface="Calibri"/>
                <a:cs typeface="Calibri"/>
                <a:sym typeface="Calibri"/>
              </a:rPr>
              <a:t>{E-104, E-221, E-387}</a:t>
            </a:r>
            <a:endParaRPr b="0" i="0" sz="1200" u="none" cap="none" strike="noStrike">
              <a:solidFill>
                <a:schemeClr val="dk1"/>
              </a:solidFill>
              <a:latin typeface="Calibri"/>
              <a:ea typeface="Calibri"/>
              <a:cs typeface="Calibri"/>
              <a:sym typeface="Calibri"/>
            </a:endParaRPr>
          </a:p>
        </p:txBody>
      </p:sp>
      <p:sp>
        <p:nvSpPr>
          <p:cNvPr id="269" name="Google Shape;269;p15"/>
          <p:cNvSpPr/>
          <p:nvPr/>
        </p:nvSpPr>
        <p:spPr>
          <a:xfrm>
            <a:off x="4846320" y="2743200"/>
            <a:ext cx="1691640" cy="731520"/>
          </a:xfrm>
          <a:prstGeom prst="roundRect">
            <a:avLst>
              <a:gd fmla="val 10000"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txBox="1"/>
          <p:nvPr/>
        </p:nvSpPr>
        <p:spPr>
          <a:xfrm>
            <a:off x="4846320" y="2743200"/>
            <a:ext cx="16916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1" i="0" lang="en-US" sz="1200" u="none" cap="none" strike="noStrike">
                <a:solidFill>
                  <a:schemeClr val="dk1"/>
                </a:solidFill>
                <a:latin typeface="Calibri"/>
                <a:ea typeface="Calibri"/>
                <a:cs typeface="Calibri"/>
                <a:sym typeface="Calibri"/>
              </a:rPr>
              <a:t>Expected IDs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accent2"/>
              </a:buClr>
              <a:buSzPts val="1200"/>
              <a:buFont typeface="Calibri"/>
              <a:buNone/>
            </a:pPr>
            <a:r>
              <a:rPr b="0" i="0" lang="en-US" sz="1200" u="none" cap="none" strike="noStrike">
                <a:solidFill>
                  <a:schemeClr val="accent2"/>
                </a:solidFill>
                <a:latin typeface="Calibri"/>
                <a:ea typeface="Calibri"/>
                <a:cs typeface="Calibri"/>
                <a:sym typeface="Calibri"/>
              </a:rPr>
              <a:t>{E-104, E-221, E-387}</a:t>
            </a:r>
            <a:endParaRPr b="0" i="0" sz="1200" u="none" cap="none" strike="noStrike">
              <a:solidFill>
                <a:schemeClr val="dk1"/>
              </a:solidFill>
              <a:latin typeface="Calibri"/>
              <a:ea typeface="Calibri"/>
              <a:cs typeface="Calibri"/>
              <a:sym typeface="Calibri"/>
            </a:endParaRPr>
          </a:p>
        </p:txBody>
      </p:sp>
      <p:sp>
        <p:nvSpPr>
          <p:cNvPr id="271" name="Google Shape;271;p15"/>
          <p:cNvSpPr/>
          <p:nvPr/>
        </p:nvSpPr>
        <p:spPr>
          <a:xfrm>
            <a:off x="6858000" y="1947672"/>
            <a:ext cx="1828800" cy="777240"/>
          </a:xfrm>
          <a:prstGeom prst="roundRect">
            <a:avLst>
              <a:gd fmla="val 9412" name="adj"/>
            </a:avLst>
          </a:prstGeom>
          <a:solidFill>
            <a:schemeClr val="lt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
          <p:cNvSpPr txBox="1"/>
          <p:nvPr/>
        </p:nvSpPr>
        <p:spPr>
          <a:xfrm>
            <a:off x="6858000" y="1947672"/>
            <a:ext cx="18288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300"/>
              <a:buFont typeface="Calibri"/>
              <a:buNone/>
            </a:pPr>
            <a:r>
              <a:rPr b="1" i="0" lang="en-US" sz="1300" u="none" cap="none" strike="noStrike">
                <a:solidFill>
                  <a:schemeClr val="dk1"/>
                </a:solidFill>
                <a:latin typeface="Calibri"/>
                <a:ea typeface="Calibri"/>
                <a:cs typeface="Calibri"/>
                <a:sym typeface="Calibri"/>
              </a:rPr>
              <a:t>Compare as sets</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1300"/>
              <a:buFont typeface="Calibri"/>
              <a:buNone/>
            </a:pPr>
            <a:r>
              <a:rPr b="0" i="0" lang="en-US" sz="1300" u="none" cap="none" strike="noStrike">
                <a:solidFill>
                  <a:schemeClr val="dk2"/>
                </a:solidFill>
                <a:latin typeface="Calibri"/>
                <a:ea typeface="Calibri"/>
                <a:cs typeface="Calibri"/>
                <a:sym typeface="Calibri"/>
              </a:rPr>
              <a:t>order ignored</a:t>
            </a:r>
            <a:endParaRPr b="0" i="0" sz="1300" u="none" cap="none" strike="noStrike">
              <a:solidFill>
                <a:schemeClr val="dk1"/>
              </a:solidFill>
              <a:latin typeface="Calibri"/>
              <a:ea typeface="Calibri"/>
              <a:cs typeface="Calibri"/>
              <a:sym typeface="Calibri"/>
            </a:endParaRPr>
          </a:p>
        </p:txBody>
      </p:sp>
      <p:cxnSp>
        <p:nvCxnSpPr>
          <p:cNvPr id="273" name="Google Shape;273;p15"/>
          <p:cNvCxnSpPr/>
          <p:nvPr/>
        </p:nvCxnSpPr>
        <p:spPr>
          <a:xfrm>
            <a:off x="2240280" y="1965960"/>
            <a:ext cx="182880" cy="0"/>
          </a:xfrm>
          <a:prstGeom prst="straightConnector1">
            <a:avLst/>
          </a:prstGeom>
          <a:noFill/>
          <a:ln cap="flat" cmpd="sng" w="15875">
            <a:solidFill>
              <a:schemeClr val="accent5"/>
            </a:solidFill>
            <a:prstDash val="solid"/>
            <a:round/>
            <a:headEnd len="sm" w="sm" type="none"/>
            <a:tailEnd len="sm" w="sm" type="none"/>
          </a:ln>
        </p:spPr>
      </p:cxnSp>
      <p:cxnSp>
        <p:nvCxnSpPr>
          <p:cNvPr id="274" name="Google Shape;274;p15"/>
          <p:cNvCxnSpPr/>
          <p:nvPr/>
        </p:nvCxnSpPr>
        <p:spPr>
          <a:xfrm>
            <a:off x="2423160" y="1554480"/>
            <a:ext cx="0" cy="411480"/>
          </a:xfrm>
          <a:prstGeom prst="straightConnector1">
            <a:avLst/>
          </a:prstGeom>
          <a:noFill/>
          <a:ln cap="flat" cmpd="sng" w="15875">
            <a:solidFill>
              <a:schemeClr val="accent5"/>
            </a:solidFill>
            <a:prstDash val="solid"/>
            <a:round/>
            <a:headEnd len="sm" w="sm" type="none"/>
            <a:tailEnd len="sm" w="sm" type="none"/>
          </a:ln>
        </p:spPr>
      </p:cxnSp>
      <p:cxnSp>
        <p:nvCxnSpPr>
          <p:cNvPr id="275" name="Google Shape;275;p15"/>
          <p:cNvCxnSpPr/>
          <p:nvPr/>
        </p:nvCxnSpPr>
        <p:spPr>
          <a:xfrm>
            <a:off x="2423160" y="1554480"/>
            <a:ext cx="182880" cy="0"/>
          </a:xfrm>
          <a:prstGeom prst="straightConnector1">
            <a:avLst/>
          </a:prstGeom>
          <a:noFill/>
          <a:ln cap="flat" cmpd="sng" w="15875">
            <a:solidFill>
              <a:schemeClr val="accent5"/>
            </a:solidFill>
            <a:prstDash val="solid"/>
            <a:round/>
            <a:headEnd len="sm" w="sm" type="none"/>
            <a:tailEnd len="med" w="med" type="triangle"/>
          </a:ln>
        </p:spPr>
      </p:cxnSp>
      <p:cxnSp>
        <p:nvCxnSpPr>
          <p:cNvPr id="276" name="Google Shape;276;p15"/>
          <p:cNvCxnSpPr/>
          <p:nvPr/>
        </p:nvCxnSpPr>
        <p:spPr>
          <a:xfrm>
            <a:off x="2240280" y="2697480"/>
            <a:ext cx="182880" cy="0"/>
          </a:xfrm>
          <a:prstGeom prst="straightConnector1">
            <a:avLst/>
          </a:prstGeom>
          <a:noFill/>
          <a:ln cap="flat" cmpd="sng" w="15875">
            <a:solidFill>
              <a:schemeClr val="accent5"/>
            </a:solidFill>
            <a:prstDash val="solid"/>
            <a:round/>
            <a:headEnd len="sm" w="sm" type="none"/>
            <a:tailEnd len="sm" w="sm" type="none"/>
          </a:ln>
        </p:spPr>
      </p:cxnSp>
      <p:cxnSp>
        <p:nvCxnSpPr>
          <p:cNvPr id="277" name="Google Shape;277;p15"/>
          <p:cNvCxnSpPr/>
          <p:nvPr/>
        </p:nvCxnSpPr>
        <p:spPr>
          <a:xfrm>
            <a:off x="2423160" y="2697480"/>
            <a:ext cx="0" cy="411480"/>
          </a:xfrm>
          <a:prstGeom prst="straightConnector1">
            <a:avLst/>
          </a:prstGeom>
          <a:noFill/>
          <a:ln cap="flat" cmpd="sng" w="15875">
            <a:solidFill>
              <a:schemeClr val="accent5"/>
            </a:solidFill>
            <a:prstDash val="solid"/>
            <a:round/>
            <a:headEnd len="sm" w="sm" type="none"/>
            <a:tailEnd len="sm" w="sm" type="none"/>
          </a:ln>
        </p:spPr>
      </p:cxnSp>
      <p:cxnSp>
        <p:nvCxnSpPr>
          <p:cNvPr id="278" name="Google Shape;278;p15"/>
          <p:cNvCxnSpPr/>
          <p:nvPr/>
        </p:nvCxnSpPr>
        <p:spPr>
          <a:xfrm>
            <a:off x="2423160" y="3108960"/>
            <a:ext cx="182880" cy="0"/>
          </a:xfrm>
          <a:prstGeom prst="straightConnector1">
            <a:avLst/>
          </a:prstGeom>
          <a:noFill/>
          <a:ln cap="flat" cmpd="sng" w="15875">
            <a:solidFill>
              <a:schemeClr val="accent5"/>
            </a:solidFill>
            <a:prstDash val="solid"/>
            <a:round/>
            <a:headEnd len="sm" w="sm" type="none"/>
            <a:tailEnd len="med" w="med" type="triangle"/>
          </a:ln>
        </p:spPr>
      </p:cxnSp>
      <p:cxnSp>
        <p:nvCxnSpPr>
          <p:cNvPr id="279" name="Google Shape;279;p15"/>
          <p:cNvCxnSpPr/>
          <p:nvPr/>
        </p:nvCxnSpPr>
        <p:spPr>
          <a:xfrm>
            <a:off x="4526280" y="1554480"/>
            <a:ext cx="320040" cy="0"/>
          </a:xfrm>
          <a:prstGeom prst="straightConnector1">
            <a:avLst/>
          </a:prstGeom>
          <a:noFill/>
          <a:ln cap="flat" cmpd="sng" w="15875">
            <a:solidFill>
              <a:schemeClr val="accent5"/>
            </a:solidFill>
            <a:prstDash val="solid"/>
            <a:round/>
            <a:headEnd len="sm" w="sm" type="none"/>
            <a:tailEnd len="med" w="med" type="triangle"/>
          </a:ln>
        </p:spPr>
      </p:cxnSp>
      <p:cxnSp>
        <p:nvCxnSpPr>
          <p:cNvPr id="280" name="Google Shape;280;p15"/>
          <p:cNvCxnSpPr/>
          <p:nvPr/>
        </p:nvCxnSpPr>
        <p:spPr>
          <a:xfrm>
            <a:off x="4526280" y="3108960"/>
            <a:ext cx="320040" cy="0"/>
          </a:xfrm>
          <a:prstGeom prst="straightConnector1">
            <a:avLst/>
          </a:prstGeom>
          <a:noFill/>
          <a:ln cap="flat" cmpd="sng" w="15875">
            <a:solidFill>
              <a:schemeClr val="accent5"/>
            </a:solidFill>
            <a:prstDash val="solid"/>
            <a:round/>
            <a:headEnd len="sm" w="sm" type="none"/>
            <a:tailEnd len="med" w="med" type="triangle"/>
          </a:ln>
        </p:spPr>
      </p:cxnSp>
      <p:cxnSp>
        <p:nvCxnSpPr>
          <p:cNvPr id="281" name="Google Shape;281;p15"/>
          <p:cNvCxnSpPr/>
          <p:nvPr/>
        </p:nvCxnSpPr>
        <p:spPr>
          <a:xfrm>
            <a:off x="6537960" y="1554480"/>
            <a:ext cx="155448" cy="0"/>
          </a:xfrm>
          <a:prstGeom prst="straightConnector1">
            <a:avLst/>
          </a:prstGeom>
          <a:noFill/>
          <a:ln cap="flat" cmpd="sng" w="15875">
            <a:solidFill>
              <a:schemeClr val="accent5"/>
            </a:solidFill>
            <a:prstDash val="solid"/>
            <a:round/>
            <a:headEnd len="sm" w="sm" type="none"/>
            <a:tailEnd len="sm" w="sm" type="none"/>
          </a:ln>
        </p:spPr>
      </p:cxnSp>
      <p:cxnSp>
        <p:nvCxnSpPr>
          <p:cNvPr id="282" name="Google Shape;282;p15"/>
          <p:cNvCxnSpPr/>
          <p:nvPr/>
        </p:nvCxnSpPr>
        <p:spPr>
          <a:xfrm>
            <a:off x="6693408" y="1554480"/>
            <a:ext cx="0" cy="603504"/>
          </a:xfrm>
          <a:prstGeom prst="straightConnector1">
            <a:avLst/>
          </a:prstGeom>
          <a:noFill/>
          <a:ln cap="flat" cmpd="sng" w="15875">
            <a:solidFill>
              <a:schemeClr val="accent5"/>
            </a:solidFill>
            <a:prstDash val="solid"/>
            <a:round/>
            <a:headEnd len="sm" w="sm" type="none"/>
            <a:tailEnd len="sm" w="sm" type="none"/>
          </a:ln>
        </p:spPr>
      </p:cxnSp>
      <p:cxnSp>
        <p:nvCxnSpPr>
          <p:cNvPr id="283" name="Google Shape;283;p15"/>
          <p:cNvCxnSpPr/>
          <p:nvPr/>
        </p:nvCxnSpPr>
        <p:spPr>
          <a:xfrm>
            <a:off x="6693408" y="2157984"/>
            <a:ext cx="164592" cy="0"/>
          </a:xfrm>
          <a:prstGeom prst="straightConnector1">
            <a:avLst/>
          </a:prstGeom>
          <a:noFill/>
          <a:ln cap="flat" cmpd="sng" w="15875">
            <a:solidFill>
              <a:schemeClr val="accent5"/>
            </a:solidFill>
            <a:prstDash val="solid"/>
            <a:round/>
            <a:headEnd len="sm" w="sm" type="none"/>
            <a:tailEnd len="med" w="med" type="triangle"/>
          </a:ln>
        </p:spPr>
      </p:cxnSp>
      <p:cxnSp>
        <p:nvCxnSpPr>
          <p:cNvPr id="284" name="Google Shape;284;p15"/>
          <p:cNvCxnSpPr/>
          <p:nvPr/>
        </p:nvCxnSpPr>
        <p:spPr>
          <a:xfrm>
            <a:off x="6537960" y="3108960"/>
            <a:ext cx="155448" cy="0"/>
          </a:xfrm>
          <a:prstGeom prst="straightConnector1">
            <a:avLst/>
          </a:prstGeom>
          <a:noFill/>
          <a:ln cap="flat" cmpd="sng" w="15875">
            <a:solidFill>
              <a:schemeClr val="accent5"/>
            </a:solidFill>
            <a:prstDash val="solid"/>
            <a:round/>
            <a:headEnd len="sm" w="sm" type="none"/>
            <a:tailEnd len="sm" w="sm" type="none"/>
          </a:ln>
        </p:spPr>
      </p:cxnSp>
      <p:cxnSp>
        <p:nvCxnSpPr>
          <p:cNvPr id="285" name="Google Shape;285;p15"/>
          <p:cNvCxnSpPr/>
          <p:nvPr/>
        </p:nvCxnSpPr>
        <p:spPr>
          <a:xfrm rot="10800000">
            <a:off x="6693408" y="2514600"/>
            <a:ext cx="0" cy="594360"/>
          </a:xfrm>
          <a:prstGeom prst="straightConnector1">
            <a:avLst/>
          </a:prstGeom>
          <a:noFill/>
          <a:ln cap="flat" cmpd="sng" w="15875">
            <a:solidFill>
              <a:schemeClr val="accent5"/>
            </a:solidFill>
            <a:prstDash val="solid"/>
            <a:round/>
            <a:headEnd len="sm" w="sm" type="none"/>
            <a:tailEnd len="sm" w="sm" type="none"/>
          </a:ln>
        </p:spPr>
      </p:cxnSp>
      <p:cxnSp>
        <p:nvCxnSpPr>
          <p:cNvPr id="286" name="Google Shape;286;p15"/>
          <p:cNvCxnSpPr/>
          <p:nvPr/>
        </p:nvCxnSpPr>
        <p:spPr>
          <a:xfrm>
            <a:off x="6693408" y="2514600"/>
            <a:ext cx="164592" cy="0"/>
          </a:xfrm>
          <a:prstGeom prst="straightConnector1">
            <a:avLst/>
          </a:prstGeom>
          <a:noFill/>
          <a:ln cap="flat" cmpd="sng" w="15875">
            <a:solidFill>
              <a:schemeClr val="accent5"/>
            </a:solidFill>
            <a:prstDash val="solid"/>
            <a:round/>
            <a:headEnd len="sm" w="sm" type="none"/>
            <a:tailEnd len="med" w="med" type="triangle"/>
          </a:ln>
        </p:spPr>
      </p:cxnSp>
      <p:cxnSp>
        <p:nvCxnSpPr>
          <p:cNvPr id="287" name="Google Shape;287;p15"/>
          <p:cNvCxnSpPr/>
          <p:nvPr/>
        </p:nvCxnSpPr>
        <p:spPr>
          <a:xfrm>
            <a:off x="7772400" y="2724912"/>
            <a:ext cx="0" cy="914400"/>
          </a:xfrm>
          <a:prstGeom prst="straightConnector1">
            <a:avLst/>
          </a:prstGeom>
          <a:noFill/>
          <a:ln cap="flat" cmpd="sng" w="15875">
            <a:solidFill>
              <a:schemeClr val="accent5"/>
            </a:solidFill>
            <a:prstDash val="solid"/>
            <a:round/>
            <a:headEnd len="sm" w="sm" type="none"/>
            <a:tailEnd len="sm" w="sm" type="none"/>
          </a:ln>
        </p:spPr>
      </p:cxnSp>
      <p:cxnSp>
        <p:nvCxnSpPr>
          <p:cNvPr id="288" name="Google Shape;288;p15"/>
          <p:cNvCxnSpPr/>
          <p:nvPr/>
        </p:nvCxnSpPr>
        <p:spPr>
          <a:xfrm>
            <a:off x="1380744" y="3639312"/>
            <a:ext cx="6391656" cy="0"/>
          </a:xfrm>
          <a:prstGeom prst="straightConnector1">
            <a:avLst/>
          </a:prstGeom>
          <a:noFill/>
          <a:ln cap="flat" cmpd="sng" w="15875">
            <a:solidFill>
              <a:schemeClr val="accent5"/>
            </a:solidFill>
            <a:prstDash val="solid"/>
            <a:round/>
            <a:headEnd len="sm" w="sm" type="none"/>
            <a:tailEnd len="sm" w="sm" type="none"/>
          </a:ln>
        </p:spPr>
      </p:cxnSp>
      <p:cxnSp>
        <p:nvCxnSpPr>
          <p:cNvPr id="289" name="Google Shape;289;p15"/>
          <p:cNvCxnSpPr/>
          <p:nvPr/>
        </p:nvCxnSpPr>
        <p:spPr>
          <a:xfrm>
            <a:off x="1380744" y="3639312"/>
            <a:ext cx="0" cy="201168"/>
          </a:xfrm>
          <a:prstGeom prst="straightConnector1">
            <a:avLst/>
          </a:prstGeom>
          <a:noFill/>
          <a:ln cap="flat" cmpd="sng" w="15875">
            <a:solidFill>
              <a:schemeClr val="accent5"/>
            </a:solidFill>
            <a:prstDash val="solid"/>
            <a:round/>
            <a:headEnd len="sm" w="sm" type="none"/>
            <a:tailEnd len="med" w="med" type="triangle"/>
          </a:ln>
        </p:spPr>
      </p:cxnSp>
      <p:sp>
        <p:nvSpPr>
          <p:cNvPr id="290" name="Google Shape;290;p15"/>
          <p:cNvSpPr/>
          <p:nvPr/>
        </p:nvSpPr>
        <p:spPr>
          <a:xfrm>
            <a:off x="457200" y="3840480"/>
            <a:ext cx="1851660" cy="640080"/>
          </a:xfrm>
          <a:prstGeom prst="roundRect">
            <a:avLst>
              <a:gd fmla="val 8571" name="adj"/>
            </a:avLst>
          </a:prstGeom>
          <a:solidFill>
            <a:schemeClr val="lt1"/>
          </a:solidFill>
          <a:ln cap="flat" cmpd="sng" w="158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5"/>
          <p:cNvSpPr txBox="1"/>
          <p:nvPr/>
        </p:nvSpPr>
        <p:spPr>
          <a:xfrm>
            <a:off x="457200" y="3840480"/>
            <a:ext cx="18516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1300"/>
              <a:buFont typeface="Calibri"/>
              <a:buNone/>
            </a:pPr>
            <a:r>
              <a:rPr b="1" i="0" lang="en-US" sz="1300" u="none" cap="none" strike="noStrike">
                <a:solidFill>
                  <a:schemeClr val="accent2"/>
                </a:solidFill>
                <a:latin typeface="Calibri"/>
                <a:ea typeface="Calibri"/>
                <a:cs typeface="Calibri"/>
                <a:sym typeface="Calibri"/>
              </a:rPr>
              <a:t>Correct</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1300"/>
              <a:buFont typeface="Calibri"/>
              <a:buNone/>
            </a:pPr>
            <a:r>
              <a:rPr b="0" i="0" lang="en-US" sz="1300" u="none" cap="none" strike="noStrike">
                <a:solidFill>
                  <a:schemeClr val="dk2"/>
                </a:solidFill>
                <a:latin typeface="Calibri"/>
                <a:ea typeface="Calibri"/>
                <a:cs typeface="Calibri"/>
                <a:sym typeface="Calibri"/>
              </a:rPr>
              <a:t>identical sets</a:t>
            </a:r>
            <a:endParaRPr b="0" i="0" sz="1300" u="none" cap="none" strike="noStrike">
              <a:solidFill>
                <a:schemeClr val="dk1"/>
              </a:solidFill>
              <a:latin typeface="Calibri"/>
              <a:ea typeface="Calibri"/>
              <a:cs typeface="Calibri"/>
              <a:sym typeface="Calibri"/>
            </a:endParaRPr>
          </a:p>
        </p:txBody>
      </p:sp>
      <p:cxnSp>
        <p:nvCxnSpPr>
          <p:cNvPr id="292" name="Google Shape;292;p15"/>
          <p:cNvCxnSpPr/>
          <p:nvPr/>
        </p:nvCxnSpPr>
        <p:spPr>
          <a:xfrm>
            <a:off x="3506724" y="3639312"/>
            <a:ext cx="0" cy="201168"/>
          </a:xfrm>
          <a:prstGeom prst="straightConnector1">
            <a:avLst/>
          </a:prstGeom>
          <a:noFill/>
          <a:ln cap="flat" cmpd="sng" w="15875">
            <a:solidFill>
              <a:schemeClr val="accent5"/>
            </a:solidFill>
            <a:prstDash val="solid"/>
            <a:round/>
            <a:headEnd len="sm" w="sm" type="none"/>
            <a:tailEnd len="med" w="med" type="triangle"/>
          </a:ln>
        </p:spPr>
      </p:cxnSp>
      <p:sp>
        <p:nvSpPr>
          <p:cNvPr id="293" name="Google Shape;293;p15"/>
          <p:cNvSpPr/>
          <p:nvPr/>
        </p:nvSpPr>
        <p:spPr>
          <a:xfrm>
            <a:off x="2583180" y="3840480"/>
            <a:ext cx="1851660" cy="640080"/>
          </a:xfrm>
          <a:prstGeom prst="roundRect">
            <a:avLst>
              <a:gd fmla="val 8571" name="adj"/>
            </a:avLst>
          </a:prstGeom>
          <a:solidFill>
            <a:schemeClr val="lt1"/>
          </a:solidFill>
          <a:ln cap="flat" cmpd="sng" w="158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
          <p:cNvSpPr txBox="1"/>
          <p:nvPr/>
        </p:nvSpPr>
        <p:spPr>
          <a:xfrm>
            <a:off x="2583180" y="3840480"/>
            <a:ext cx="18516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1300"/>
              <a:buFont typeface="Calibri"/>
              <a:buNone/>
            </a:pPr>
            <a:r>
              <a:rPr b="1" i="0" lang="en-US" sz="1300" u="none" cap="none" strike="noStrike">
                <a:solidFill>
                  <a:schemeClr val="accent3"/>
                </a:solidFill>
                <a:latin typeface="Calibri"/>
                <a:ea typeface="Calibri"/>
                <a:cs typeface="Calibri"/>
                <a:sym typeface="Calibri"/>
              </a:rPr>
              <a:t>Incomplete</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1300"/>
              <a:buFont typeface="Calibri"/>
              <a:buNone/>
            </a:pPr>
            <a:r>
              <a:rPr b="0" i="0" lang="en-US" sz="1300" u="none" cap="none" strike="noStrike">
                <a:solidFill>
                  <a:schemeClr val="dk2"/>
                </a:solidFill>
                <a:latin typeface="Calibri"/>
                <a:ea typeface="Calibri"/>
                <a:cs typeface="Calibri"/>
                <a:sym typeface="Calibri"/>
              </a:rPr>
              <a:t>true IDs missing</a:t>
            </a:r>
            <a:endParaRPr b="0" i="0" sz="1300" u="none" cap="none" strike="noStrike">
              <a:solidFill>
                <a:schemeClr val="dk1"/>
              </a:solidFill>
              <a:latin typeface="Calibri"/>
              <a:ea typeface="Calibri"/>
              <a:cs typeface="Calibri"/>
              <a:sym typeface="Calibri"/>
            </a:endParaRPr>
          </a:p>
        </p:txBody>
      </p:sp>
      <p:cxnSp>
        <p:nvCxnSpPr>
          <p:cNvPr id="295" name="Google Shape;295;p15"/>
          <p:cNvCxnSpPr/>
          <p:nvPr/>
        </p:nvCxnSpPr>
        <p:spPr>
          <a:xfrm>
            <a:off x="5632704" y="3639312"/>
            <a:ext cx="0" cy="201168"/>
          </a:xfrm>
          <a:prstGeom prst="straightConnector1">
            <a:avLst/>
          </a:prstGeom>
          <a:noFill/>
          <a:ln cap="flat" cmpd="sng" w="15875">
            <a:solidFill>
              <a:schemeClr val="accent5"/>
            </a:solidFill>
            <a:prstDash val="solid"/>
            <a:round/>
            <a:headEnd len="sm" w="sm" type="none"/>
            <a:tailEnd len="med" w="med" type="triangle"/>
          </a:ln>
        </p:spPr>
      </p:cxnSp>
      <p:sp>
        <p:nvSpPr>
          <p:cNvPr id="296" name="Google Shape;296;p15"/>
          <p:cNvSpPr/>
          <p:nvPr/>
        </p:nvSpPr>
        <p:spPr>
          <a:xfrm>
            <a:off x="4709160" y="3840480"/>
            <a:ext cx="1851660" cy="640080"/>
          </a:xfrm>
          <a:prstGeom prst="roundRect">
            <a:avLst>
              <a:gd fmla="val 8571" name="adj"/>
            </a:avLst>
          </a:prstGeom>
          <a:solidFill>
            <a:schemeClr val="lt1"/>
          </a:solidFill>
          <a:ln cap="flat" cmpd="sng" w="158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5"/>
          <p:cNvSpPr txBox="1"/>
          <p:nvPr/>
        </p:nvSpPr>
        <p:spPr>
          <a:xfrm>
            <a:off x="4709160" y="3840480"/>
            <a:ext cx="18516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1300"/>
              <a:buFont typeface="Calibri"/>
              <a:buNone/>
            </a:pPr>
            <a:r>
              <a:rPr b="1" i="0" lang="en-US" sz="1300" u="none" cap="none" strike="noStrike">
                <a:solidFill>
                  <a:schemeClr val="accent3"/>
                </a:solidFill>
                <a:latin typeface="Calibri"/>
                <a:ea typeface="Calibri"/>
                <a:cs typeface="Calibri"/>
                <a:sym typeface="Calibri"/>
              </a:rPr>
              <a:t>Contaminated</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1300"/>
              <a:buFont typeface="Calibri"/>
              <a:buNone/>
            </a:pPr>
            <a:r>
              <a:rPr b="0" i="0" lang="en-US" sz="1300" u="none" cap="none" strike="noStrike">
                <a:solidFill>
                  <a:schemeClr val="dk2"/>
                </a:solidFill>
                <a:latin typeface="Calibri"/>
                <a:ea typeface="Calibri"/>
                <a:cs typeface="Calibri"/>
                <a:sym typeface="Calibri"/>
              </a:rPr>
              <a:t>extra IDs present</a:t>
            </a:r>
            <a:endParaRPr b="0" i="0" sz="1300" u="none" cap="none" strike="noStrike">
              <a:solidFill>
                <a:schemeClr val="dk1"/>
              </a:solidFill>
              <a:latin typeface="Calibri"/>
              <a:ea typeface="Calibri"/>
              <a:cs typeface="Calibri"/>
              <a:sym typeface="Calibri"/>
            </a:endParaRPr>
          </a:p>
        </p:txBody>
      </p:sp>
      <p:cxnSp>
        <p:nvCxnSpPr>
          <p:cNvPr id="298" name="Google Shape;298;p15"/>
          <p:cNvCxnSpPr/>
          <p:nvPr/>
        </p:nvCxnSpPr>
        <p:spPr>
          <a:xfrm>
            <a:off x="7758684" y="3639312"/>
            <a:ext cx="0" cy="201168"/>
          </a:xfrm>
          <a:prstGeom prst="straightConnector1">
            <a:avLst/>
          </a:prstGeom>
          <a:noFill/>
          <a:ln cap="flat" cmpd="sng" w="15875">
            <a:solidFill>
              <a:schemeClr val="accent5"/>
            </a:solidFill>
            <a:prstDash val="solid"/>
            <a:round/>
            <a:headEnd len="sm" w="sm" type="none"/>
            <a:tailEnd len="med" w="med" type="triangle"/>
          </a:ln>
        </p:spPr>
      </p:cxnSp>
      <p:sp>
        <p:nvSpPr>
          <p:cNvPr id="299" name="Google Shape;299;p15"/>
          <p:cNvSpPr/>
          <p:nvPr/>
        </p:nvSpPr>
        <p:spPr>
          <a:xfrm>
            <a:off x="6835140" y="3840480"/>
            <a:ext cx="1851660" cy="640080"/>
          </a:xfrm>
          <a:prstGeom prst="roundRect">
            <a:avLst>
              <a:gd fmla="val 8571" name="adj"/>
            </a:avLst>
          </a:prstGeom>
          <a:solidFill>
            <a:schemeClr val="lt1"/>
          </a:solidFill>
          <a:ln cap="flat" cmpd="sng" w="158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txBox="1"/>
          <p:nvPr/>
        </p:nvSpPr>
        <p:spPr>
          <a:xfrm>
            <a:off x="6835140" y="3840480"/>
            <a:ext cx="18516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1300"/>
              <a:buFont typeface="Calibri"/>
              <a:buNone/>
            </a:pPr>
            <a:r>
              <a:rPr b="1" i="0" lang="en-US" sz="1300" u="none" cap="none" strike="noStrike">
                <a:solidFill>
                  <a:schemeClr val="accent3"/>
                </a:solidFill>
                <a:latin typeface="Calibri"/>
                <a:ea typeface="Calibri"/>
                <a:cs typeface="Calibri"/>
                <a:sym typeface="Calibri"/>
              </a:rPr>
              <a:t>Empty</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1300"/>
              <a:buFont typeface="Calibri"/>
              <a:buNone/>
            </a:pPr>
            <a:r>
              <a:rPr b="0" i="0" lang="en-US" sz="1300" u="none" cap="none" strike="noStrike">
                <a:solidFill>
                  <a:schemeClr val="dk2"/>
                </a:solidFill>
                <a:latin typeface="Calibri"/>
                <a:ea typeface="Calibri"/>
                <a:cs typeface="Calibri"/>
                <a:sym typeface="Calibri"/>
              </a:rPr>
              <a:t>nothing returned</a:t>
            </a:r>
            <a:endParaRPr b="0" i="0" sz="1300" u="none" cap="none" strike="noStrike">
              <a:solidFill>
                <a:schemeClr val="dk1"/>
              </a:solidFill>
              <a:latin typeface="Calibri"/>
              <a:ea typeface="Calibri"/>
              <a:cs typeface="Calibri"/>
              <a:sym typeface="Calibri"/>
            </a:endParaRPr>
          </a:p>
        </p:txBody>
      </p:sp>
      <p:sp>
        <p:nvSpPr>
          <p:cNvPr id="301" name="Google Shape;301;p15"/>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6"/>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Setup step 2: known queries that return keys and the path they took</a:t>
            </a:r>
            <a:endParaRPr sz="2100"/>
          </a:p>
        </p:txBody>
      </p:sp>
      <p:sp>
        <p:nvSpPr>
          <p:cNvPr id="308" name="Google Shape;308;p16"/>
          <p:cNvSpPr/>
          <p:nvPr/>
        </p:nvSpPr>
        <p:spPr>
          <a:xfrm>
            <a:off x="457200" y="1234440"/>
            <a:ext cx="4983480" cy="2194560"/>
          </a:xfrm>
          <a:prstGeom prst="roundRect">
            <a:avLst>
              <a:gd fmla="val 2500" name="adj"/>
            </a:avLst>
          </a:prstGeom>
          <a:solidFill>
            <a:srgbClr val="0E0A1A"/>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6"/>
          <p:cNvSpPr txBox="1"/>
          <p:nvPr/>
        </p:nvSpPr>
        <p:spPr>
          <a:xfrm>
            <a:off x="640080" y="1371600"/>
            <a:ext cx="466344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50"/>
              <a:buFont typeface="Courier New"/>
              <a:buNone/>
            </a:pPr>
            <a:r>
              <a:rPr b="0" i="0" lang="en-US" sz="1150" u="none" cap="none" strike="noStrike">
                <a:solidFill>
                  <a:schemeClr val="dk1"/>
                </a:solidFill>
                <a:latin typeface="Courier New"/>
                <a:ea typeface="Courier New"/>
                <a:cs typeface="Courier New"/>
                <a:sym typeface="Courier New"/>
              </a:rPr>
              <a:t>MATCH path = (x:Seed {key: $seed_key})</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ourier New"/>
              <a:buNone/>
            </a:pPr>
            <a:r>
              <a:rPr b="0" i="0" lang="en-US" sz="1150" u="none" cap="none" strike="noStrike">
                <a:solidFill>
                  <a:schemeClr val="dk1"/>
                </a:solidFill>
                <a:latin typeface="Courier New"/>
                <a:ea typeface="Courier New"/>
                <a:cs typeface="Courier New"/>
                <a:sym typeface="Courier New"/>
              </a:rPr>
              <a:t>  -[:REL_1]-&gt;(:Intermediate)</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ourier New"/>
              <a:buNone/>
            </a:pPr>
            <a:r>
              <a:rPr b="0" i="0" lang="en-US" sz="1150" u="none" cap="none" strike="noStrike">
                <a:solidFill>
                  <a:schemeClr val="dk1"/>
                </a:solidFill>
                <a:latin typeface="Courier New"/>
                <a:ea typeface="Courier New"/>
                <a:cs typeface="Courier New"/>
                <a:sym typeface="Courier New"/>
              </a:rPr>
              <a:t>  -[:REL_2*1..]-&gt;(a:Answer)</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ourier New"/>
              <a:buNone/>
            </a:pPr>
            <a:r>
              <a:rPr b="0" i="0" lang="en-US" sz="1150" u="none" cap="none" strike="noStrike">
                <a:solidFill>
                  <a:schemeClr val="dk1"/>
                </a:solidFill>
                <a:latin typeface="Courier New"/>
                <a:ea typeface="Courier New"/>
                <a:cs typeface="Courier New"/>
                <a:sym typeface="Courier New"/>
              </a:rPr>
              <a:t>WHERE a.status = $status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2"/>
              </a:buClr>
              <a:buSzPts val="1150"/>
              <a:buFont typeface="Courier New"/>
              <a:buNone/>
            </a:pPr>
            <a:r>
              <a:rPr b="0" i="0" lang="en-US" sz="1150" u="none" cap="none" strike="noStrike">
                <a:solidFill>
                  <a:schemeClr val="accent2"/>
                </a:solidFill>
                <a:latin typeface="Courier New"/>
                <a:ea typeface="Courier New"/>
                <a:cs typeface="Courier New"/>
                <a:sym typeface="Courier New"/>
              </a:rPr>
              <a:t>RETURN DISTINCT a.business_key AS id,</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2"/>
              </a:buClr>
              <a:buSzPts val="1150"/>
              <a:buFont typeface="Courier New"/>
              <a:buNone/>
            </a:pPr>
            <a:r>
              <a:rPr b="0" i="0" lang="en-US" sz="1150" u="none" cap="none" strike="noStrike">
                <a:solidFill>
                  <a:schemeClr val="accent2"/>
                </a:solidFill>
                <a:latin typeface="Courier New"/>
                <a:ea typeface="Courier New"/>
                <a:cs typeface="Courier New"/>
                <a:sym typeface="Courier New"/>
              </a:rPr>
              <a:t>  [n IN nodes(path) | elementId(n)] AS touched</a:t>
            </a:r>
            <a:endParaRPr b="0" i="0" sz="1150" u="none" cap="none" strike="noStrike">
              <a:solidFill>
                <a:schemeClr val="dk1"/>
              </a:solidFill>
              <a:latin typeface="Calibri"/>
              <a:ea typeface="Calibri"/>
              <a:cs typeface="Calibri"/>
              <a:sym typeface="Calibri"/>
            </a:endParaRPr>
          </a:p>
        </p:txBody>
      </p:sp>
      <p:sp>
        <p:nvSpPr>
          <p:cNvPr id="310" name="Google Shape;310;p16"/>
          <p:cNvSpPr/>
          <p:nvPr/>
        </p:nvSpPr>
        <p:spPr>
          <a:xfrm>
            <a:off x="5715000" y="1252728"/>
            <a:ext cx="310896" cy="310896"/>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6"/>
          <p:cNvSpPr txBox="1"/>
          <p:nvPr/>
        </p:nvSpPr>
        <p:spPr>
          <a:xfrm>
            <a:off x="5715000" y="1252728"/>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312" name="Google Shape;312;p16"/>
          <p:cNvSpPr txBox="1"/>
          <p:nvPr/>
        </p:nvSpPr>
        <p:spPr>
          <a:xfrm>
            <a:off x="6144768" y="1234440"/>
            <a:ext cx="256032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1" i="0" lang="en-US" sz="1300" u="none" cap="none" strike="noStrike">
                <a:solidFill>
                  <a:schemeClr val="dk1"/>
                </a:solidFill>
                <a:latin typeface="Calibri"/>
                <a:ea typeface="Calibri"/>
                <a:cs typeface="Calibri"/>
                <a:sym typeface="Calibri"/>
              </a:rPr>
              <a:t>Return business keys, never display names.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300"/>
              <a:buFont typeface="Calibri"/>
              <a:buNone/>
            </a:pPr>
            <a:r>
              <a:rPr b="0" i="0" lang="en-US" sz="1300" u="none" cap="none" strike="noStrike">
                <a:solidFill>
                  <a:schemeClr val="dk2"/>
                </a:solidFill>
                <a:latin typeface="Calibri"/>
                <a:ea typeface="Calibri"/>
                <a:cs typeface="Calibri"/>
                <a:sym typeface="Calibri"/>
              </a:rPr>
              <a:t>IDs make the comparison exact.</a:t>
            </a:r>
            <a:endParaRPr b="0" i="0" sz="1300" u="none" cap="none" strike="noStrike">
              <a:solidFill>
                <a:schemeClr val="dk1"/>
              </a:solidFill>
              <a:latin typeface="Calibri"/>
              <a:ea typeface="Calibri"/>
              <a:cs typeface="Calibri"/>
              <a:sym typeface="Calibri"/>
            </a:endParaRPr>
          </a:p>
        </p:txBody>
      </p:sp>
      <p:sp>
        <p:nvSpPr>
          <p:cNvPr id="313" name="Google Shape;313;p16"/>
          <p:cNvSpPr/>
          <p:nvPr/>
        </p:nvSpPr>
        <p:spPr>
          <a:xfrm>
            <a:off x="5715000" y="2002536"/>
            <a:ext cx="310896" cy="310896"/>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6"/>
          <p:cNvSpPr txBox="1"/>
          <p:nvPr/>
        </p:nvSpPr>
        <p:spPr>
          <a:xfrm>
            <a:off x="5715000" y="200253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315" name="Google Shape;315;p16"/>
          <p:cNvSpPr txBox="1"/>
          <p:nvPr/>
        </p:nvSpPr>
        <p:spPr>
          <a:xfrm>
            <a:off x="6144768" y="1984248"/>
            <a:ext cx="256032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1" i="0" lang="en-US" sz="1300" u="none" cap="none" strike="noStrike">
                <a:solidFill>
                  <a:schemeClr val="dk1"/>
                </a:solidFill>
                <a:latin typeface="Calibri"/>
                <a:ea typeface="Calibri"/>
                <a:cs typeface="Calibri"/>
                <a:sym typeface="Calibri"/>
              </a:rPr>
              <a:t>Return the path.</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300"/>
              <a:buFont typeface="Calibri"/>
              <a:buNone/>
            </a:pPr>
            <a:r>
              <a:rPr b="0" i="0" lang="en-US" sz="1300" u="none" cap="none" strike="noStrike">
                <a:solidFill>
                  <a:schemeClr val="dk2"/>
                </a:solidFill>
                <a:latin typeface="Calibri"/>
                <a:ea typeface="Calibri"/>
                <a:cs typeface="Calibri"/>
                <a:sym typeface="Calibri"/>
              </a:rPr>
              <a:t>The touched IDs are where defect checks run.</a:t>
            </a:r>
            <a:endParaRPr b="0" i="0" sz="1300" u="none" cap="none" strike="noStrike">
              <a:solidFill>
                <a:schemeClr val="dk1"/>
              </a:solidFill>
              <a:latin typeface="Calibri"/>
              <a:ea typeface="Calibri"/>
              <a:cs typeface="Calibri"/>
              <a:sym typeface="Calibri"/>
            </a:endParaRPr>
          </a:p>
        </p:txBody>
      </p:sp>
      <p:sp>
        <p:nvSpPr>
          <p:cNvPr id="316" name="Google Shape;316;p16"/>
          <p:cNvSpPr/>
          <p:nvPr/>
        </p:nvSpPr>
        <p:spPr>
          <a:xfrm>
            <a:off x="5715000" y="2752344"/>
            <a:ext cx="310896" cy="310896"/>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6"/>
          <p:cNvSpPr txBox="1"/>
          <p:nvPr/>
        </p:nvSpPr>
        <p:spPr>
          <a:xfrm>
            <a:off x="5715000" y="275234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318" name="Google Shape;318;p16"/>
          <p:cNvSpPr txBox="1"/>
          <p:nvPr/>
        </p:nvSpPr>
        <p:spPr>
          <a:xfrm>
            <a:off x="6144768" y="2734056"/>
            <a:ext cx="256032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1" i="0" lang="en-US" sz="1300" u="none" cap="none" strike="noStrike">
                <a:solidFill>
                  <a:schemeClr val="dk1"/>
                </a:solidFill>
                <a:latin typeface="Calibri"/>
                <a:ea typeface="Calibri"/>
                <a:cs typeface="Calibri"/>
                <a:sym typeface="Calibri"/>
              </a:rPr>
              <a:t>Validate each query once on a trusted snapshot.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300"/>
              <a:buFont typeface="Calibri"/>
              <a:buNone/>
            </a:pPr>
            <a:r>
              <a:rPr b="0" i="0" lang="en-US" sz="1300" u="none" cap="none" strike="noStrike">
                <a:solidFill>
                  <a:schemeClr val="dk2"/>
                </a:solidFill>
                <a:latin typeface="Calibri"/>
                <a:ea typeface="Calibri"/>
                <a:cs typeface="Calibri"/>
                <a:sym typeface="Calibri"/>
              </a:rPr>
              <a:t>A query that fails there is a query bug, not a graph defect.</a:t>
            </a:r>
            <a:endParaRPr b="0" i="0" sz="1300" u="none" cap="none" strike="noStrike">
              <a:solidFill>
                <a:schemeClr val="dk1"/>
              </a:solidFill>
              <a:latin typeface="Calibri"/>
              <a:ea typeface="Calibri"/>
              <a:cs typeface="Calibri"/>
              <a:sym typeface="Calibri"/>
            </a:endParaRPr>
          </a:p>
        </p:txBody>
      </p:sp>
      <p:sp>
        <p:nvSpPr>
          <p:cNvPr id="319" name="Google Shape;319;p16"/>
          <p:cNvSpPr/>
          <p:nvPr/>
        </p:nvSpPr>
        <p:spPr>
          <a:xfrm>
            <a:off x="457200" y="3703320"/>
            <a:ext cx="8229600" cy="777240"/>
          </a:xfrm>
          <a:prstGeom prst="roundRect">
            <a:avLst>
              <a:gd fmla="val 9412"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6"/>
          <p:cNvSpPr txBox="1"/>
          <p:nvPr/>
        </p:nvSpPr>
        <p:spPr>
          <a:xfrm>
            <a:off x="685800" y="3703320"/>
            <a:ext cx="7772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400"/>
              <a:buFont typeface="Calibri"/>
              <a:buNone/>
            </a:pPr>
            <a:r>
              <a:rPr b="1" i="0" lang="en-US" sz="1400" u="none" cap="none" strike="noStrike">
                <a:solidFill>
                  <a:schemeClr val="accent2"/>
                </a:solidFill>
                <a:latin typeface="Calibri"/>
                <a:ea typeface="Calibri"/>
                <a:cs typeface="Calibri"/>
                <a:sym typeface="Calibri"/>
              </a:rPr>
              <a:t>No LLM in this loop. </a:t>
            </a:r>
            <a:r>
              <a:rPr b="0" i="0" lang="en-US" sz="1400" u="none" cap="none" strike="noStrike">
                <a:solidFill>
                  <a:schemeClr val="dk1"/>
                </a:solidFill>
                <a:latin typeface="Calibri"/>
                <a:ea typeface="Calibri"/>
                <a:cs typeface="Calibri"/>
                <a:sym typeface="Calibri"/>
              </a:rPr>
              <a:t>Each question's query is fixed, so every wrong answer is the graph's fault. Query generation is tested separately.</a:t>
            </a:r>
            <a:endParaRPr b="0" i="0" sz="1400" u="none" cap="none" strike="noStrike">
              <a:solidFill>
                <a:schemeClr val="dk1"/>
              </a:solidFill>
              <a:latin typeface="Calibri"/>
              <a:ea typeface="Calibri"/>
              <a:cs typeface="Calibri"/>
              <a:sym typeface="Calibri"/>
            </a:endParaRPr>
          </a:p>
        </p:txBody>
      </p:sp>
      <p:sp>
        <p:nvSpPr>
          <p:cNvPr id="321" name="Google Shape;321;p16"/>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7"/>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Setup step 3: count defects that are zero on a valid graph</a:t>
            </a:r>
            <a:endParaRPr sz="2100"/>
          </a:p>
        </p:txBody>
      </p:sp>
      <p:sp>
        <p:nvSpPr>
          <p:cNvPr id="328" name="Google Shape;328;p17"/>
          <p:cNvSpPr/>
          <p:nvPr/>
        </p:nvSpPr>
        <p:spPr>
          <a:xfrm>
            <a:off x="457200" y="1188720"/>
            <a:ext cx="4846320" cy="2514600"/>
          </a:xfrm>
          <a:prstGeom prst="roundRect">
            <a:avLst>
              <a:gd fmla="val 2909" name="adj"/>
            </a:avLst>
          </a:prstGeom>
          <a:solidFill>
            <a:schemeClr val="l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7"/>
          <p:cNvSpPr txBox="1"/>
          <p:nvPr/>
        </p:nvSpPr>
        <p:spPr>
          <a:xfrm>
            <a:off x="640080" y="1298448"/>
            <a:ext cx="448056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500"/>
              <a:buFont typeface="Calibri"/>
              <a:buNone/>
            </a:pPr>
            <a:r>
              <a:rPr b="1" i="0" lang="en-US" sz="1500" u="none" cap="none" strike="noStrike">
                <a:solidFill>
                  <a:schemeClr val="accent2"/>
                </a:solidFill>
                <a:latin typeface="Calibri"/>
                <a:ea typeface="Calibri"/>
                <a:cs typeface="Calibri"/>
                <a:sym typeface="Calibri"/>
              </a:rPr>
              <a:t>Defect signals point at a fix</a:t>
            </a:r>
            <a:endParaRPr b="0" i="0" sz="1500" u="none" cap="none" strike="noStrike">
              <a:solidFill>
                <a:schemeClr val="dk1"/>
              </a:solidFill>
              <a:latin typeface="Calibri"/>
              <a:ea typeface="Calibri"/>
              <a:cs typeface="Calibri"/>
              <a:sym typeface="Calibri"/>
            </a:endParaRPr>
          </a:p>
        </p:txBody>
      </p:sp>
      <p:sp>
        <p:nvSpPr>
          <p:cNvPr id="330" name="Google Shape;330;p17"/>
          <p:cNvSpPr txBox="1"/>
          <p:nvPr/>
        </p:nvSpPr>
        <p:spPr>
          <a:xfrm>
            <a:off x="640080" y="1645920"/>
            <a:ext cx="4480560" cy="1965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50"/>
              <a:buFont typeface="Calibri"/>
              <a:buNone/>
            </a:pPr>
            <a:r>
              <a:rPr b="1" i="0" lang="en-US" sz="1250" u="none" cap="none" strike="noStrike">
                <a:solidFill>
                  <a:schemeClr val="dk1"/>
                </a:solidFill>
                <a:latin typeface="Calibri"/>
                <a:ea typeface="Calibri"/>
                <a:cs typeface="Calibri"/>
                <a:sym typeface="Calibri"/>
              </a:rPr>
              <a:t>Deduplication: </a:t>
            </a:r>
            <a:r>
              <a:rPr b="0" i="0" lang="en-US" sz="1250" u="none" cap="none" strike="noStrike">
                <a:solidFill>
                  <a:schemeClr val="dk1"/>
                </a:solidFill>
                <a:latin typeface="Calibri"/>
                <a:ea typeface="Calibri"/>
                <a:cs typeface="Calibri"/>
                <a:sym typeface="Calibri"/>
              </a:rPr>
              <a:t>duplicate or near-duplicate names, keys unknown to the source</a:t>
            </a:r>
            <a:endParaRPr b="0" i="0" sz="12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1250"/>
              <a:buFont typeface="Calibri"/>
              <a:buNone/>
            </a:pPr>
            <a:r>
              <a:rPr b="1" i="0" lang="en-US" sz="1250" u="none" cap="none" strike="noStrike">
                <a:solidFill>
                  <a:schemeClr val="dk1"/>
                </a:solidFill>
                <a:latin typeface="Calibri"/>
                <a:ea typeface="Calibri"/>
                <a:cs typeface="Calibri"/>
                <a:sym typeface="Calibri"/>
              </a:rPr>
              <a:t>Schema and hierarchy: </a:t>
            </a:r>
            <a:r>
              <a:rPr b="0" i="0" lang="en-US" sz="1250" u="none" cap="none" strike="noStrike">
                <a:solidFill>
                  <a:schemeClr val="dk1"/>
                </a:solidFill>
                <a:latin typeface="Calibri"/>
                <a:ea typeface="Calibri"/>
                <a:cs typeface="Calibri"/>
                <a:sym typeface="Calibri"/>
              </a:rPr>
              <a:t>type violations, hierarchy levels that run the wrong way, cycles</a:t>
            </a:r>
            <a:endParaRPr b="0" i="0" sz="12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1250"/>
              <a:buFont typeface="Calibri"/>
              <a:buNone/>
            </a:pPr>
            <a:r>
              <a:rPr b="1" i="0" lang="en-US" sz="1250" u="none" cap="none" strike="noStrike">
                <a:solidFill>
                  <a:schemeClr val="dk1"/>
                </a:solidFill>
                <a:latin typeface="Calibri"/>
                <a:ea typeface="Calibri"/>
                <a:cs typeface="Calibri"/>
                <a:sym typeface="Calibri"/>
              </a:rPr>
              <a:t>Referential integrity: </a:t>
            </a:r>
            <a:r>
              <a:rPr b="0" i="0" lang="en-US" sz="1250" u="none" cap="none" strike="noStrike">
                <a:solidFill>
                  <a:schemeClr val="dk1"/>
                </a:solidFill>
                <a:latin typeface="Calibri"/>
                <a:ea typeface="Calibri"/>
                <a:cs typeface="Calibri"/>
                <a:sym typeface="Calibri"/>
              </a:rPr>
              <a:t>broken steps, cardinality violations, totals that no longer reconcile</a:t>
            </a:r>
            <a:endParaRPr b="0" i="0" sz="12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1250"/>
              <a:buFont typeface="Calibri"/>
              <a:buNone/>
            </a:pPr>
            <a:r>
              <a:rPr b="1" i="0" lang="en-US" sz="1250" u="none" cap="none" strike="noStrike">
                <a:solidFill>
                  <a:schemeClr val="dk1"/>
                </a:solidFill>
                <a:latin typeface="Calibri"/>
                <a:ea typeface="Calibri"/>
                <a:cs typeface="Calibri"/>
                <a:sym typeface="Calibri"/>
              </a:rPr>
              <a:t>Completeness: </a:t>
            </a:r>
            <a:r>
              <a:rPr b="0" i="0" lang="en-US" sz="1250" u="none" cap="none" strike="noStrike">
                <a:solidFill>
                  <a:schemeClr val="dk1"/>
                </a:solidFill>
                <a:latin typeface="Calibri"/>
                <a:ea typeface="Calibri"/>
                <a:cs typeface="Calibri"/>
                <a:sym typeface="Calibri"/>
              </a:rPr>
              <a:t>missing required properties and filter fields</a:t>
            </a:r>
            <a:endParaRPr b="0" i="0" sz="1250" u="none" cap="none" strike="noStrike">
              <a:solidFill>
                <a:schemeClr val="dk1"/>
              </a:solidFill>
              <a:latin typeface="Calibri"/>
              <a:ea typeface="Calibri"/>
              <a:cs typeface="Calibri"/>
              <a:sym typeface="Calibri"/>
            </a:endParaRPr>
          </a:p>
        </p:txBody>
      </p:sp>
      <p:sp>
        <p:nvSpPr>
          <p:cNvPr id="331" name="Google Shape;331;p17"/>
          <p:cNvSpPr/>
          <p:nvPr/>
        </p:nvSpPr>
        <p:spPr>
          <a:xfrm>
            <a:off x="5577840" y="1188720"/>
            <a:ext cx="3108960" cy="2514600"/>
          </a:xfrm>
          <a:prstGeom prst="roundRect">
            <a:avLst>
              <a:gd fmla="val 2909"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7"/>
          <p:cNvSpPr txBox="1"/>
          <p:nvPr/>
        </p:nvSpPr>
        <p:spPr>
          <a:xfrm>
            <a:off x="5760720" y="1298448"/>
            <a:ext cx="2743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Exposure features describe difficulty</a:t>
            </a:r>
            <a:endParaRPr b="0" i="0" sz="1500" u="none" cap="none" strike="noStrike">
              <a:solidFill>
                <a:schemeClr val="dk1"/>
              </a:solidFill>
              <a:latin typeface="Calibri"/>
              <a:ea typeface="Calibri"/>
              <a:cs typeface="Calibri"/>
              <a:sym typeface="Calibri"/>
            </a:endParaRPr>
          </a:p>
        </p:txBody>
      </p:sp>
      <p:sp>
        <p:nvSpPr>
          <p:cNvPr id="333" name="Google Shape;333;p17"/>
          <p:cNvSpPr txBox="1"/>
          <p:nvPr/>
        </p:nvSpPr>
        <p:spPr>
          <a:xfrm>
            <a:off x="5760720" y="1920240"/>
            <a:ext cx="2743200" cy="1691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50"/>
              <a:buFont typeface="Calibri"/>
              <a:buNone/>
            </a:pPr>
            <a:r>
              <a:rPr b="0" i="0" lang="en-US" sz="1250" u="none" cap="none" strike="noStrike">
                <a:solidFill>
                  <a:schemeClr val="dk2"/>
                </a:solidFill>
                <a:latin typeface="Calibri"/>
                <a:ea typeface="Calibri"/>
                <a:cs typeface="Calibri"/>
                <a:sym typeface="Calibri"/>
              </a:rPr>
              <a:t>Seed degree, fanout, path length, recursion, expected answer size. They help the model, but their blame is never sent to a fix.</a:t>
            </a:r>
            <a:endParaRPr b="0" i="0" sz="1250" u="none" cap="none" strike="noStrike">
              <a:solidFill>
                <a:schemeClr val="dk1"/>
              </a:solidFill>
              <a:latin typeface="Calibri"/>
              <a:ea typeface="Calibri"/>
              <a:cs typeface="Calibri"/>
              <a:sym typeface="Calibri"/>
            </a:endParaRPr>
          </a:p>
        </p:txBody>
      </p:sp>
      <p:sp>
        <p:nvSpPr>
          <p:cNvPr id="334" name="Google Shape;334;p17"/>
          <p:cNvSpPr/>
          <p:nvPr/>
        </p:nvSpPr>
        <p:spPr>
          <a:xfrm>
            <a:off x="457200" y="3886200"/>
            <a:ext cx="8229600" cy="640080"/>
          </a:xfrm>
          <a:prstGeom prst="roundRect">
            <a:avLst>
              <a:gd fmla="val 11429" name="adj"/>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7"/>
          <p:cNvSpPr txBox="1"/>
          <p:nvPr/>
        </p:nvSpPr>
        <p:spPr>
          <a:xfrm>
            <a:off x="640080" y="388620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300"/>
              <a:buFont typeface="Calibri"/>
              <a:buNone/>
            </a:pPr>
            <a:r>
              <a:rPr b="1" i="0" lang="en-US" sz="1300" u="none" cap="none" strike="noStrike">
                <a:solidFill>
                  <a:schemeClr val="accent3"/>
                </a:solidFill>
                <a:latin typeface="Calibri"/>
                <a:ea typeface="Calibri"/>
                <a:cs typeface="Calibri"/>
                <a:sym typeface="Calibri"/>
              </a:rPr>
              <a:t>Pitfall: </a:t>
            </a:r>
            <a:r>
              <a:rPr b="0" i="0" lang="en-US" sz="1300" u="none" cap="none" strike="noStrike">
                <a:solidFill>
                  <a:schemeClr val="dk1"/>
                </a:solidFill>
                <a:latin typeface="Calibri"/>
                <a:ea typeface="Calibri"/>
                <a:cs typeface="Calibri"/>
                <a:sym typeface="Calibri"/>
              </a:rPr>
              <a:t>subgraph size and averages move whenever the answer changes, so a model predicts wrong answers from wrong answers.</a:t>
            </a:r>
            <a:endParaRPr b="0" i="0" sz="1300" u="none" cap="none" strike="noStrike">
              <a:solidFill>
                <a:schemeClr val="dk1"/>
              </a:solidFill>
              <a:latin typeface="Calibri"/>
              <a:ea typeface="Calibri"/>
              <a:cs typeface="Calibri"/>
              <a:sym typeface="Calibri"/>
            </a:endParaRPr>
          </a:p>
        </p:txBody>
      </p:sp>
      <p:sp>
        <p:nvSpPr>
          <p:cNvPr id="336" name="Google Shape;336;p17"/>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8"/>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Setup step 4: attribute each wrong answer and roll the blame up to controls</a:t>
            </a:r>
            <a:endParaRPr sz="2100"/>
          </a:p>
        </p:txBody>
      </p:sp>
      <p:sp>
        <p:nvSpPr>
          <p:cNvPr id="343" name="Google Shape;343;p18"/>
          <p:cNvSpPr/>
          <p:nvPr/>
        </p:nvSpPr>
        <p:spPr>
          <a:xfrm>
            <a:off x="457200" y="1234440"/>
            <a:ext cx="1783080" cy="1737360"/>
          </a:xfrm>
          <a:prstGeom prst="roundRect">
            <a:avLst>
              <a:gd fmla="val 4211"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8"/>
          <p:cNvSpPr/>
          <p:nvPr/>
        </p:nvSpPr>
        <p:spPr>
          <a:xfrm>
            <a:off x="594360" y="1371600"/>
            <a:ext cx="347472" cy="347472"/>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8"/>
          <p:cNvSpPr txBox="1"/>
          <p:nvPr/>
        </p:nvSpPr>
        <p:spPr>
          <a:xfrm>
            <a:off x="594360" y="137160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346" name="Google Shape;346;p18"/>
          <p:cNvSpPr txBox="1"/>
          <p:nvPr/>
        </p:nvSpPr>
        <p:spPr>
          <a:xfrm>
            <a:off x="1024128" y="1371600"/>
            <a:ext cx="1143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Predict</a:t>
            </a:r>
            <a:endParaRPr b="0" i="0" sz="1500" u="none" cap="none" strike="noStrike">
              <a:solidFill>
                <a:schemeClr val="dk1"/>
              </a:solidFill>
              <a:latin typeface="Calibri"/>
              <a:ea typeface="Calibri"/>
              <a:cs typeface="Calibri"/>
              <a:sym typeface="Calibri"/>
            </a:endParaRPr>
          </a:p>
        </p:txBody>
      </p:sp>
      <p:sp>
        <p:nvSpPr>
          <p:cNvPr id="347" name="Google Shape;347;p18"/>
          <p:cNvSpPr txBox="1"/>
          <p:nvPr/>
        </p:nvSpPr>
        <p:spPr>
          <a:xfrm>
            <a:off x="594360" y="1810512"/>
            <a:ext cx="15087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Train a classifier on the trace features to predict which questions fail.</a:t>
            </a:r>
            <a:endParaRPr b="0" i="0" sz="1200" u="none" cap="none" strike="noStrike">
              <a:solidFill>
                <a:schemeClr val="dk1"/>
              </a:solidFill>
              <a:latin typeface="Calibri"/>
              <a:ea typeface="Calibri"/>
              <a:cs typeface="Calibri"/>
              <a:sym typeface="Calibri"/>
            </a:endParaRPr>
          </a:p>
        </p:txBody>
      </p:sp>
      <p:cxnSp>
        <p:nvCxnSpPr>
          <p:cNvPr id="348" name="Google Shape;348;p18"/>
          <p:cNvCxnSpPr/>
          <p:nvPr/>
        </p:nvCxnSpPr>
        <p:spPr>
          <a:xfrm>
            <a:off x="2258568" y="2103120"/>
            <a:ext cx="329184" cy="0"/>
          </a:xfrm>
          <a:prstGeom prst="straightConnector1">
            <a:avLst/>
          </a:prstGeom>
          <a:noFill/>
          <a:ln cap="flat" cmpd="sng" w="15875">
            <a:solidFill>
              <a:schemeClr val="accent5"/>
            </a:solidFill>
            <a:prstDash val="solid"/>
            <a:round/>
            <a:headEnd len="sm" w="sm" type="none"/>
            <a:tailEnd len="med" w="med" type="triangle"/>
          </a:ln>
        </p:spPr>
      </p:cxnSp>
      <p:sp>
        <p:nvSpPr>
          <p:cNvPr id="349" name="Google Shape;349;p18"/>
          <p:cNvSpPr/>
          <p:nvPr/>
        </p:nvSpPr>
        <p:spPr>
          <a:xfrm>
            <a:off x="2606040" y="1234440"/>
            <a:ext cx="1783080" cy="1737360"/>
          </a:xfrm>
          <a:prstGeom prst="roundRect">
            <a:avLst>
              <a:gd fmla="val 4211"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8"/>
          <p:cNvSpPr/>
          <p:nvPr/>
        </p:nvSpPr>
        <p:spPr>
          <a:xfrm>
            <a:off x="2743200" y="1371600"/>
            <a:ext cx="347472" cy="347472"/>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8"/>
          <p:cNvSpPr txBox="1"/>
          <p:nvPr/>
        </p:nvSpPr>
        <p:spPr>
          <a:xfrm>
            <a:off x="2743200" y="137160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352" name="Google Shape;352;p18"/>
          <p:cNvSpPr txBox="1"/>
          <p:nvPr/>
        </p:nvSpPr>
        <p:spPr>
          <a:xfrm>
            <a:off x="3172968" y="1371600"/>
            <a:ext cx="1143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Explain</a:t>
            </a:r>
            <a:endParaRPr b="0" i="0" sz="1500" u="none" cap="none" strike="noStrike">
              <a:solidFill>
                <a:schemeClr val="dk1"/>
              </a:solidFill>
              <a:latin typeface="Calibri"/>
              <a:ea typeface="Calibri"/>
              <a:cs typeface="Calibri"/>
              <a:sym typeface="Calibri"/>
            </a:endParaRPr>
          </a:p>
        </p:txBody>
      </p:sp>
      <p:sp>
        <p:nvSpPr>
          <p:cNvPr id="353" name="Google Shape;353;p18"/>
          <p:cNvSpPr txBox="1"/>
          <p:nvPr/>
        </p:nvSpPr>
        <p:spPr>
          <a:xfrm>
            <a:off x="2743200" y="1810512"/>
            <a:ext cx="15087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For each wrong answer, take the SHAP values that pushed it toward wrong.</a:t>
            </a:r>
            <a:endParaRPr b="0" i="0" sz="1200" u="none" cap="none" strike="noStrike">
              <a:solidFill>
                <a:schemeClr val="dk1"/>
              </a:solidFill>
              <a:latin typeface="Calibri"/>
              <a:ea typeface="Calibri"/>
              <a:cs typeface="Calibri"/>
              <a:sym typeface="Calibri"/>
            </a:endParaRPr>
          </a:p>
        </p:txBody>
      </p:sp>
      <p:cxnSp>
        <p:nvCxnSpPr>
          <p:cNvPr id="354" name="Google Shape;354;p18"/>
          <p:cNvCxnSpPr/>
          <p:nvPr/>
        </p:nvCxnSpPr>
        <p:spPr>
          <a:xfrm>
            <a:off x="4407408" y="2103120"/>
            <a:ext cx="329184" cy="0"/>
          </a:xfrm>
          <a:prstGeom prst="straightConnector1">
            <a:avLst/>
          </a:prstGeom>
          <a:noFill/>
          <a:ln cap="flat" cmpd="sng" w="15875">
            <a:solidFill>
              <a:schemeClr val="accent5"/>
            </a:solidFill>
            <a:prstDash val="solid"/>
            <a:round/>
            <a:headEnd len="sm" w="sm" type="none"/>
            <a:tailEnd len="med" w="med" type="triangle"/>
          </a:ln>
        </p:spPr>
      </p:cxnSp>
      <p:sp>
        <p:nvSpPr>
          <p:cNvPr id="355" name="Google Shape;355;p18"/>
          <p:cNvSpPr/>
          <p:nvPr/>
        </p:nvSpPr>
        <p:spPr>
          <a:xfrm>
            <a:off x="4754880" y="1234440"/>
            <a:ext cx="1783080" cy="1737360"/>
          </a:xfrm>
          <a:prstGeom prst="roundRect">
            <a:avLst>
              <a:gd fmla="val 4211"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8"/>
          <p:cNvSpPr/>
          <p:nvPr/>
        </p:nvSpPr>
        <p:spPr>
          <a:xfrm>
            <a:off x="4892040" y="1371600"/>
            <a:ext cx="347472" cy="347472"/>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8"/>
          <p:cNvSpPr txBox="1"/>
          <p:nvPr/>
        </p:nvSpPr>
        <p:spPr>
          <a:xfrm>
            <a:off x="4892040" y="137160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358" name="Google Shape;358;p18"/>
          <p:cNvSpPr txBox="1"/>
          <p:nvPr/>
        </p:nvSpPr>
        <p:spPr>
          <a:xfrm>
            <a:off x="5321808" y="1371600"/>
            <a:ext cx="1143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Split blame</a:t>
            </a:r>
            <a:endParaRPr b="0" i="0" sz="1500" u="none" cap="none" strike="noStrike">
              <a:solidFill>
                <a:schemeClr val="dk1"/>
              </a:solidFill>
              <a:latin typeface="Calibri"/>
              <a:ea typeface="Calibri"/>
              <a:cs typeface="Calibri"/>
              <a:sym typeface="Calibri"/>
            </a:endParaRPr>
          </a:p>
        </p:txBody>
      </p:sp>
      <p:sp>
        <p:nvSpPr>
          <p:cNvPr id="359" name="Google Shape;359;p18"/>
          <p:cNvSpPr txBox="1"/>
          <p:nvPr/>
        </p:nvSpPr>
        <p:spPr>
          <a:xfrm>
            <a:off x="4892040" y="1810512"/>
            <a:ext cx="15087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Give each wrong answer one unit of blame, shared in proportion to those values.</a:t>
            </a:r>
            <a:endParaRPr b="0" i="0" sz="1200" u="none" cap="none" strike="noStrike">
              <a:solidFill>
                <a:schemeClr val="dk1"/>
              </a:solidFill>
              <a:latin typeface="Calibri"/>
              <a:ea typeface="Calibri"/>
              <a:cs typeface="Calibri"/>
              <a:sym typeface="Calibri"/>
            </a:endParaRPr>
          </a:p>
        </p:txBody>
      </p:sp>
      <p:cxnSp>
        <p:nvCxnSpPr>
          <p:cNvPr id="360" name="Google Shape;360;p18"/>
          <p:cNvCxnSpPr/>
          <p:nvPr/>
        </p:nvCxnSpPr>
        <p:spPr>
          <a:xfrm>
            <a:off x="6556248" y="2103120"/>
            <a:ext cx="329184" cy="0"/>
          </a:xfrm>
          <a:prstGeom prst="straightConnector1">
            <a:avLst/>
          </a:prstGeom>
          <a:noFill/>
          <a:ln cap="flat" cmpd="sng" w="15875">
            <a:solidFill>
              <a:schemeClr val="accent5"/>
            </a:solidFill>
            <a:prstDash val="solid"/>
            <a:round/>
            <a:headEnd len="sm" w="sm" type="none"/>
            <a:tailEnd len="med" w="med" type="triangle"/>
          </a:ln>
        </p:spPr>
      </p:cxnSp>
      <p:sp>
        <p:nvSpPr>
          <p:cNvPr id="361" name="Google Shape;361;p18"/>
          <p:cNvSpPr/>
          <p:nvPr/>
        </p:nvSpPr>
        <p:spPr>
          <a:xfrm>
            <a:off x="6903720" y="1234440"/>
            <a:ext cx="1783080" cy="1737360"/>
          </a:xfrm>
          <a:prstGeom prst="roundRect">
            <a:avLst>
              <a:gd fmla="val 4211"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8"/>
          <p:cNvSpPr/>
          <p:nvPr/>
        </p:nvSpPr>
        <p:spPr>
          <a:xfrm>
            <a:off x="7040880" y="1371600"/>
            <a:ext cx="347472" cy="347472"/>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8"/>
          <p:cNvSpPr txBox="1"/>
          <p:nvPr/>
        </p:nvSpPr>
        <p:spPr>
          <a:xfrm>
            <a:off x="7040880" y="137160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364" name="Google Shape;364;p18"/>
          <p:cNvSpPr txBox="1"/>
          <p:nvPr/>
        </p:nvSpPr>
        <p:spPr>
          <a:xfrm>
            <a:off x="7470648" y="1371600"/>
            <a:ext cx="1143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Roll up</a:t>
            </a:r>
            <a:endParaRPr b="0" i="0" sz="1500" u="none" cap="none" strike="noStrike">
              <a:solidFill>
                <a:schemeClr val="dk1"/>
              </a:solidFill>
              <a:latin typeface="Calibri"/>
              <a:ea typeface="Calibri"/>
              <a:cs typeface="Calibri"/>
              <a:sym typeface="Calibri"/>
            </a:endParaRPr>
          </a:p>
        </p:txBody>
      </p:sp>
      <p:sp>
        <p:nvSpPr>
          <p:cNvPr id="365" name="Google Shape;365;p18"/>
          <p:cNvSpPr txBox="1"/>
          <p:nvPr/>
        </p:nvSpPr>
        <p:spPr>
          <a:xfrm>
            <a:off x="7040880" y="1810512"/>
            <a:ext cx="15087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Sum blame by control. Exposure blame stays with the question.</a:t>
            </a:r>
            <a:endParaRPr b="0" i="0" sz="1200" u="none" cap="none" strike="noStrike">
              <a:solidFill>
                <a:schemeClr val="dk1"/>
              </a:solidFill>
              <a:latin typeface="Calibri"/>
              <a:ea typeface="Calibri"/>
              <a:cs typeface="Calibri"/>
              <a:sym typeface="Calibri"/>
            </a:endParaRPr>
          </a:p>
        </p:txBody>
      </p:sp>
      <p:sp>
        <p:nvSpPr>
          <p:cNvPr id="366" name="Google Shape;366;p18"/>
          <p:cNvSpPr txBox="1"/>
          <p:nvPr/>
        </p:nvSpPr>
        <p:spPr>
          <a:xfrm>
            <a:off x="457200" y="315468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1" i="0" lang="en-US" sz="1300" u="none" cap="none" strike="noStrike">
                <a:solidFill>
                  <a:schemeClr val="dk1"/>
                </a:solidFill>
                <a:latin typeface="Calibri"/>
                <a:ea typeface="Calibri"/>
                <a:cs typeface="Calibri"/>
                <a:sym typeface="Calibri"/>
              </a:rPr>
              <a:t>Output: a ranked list of controls, by attributed wrong answers per 1,000 questions</a:t>
            </a:r>
            <a:endParaRPr b="0" i="0" sz="1300" u="none" cap="none" strike="noStrike">
              <a:solidFill>
                <a:schemeClr val="dk1"/>
              </a:solidFill>
              <a:latin typeface="Calibri"/>
              <a:ea typeface="Calibri"/>
              <a:cs typeface="Calibri"/>
              <a:sym typeface="Calibri"/>
            </a:endParaRPr>
          </a:p>
        </p:txBody>
      </p:sp>
      <p:sp>
        <p:nvSpPr>
          <p:cNvPr id="367" name="Google Shape;367;p18"/>
          <p:cNvSpPr/>
          <p:nvPr/>
        </p:nvSpPr>
        <p:spPr>
          <a:xfrm>
            <a:off x="457200" y="3566160"/>
            <a:ext cx="1554480" cy="411480"/>
          </a:xfrm>
          <a:prstGeom prst="roundRect">
            <a:avLst>
              <a:gd fmla="val 13333" name="adj"/>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8"/>
          <p:cNvSpPr txBox="1"/>
          <p:nvPr/>
        </p:nvSpPr>
        <p:spPr>
          <a:xfrm>
            <a:off x="457200" y="3566160"/>
            <a:ext cx="1554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Schema and hierarchy</a:t>
            </a:r>
            <a:endParaRPr b="0" i="0" sz="1100" u="none" cap="none" strike="noStrike">
              <a:solidFill>
                <a:schemeClr val="dk1"/>
              </a:solidFill>
              <a:latin typeface="Calibri"/>
              <a:ea typeface="Calibri"/>
              <a:cs typeface="Calibri"/>
              <a:sym typeface="Calibri"/>
            </a:endParaRPr>
          </a:p>
        </p:txBody>
      </p:sp>
      <p:sp>
        <p:nvSpPr>
          <p:cNvPr id="369" name="Google Shape;369;p18"/>
          <p:cNvSpPr/>
          <p:nvPr/>
        </p:nvSpPr>
        <p:spPr>
          <a:xfrm>
            <a:off x="2103120" y="3566160"/>
            <a:ext cx="1554480" cy="411480"/>
          </a:xfrm>
          <a:prstGeom prst="roundRect">
            <a:avLst>
              <a:gd fmla="val 13333" name="adj"/>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8"/>
          <p:cNvSpPr txBox="1"/>
          <p:nvPr/>
        </p:nvSpPr>
        <p:spPr>
          <a:xfrm>
            <a:off x="2103120" y="3566160"/>
            <a:ext cx="1554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Completeness</a:t>
            </a:r>
            <a:endParaRPr b="0" i="0" sz="1100" u="none" cap="none" strike="noStrike">
              <a:solidFill>
                <a:schemeClr val="dk1"/>
              </a:solidFill>
              <a:latin typeface="Calibri"/>
              <a:ea typeface="Calibri"/>
              <a:cs typeface="Calibri"/>
              <a:sym typeface="Calibri"/>
            </a:endParaRPr>
          </a:p>
        </p:txBody>
      </p:sp>
      <p:sp>
        <p:nvSpPr>
          <p:cNvPr id="371" name="Google Shape;371;p18"/>
          <p:cNvSpPr/>
          <p:nvPr/>
        </p:nvSpPr>
        <p:spPr>
          <a:xfrm>
            <a:off x="3749040" y="3566160"/>
            <a:ext cx="1554480" cy="411480"/>
          </a:xfrm>
          <a:prstGeom prst="roundRect">
            <a:avLst>
              <a:gd fmla="val 13333" name="adj"/>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8"/>
          <p:cNvSpPr txBox="1"/>
          <p:nvPr/>
        </p:nvSpPr>
        <p:spPr>
          <a:xfrm>
            <a:off x="3749040" y="3566160"/>
            <a:ext cx="1554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Referential integrity</a:t>
            </a:r>
            <a:endParaRPr b="0" i="0" sz="1100" u="none" cap="none" strike="noStrike">
              <a:solidFill>
                <a:schemeClr val="dk1"/>
              </a:solidFill>
              <a:latin typeface="Calibri"/>
              <a:ea typeface="Calibri"/>
              <a:cs typeface="Calibri"/>
              <a:sym typeface="Calibri"/>
            </a:endParaRPr>
          </a:p>
        </p:txBody>
      </p:sp>
      <p:sp>
        <p:nvSpPr>
          <p:cNvPr id="373" name="Google Shape;373;p18"/>
          <p:cNvSpPr/>
          <p:nvPr/>
        </p:nvSpPr>
        <p:spPr>
          <a:xfrm>
            <a:off x="5394960" y="3566160"/>
            <a:ext cx="1554480" cy="411480"/>
          </a:xfrm>
          <a:prstGeom prst="roundRect">
            <a:avLst>
              <a:gd fmla="val 13333" name="adj"/>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8"/>
          <p:cNvSpPr txBox="1"/>
          <p:nvPr/>
        </p:nvSpPr>
        <p:spPr>
          <a:xfrm>
            <a:off x="5394960" y="3566160"/>
            <a:ext cx="1554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Deduplication</a:t>
            </a:r>
            <a:endParaRPr b="0" i="0" sz="1100" u="none" cap="none" strike="noStrike">
              <a:solidFill>
                <a:schemeClr val="dk1"/>
              </a:solidFill>
              <a:latin typeface="Calibri"/>
              <a:ea typeface="Calibri"/>
              <a:cs typeface="Calibri"/>
              <a:sym typeface="Calibri"/>
            </a:endParaRPr>
          </a:p>
        </p:txBody>
      </p:sp>
      <p:sp>
        <p:nvSpPr>
          <p:cNvPr id="375" name="Google Shape;375;p18"/>
          <p:cNvSpPr/>
          <p:nvPr/>
        </p:nvSpPr>
        <p:spPr>
          <a:xfrm>
            <a:off x="7132320" y="3566160"/>
            <a:ext cx="1554480" cy="411480"/>
          </a:xfrm>
          <a:prstGeom prst="roundRect">
            <a:avLst>
              <a:gd fmla="val 13333" name="adj"/>
            </a:avLst>
          </a:prstGeom>
          <a:solidFill>
            <a:schemeClr val="lt1"/>
          </a:solidFill>
          <a:ln cap="flat" cmpd="sng" w="158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8"/>
          <p:cNvSpPr txBox="1"/>
          <p:nvPr/>
        </p:nvSpPr>
        <p:spPr>
          <a:xfrm>
            <a:off x="7132320" y="3566160"/>
            <a:ext cx="1554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Question exposure</a:t>
            </a:r>
            <a:endParaRPr b="0" i="0" sz="1100" u="none" cap="none" strike="noStrike">
              <a:solidFill>
                <a:schemeClr val="dk1"/>
              </a:solidFill>
              <a:latin typeface="Calibri"/>
              <a:ea typeface="Calibri"/>
              <a:cs typeface="Calibri"/>
              <a:sym typeface="Calibri"/>
            </a:endParaRPr>
          </a:p>
        </p:txBody>
      </p:sp>
      <p:sp>
        <p:nvSpPr>
          <p:cNvPr id="377" name="Google Shape;377;p18"/>
          <p:cNvSpPr txBox="1"/>
          <p:nvPr/>
        </p:nvSpPr>
        <p:spPr>
          <a:xfrm>
            <a:off x="7132320" y="4005072"/>
            <a:ext cx="15544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0" i="1" lang="en-US" sz="1000" u="none" cap="none" strike="noStrike">
                <a:solidFill>
                  <a:schemeClr val="dk2"/>
                </a:solidFill>
                <a:latin typeface="Calibri"/>
                <a:ea typeface="Calibri"/>
                <a:cs typeface="Calibri"/>
                <a:sym typeface="Calibri"/>
              </a:rPr>
              <a:t>not fixable</a:t>
            </a:r>
            <a:endParaRPr b="0" i="0" sz="1000" u="none" cap="none" strike="noStrike">
              <a:solidFill>
                <a:schemeClr val="dk1"/>
              </a:solidFill>
              <a:latin typeface="Calibri"/>
              <a:ea typeface="Calibri"/>
              <a:cs typeface="Calibri"/>
              <a:sym typeface="Calibri"/>
            </a:endParaRPr>
          </a:p>
        </p:txBody>
      </p:sp>
      <p:sp>
        <p:nvSpPr>
          <p:cNvPr id="378" name="Google Shape;378;p18"/>
          <p:cNvSpPr txBox="1"/>
          <p:nvPr/>
        </p:nvSpPr>
        <p:spPr>
          <a:xfrm>
            <a:off x="457200" y="4389120"/>
            <a:ext cx="7772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0" i="1" lang="en-US" sz="1000" u="none" cap="none" strike="noStrike">
                <a:solidFill>
                  <a:schemeClr val="dk2"/>
                </a:solidFill>
                <a:latin typeface="Calibri"/>
                <a:ea typeface="Calibri"/>
                <a:cs typeface="Calibri"/>
                <a:sym typeface="Calibri"/>
              </a:rPr>
              <a:t>Gradient-boosted trees (LightGBM) with TreeSHAP in the demo; any model with per-prediction attributions works.</a:t>
            </a:r>
            <a:endParaRPr b="0" i="0" sz="1000" u="none" cap="none" strike="noStrike">
              <a:solidFill>
                <a:schemeClr val="dk1"/>
              </a:solidFill>
              <a:latin typeface="Calibri"/>
              <a:ea typeface="Calibri"/>
              <a:cs typeface="Calibri"/>
              <a:sym typeface="Calibri"/>
            </a:endParaRPr>
          </a:p>
        </p:txBody>
      </p:sp>
      <p:sp>
        <p:nvSpPr>
          <p:cNvPr id="379" name="Google Shape;379;p18"/>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9"/>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What you need before day one</a:t>
            </a:r>
            <a:endParaRPr sz="2100"/>
          </a:p>
        </p:txBody>
      </p:sp>
      <p:graphicFrame>
        <p:nvGraphicFramePr>
          <p:cNvPr id="386" name="Google Shape;386;p19"/>
          <p:cNvGraphicFramePr/>
          <p:nvPr/>
        </p:nvGraphicFramePr>
        <p:xfrm>
          <a:off x="457200" y="1188720"/>
          <a:ext cx="3000000" cy="3000000"/>
        </p:xfrm>
        <a:graphic>
          <a:graphicData uri="http://schemas.openxmlformats.org/drawingml/2006/table">
            <a:tbl>
              <a:tblPr>
                <a:noFill/>
                <a:tableStyleId>{6EECCDFB-5EA0-44B6-A4F8-4B2AA8E01AB4}</a:tableStyleId>
              </a:tblPr>
              <a:tblGrid>
                <a:gridCol w="4206250"/>
                <a:gridCol w="2103125"/>
                <a:gridCol w="1920250"/>
              </a:tblGrid>
              <a:tr h="530350">
                <a:tc>
                  <a:txBody>
                    <a:bodyPr/>
                    <a:lstStyle/>
                    <a:p>
                      <a:pPr indent="0" lvl="0" marL="0" marR="0" rtl="0" algn="l">
                        <a:spcBef>
                          <a:spcPts val="0"/>
                        </a:spcBef>
                        <a:spcAft>
                          <a:spcPts val="0"/>
                        </a:spcAft>
                        <a:buClr>
                          <a:srgbClr val="B387FF"/>
                        </a:buClr>
                        <a:buSzPts val="1300"/>
                        <a:buFont typeface="Calibri"/>
                        <a:buNone/>
                      </a:pPr>
                      <a:r>
                        <a:rPr b="1" lang="en-US" sz="1300" u="none" cap="none" strike="noStrike">
                          <a:solidFill>
                            <a:srgbClr val="B387FF"/>
                          </a:solidFill>
                          <a:latin typeface="Calibri"/>
                          <a:ea typeface="Calibri"/>
                          <a:cs typeface="Calibri"/>
                          <a:sym typeface="Calibri"/>
                        </a:rPr>
                        <a:t>Artifact</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2A1F45"/>
                    </a:solidFill>
                  </a:tcPr>
                </a:tc>
                <a:tc>
                  <a:txBody>
                    <a:bodyPr/>
                    <a:lstStyle/>
                    <a:p>
                      <a:pPr indent="0" lvl="0" marL="0" marR="0" rtl="0" algn="l">
                        <a:spcBef>
                          <a:spcPts val="0"/>
                        </a:spcBef>
                        <a:spcAft>
                          <a:spcPts val="0"/>
                        </a:spcAft>
                        <a:buClr>
                          <a:srgbClr val="B387FF"/>
                        </a:buClr>
                        <a:buSzPts val="1300"/>
                        <a:buFont typeface="Calibri"/>
                        <a:buNone/>
                      </a:pPr>
                      <a:r>
                        <a:rPr b="1" lang="en-US" sz="1300" u="none" cap="none" strike="noStrike">
                          <a:solidFill>
                            <a:srgbClr val="B387FF"/>
                          </a:solidFill>
                          <a:latin typeface="Calibri"/>
                          <a:ea typeface="Calibri"/>
                          <a:cs typeface="Calibri"/>
                          <a:sym typeface="Calibri"/>
                        </a:rPr>
                        <a:t>Typical owner</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2A1F45"/>
                    </a:solidFill>
                  </a:tcPr>
                </a:tc>
                <a:tc>
                  <a:txBody>
                    <a:bodyPr/>
                    <a:lstStyle/>
                    <a:p>
                      <a:pPr indent="0" lvl="0" marL="0" marR="0" rtl="0" algn="l">
                        <a:spcBef>
                          <a:spcPts val="0"/>
                        </a:spcBef>
                        <a:spcAft>
                          <a:spcPts val="0"/>
                        </a:spcAft>
                        <a:buClr>
                          <a:srgbClr val="B387FF"/>
                        </a:buClr>
                        <a:buSzPts val="1300"/>
                        <a:buFont typeface="Calibri"/>
                        <a:buNone/>
                      </a:pPr>
                      <a:r>
                        <a:rPr b="1" lang="en-US" sz="1300" u="none" cap="none" strike="noStrike">
                          <a:solidFill>
                            <a:srgbClr val="B387FF"/>
                          </a:solidFill>
                          <a:latin typeface="Calibri"/>
                          <a:ea typeface="Calibri"/>
                          <a:cs typeface="Calibri"/>
                          <a:sym typeface="Calibri"/>
                        </a:rPr>
                        <a:t>Effort</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2A1F45"/>
                    </a:solidFill>
                  </a:tcPr>
                </a:tc>
              </a:tr>
              <a:tr h="530350">
                <a:tc>
                  <a:txBody>
                    <a:bodyPr/>
                    <a:lstStyle/>
                    <a:p>
                      <a:pPr indent="0" lvl="0" marL="0" marR="0" rtl="0" algn="l">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A golden set of hundreds of questions, with expected answers as IDs</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C9C2DC"/>
                        </a:buClr>
                        <a:buSzPts val="1300"/>
                        <a:buFont typeface="Calibri"/>
                        <a:buNone/>
                      </a:pPr>
                      <a:r>
                        <a:rPr lang="en-US" sz="1300" u="none" cap="none" strike="noStrike">
                          <a:solidFill>
                            <a:srgbClr val="C9C2DC"/>
                          </a:solidFill>
                          <a:latin typeface="Calibri"/>
                          <a:ea typeface="Calibri"/>
                          <a:cs typeface="Calibri"/>
                          <a:sym typeface="Calibri"/>
                        </a:rPr>
                        <a:t>Domain experts with the AI team</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C9C2DC"/>
                        </a:buClr>
                        <a:buSzPts val="1300"/>
                        <a:buFont typeface="Calibri"/>
                        <a:buNone/>
                      </a:pPr>
                      <a:r>
                        <a:rPr lang="en-US" sz="1300" u="none" cap="none" strike="noStrike">
                          <a:solidFill>
                            <a:srgbClr val="C9C2DC"/>
                          </a:solidFill>
                          <a:latin typeface="Calibri"/>
                          <a:ea typeface="Calibri"/>
                          <a:cs typeface="Calibri"/>
                          <a:sym typeface="Calibri"/>
                        </a:rPr>
                        <a:t>The largest cost</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r>
              <a:tr h="530350">
                <a:tc>
                  <a:txBody>
                    <a:bodyPr/>
                    <a:lstStyle/>
                    <a:p>
                      <a:pPr indent="0" lvl="0" marL="0" marR="0" rtl="0" algn="l">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Queries that return keys and their path</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C9C2DC"/>
                        </a:buClr>
                        <a:buSzPts val="1300"/>
                        <a:buFont typeface="Calibri"/>
                        <a:buNone/>
                      </a:pPr>
                      <a:r>
                        <a:rPr lang="en-US" sz="1300" u="none" cap="none" strike="noStrike">
                          <a:solidFill>
                            <a:srgbClr val="C9C2DC"/>
                          </a:solidFill>
                          <a:latin typeface="Calibri"/>
                          <a:ea typeface="Calibri"/>
                          <a:cs typeface="Calibri"/>
                          <a:sym typeface="Calibri"/>
                        </a:rPr>
                        <a:t>Graph or AI engineers</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C9C2DC"/>
                        </a:buClr>
                        <a:buSzPts val="1300"/>
                        <a:buFont typeface="Calibri"/>
                        <a:buNone/>
                      </a:pPr>
                      <a:r>
                        <a:rPr lang="en-US" sz="1300" u="none" cap="none" strike="noStrike">
                          <a:solidFill>
                            <a:srgbClr val="C9C2DC"/>
                          </a:solidFill>
                          <a:latin typeface="Calibri"/>
                          <a:ea typeface="Calibri"/>
                          <a:cs typeface="Calibri"/>
                          <a:sym typeface="Calibri"/>
                        </a:rPr>
                        <a:t>Small if the queries exist</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r>
              <a:tr h="530350">
                <a:tc>
                  <a:txBody>
                    <a:bodyPr/>
                    <a:lstStyle/>
                    <a:p>
                      <a:pPr indent="0" lvl="0" marL="0" marR="0" rtl="0" algn="l">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Constraint checks: schema, cardinality, required properties, hierarchy</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C9C2DC"/>
                        </a:buClr>
                        <a:buSzPts val="1300"/>
                        <a:buFont typeface="Calibri"/>
                        <a:buNone/>
                      </a:pPr>
                      <a:r>
                        <a:rPr lang="en-US" sz="1300" u="none" cap="none" strike="noStrike">
                          <a:solidFill>
                            <a:srgbClr val="C9C2DC"/>
                          </a:solidFill>
                          <a:latin typeface="Calibri"/>
                          <a:ea typeface="Calibri"/>
                          <a:cs typeface="Calibri"/>
                          <a:sym typeface="Calibri"/>
                        </a:rPr>
                        <a:t>Data engineering</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C9C2DC"/>
                        </a:buClr>
                        <a:buSzPts val="1300"/>
                        <a:buFont typeface="Calibri"/>
                        <a:buNone/>
                      </a:pPr>
                      <a:r>
                        <a:rPr lang="en-US" sz="1300" u="none" cap="none" strike="noStrike">
                          <a:solidFill>
                            <a:srgbClr val="C9C2DC"/>
                          </a:solidFill>
                          <a:latin typeface="Calibri"/>
                          <a:ea typeface="Calibri"/>
                          <a:cs typeface="Calibri"/>
                          <a:sym typeface="Calibri"/>
                        </a:rPr>
                        <a:t>Often already exists as data tests</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r>
              <a:tr h="530350">
                <a:tc>
                  <a:txBody>
                    <a:bodyPr/>
                    <a:lstStyle/>
                    <a:p>
                      <a:pPr indent="0" lvl="0" marL="0" marR="0" rtl="0" algn="l">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A trusted reference: the last good snapshot or the source system</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C9C2DC"/>
                        </a:buClr>
                        <a:buSzPts val="1300"/>
                        <a:buFont typeface="Calibri"/>
                        <a:buNone/>
                      </a:pPr>
                      <a:r>
                        <a:rPr lang="en-US" sz="1300" u="none" cap="none" strike="noStrike">
                          <a:solidFill>
                            <a:srgbClr val="C9C2DC"/>
                          </a:solidFill>
                          <a:latin typeface="Calibri"/>
                          <a:ea typeface="Calibri"/>
                          <a:cs typeface="Calibri"/>
                          <a:sym typeface="Calibri"/>
                        </a:rPr>
                        <a:t>Platform team</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C9C2DC"/>
                        </a:buClr>
                        <a:buSzPts val="1300"/>
                        <a:buFont typeface="Calibri"/>
                        <a:buNone/>
                      </a:pPr>
                      <a:r>
                        <a:rPr lang="en-US" sz="1300" u="none" cap="none" strike="noStrike">
                          <a:solidFill>
                            <a:srgbClr val="C9C2DC"/>
                          </a:solidFill>
                          <a:latin typeface="Calibri"/>
                          <a:ea typeface="Calibri"/>
                          <a:cs typeface="Calibri"/>
                          <a:sym typeface="Calibri"/>
                        </a:rPr>
                        <a:t>Usually exists</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r>
              <a:tr h="530350">
                <a:tc>
                  <a:txBody>
                    <a:bodyPr/>
                    <a:lstStyle/>
                    <a:p>
                      <a:pPr indent="0" lvl="0" marL="0" marR="0" rtl="0" algn="l">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A map from signals to controls, and the fix procedures</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C9C2DC"/>
                        </a:buClr>
                        <a:buSzPts val="1300"/>
                        <a:buFont typeface="Calibri"/>
                        <a:buNone/>
                      </a:pPr>
                      <a:r>
                        <a:rPr lang="en-US" sz="1300" u="none" cap="none" strike="noStrike">
                          <a:solidFill>
                            <a:srgbClr val="C9C2DC"/>
                          </a:solidFill>
                          <a:latin typeface="Calibri"/>
                          <a:ea typeface="Calibri"/>
                          <a:cs typeface="Calibri"/>
                          <a:sym typeface="Calibri"/>
                        </a:rPr>
                        <a:t>Data-quality owners</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C9C2DC"/>
                        </a:buClr>
                        <a:buSzPts val="1300"/>
                        <a:buFont typeface="Calibri"/>
                        <a:buNone/>
                      </a:pPr>
                      <a:r>
                        <a:rPr lang="en-US" sz="1300" u="none" cap="none" strike="noStrike">
                          <a:solidFill>
                            <a:srgbClr val="C9C2DC"/>
                          </a:solidFill>
                          <a:latin typeface="Calibri"/>
                          <a:ea typeface="Calibri"/>
                          <a:cs typeface="Calibri"/>
                          <a:sym typeface="Calibri"/>
                        </a:rPr>
                        <a:t>Moderate</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r>
            </a:tbl>
          </a:graphicData>
        </a:graphic>
      </p:graphicFrame>
      <p:sp>
        <p:nvSpPr>
          <p:cNvPr id="387" name="Google Shape;387;p19"/>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0"/>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The demo dataset: AdventureWorks, a manufacturer's operational database built as a graph</a:t>
            </a:r>
            <a:endParaRPr sz="2100"/>
          </a:p>
        </p:txBody>
      </p:sp>
      <p:sp>
        <p:nvSpPr>
          <p:cNvPr id="394" name="Google Shape;394;p20"/>
          <p:cNvSpPr/>
          <p:nvPr/>
        </p:nvSpPr>
        <p:spPr>
          <a:xfrm>
            <a:off x="3931920" y="2103120"/>
            <a:ext cx="1234440" cy="566928"/>
          </a:xfrm>
          <a:prstGeom prst="roundRect">
            <a:avLst>
              <a:gd fmla="val 9677" name="adj"/>
            </a:avLst>
          </a:prstGeom>
          <a:solidFill>
            <a:schemeClr val="accent6"/>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0"/>
          <p:cNvSpPr txBox="1"/>
          <p:nvPr/>
        </p:nvSpPr>
        <p:spPr>
          <a:xfrm>
            <a:off x="3931920" y="2103120"/>
            <a:ext cx="123444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1" i="0" lang="en-US" sz="1200" u="none" cap="none" strike="noStrike">
                <a:solidFill>
                  <a:schemeClr val="dk1"/>
                </a:solidFill>
                <a:latin typeface="Calibri"/>
                <a:ea typeface="Calibri"/>
                <a:cs typeface="Calibri"/>
                <a:sym typeface="Calibri"/>
              </a:rPr>
              <a:t>Product</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accent1"/>
              </a:buClr>
              <a:buSzPts val="1200"/>
              <a:buFont typeface="Calibri"/>
              <a:buNone/>
            </a:pPr>
            <a:r>
              <a:rPr b="0" i="0" lang="en-US" sz="1200" u="none" cap="none" strike="noStrike">
                <a:solidFill>
                  <a:schemeClr val="accent1"/>
                </a:solidFill>
                <a:latin typeface="Calibri"/>
                <a:ea typeface="Calibri"/>
                <a:cs typeface="Calibri"/>
                <a:sym typeface="Calibri"/>
              </a:rPr>
              <a:t>HAS_COMPONENT, any depth</a:t>
            </a:r>
            <a:endParaRPr b="0" i="0" sz="1200" u="none" cap="none" strike="noStrike">
              <a:solidFill>
                <a:schemeClr val="dk1"/>
              </a:solidFill>
              <a:latin typeface="Calibri"/>
              <a:ea typeface="Calibri"/>
              <a:cs typeface="Calibri"/>
              <a:sym typeface="Calibri"/>
            </a:endParaRPr>
          </a:p>
        </p:txBody>
      </p:sp>
      <p:sp>
        <p:nvSpPr>
          <p:cNvPr id="396" name="Google Shape;396;p20"/>
          <p:cNvSpPr/>
          <p:nvPr/>
        </p:nvSpPr>
        <p:spPr>
          <a:xfrm>
            <a:off x="457200" y="2194560"/>
            <a:ext cx="1051560" cy="384048"/>
          </a:xfrm>
          <a:prstGeom prst="roundRect">
            <a:avLst>
              <a:gd fmla="val 14286" name="adj"/>
            </a:avLst>
          </a:prstGeom>
          <a:solidFill>
            <a:schemeClr val="lt2"/>
          </a:solidFill>
          <a:ln cap="flat" cmpd="sng" w="158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0"/>
          <p:cNvSpPr txBox="1"/>
          <p:nvPr/>
        </p:nvSpPr>
        <p:spPr>
          <a:xfrm>
            <a:off x="457200" y="2194560"/>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50"/>
              <a:buFont typeface="Calibri"/>
              <a:buNone/>
            </a:pPr>
            <a:r>
              <a:rPr b="1" i="0" lang="en-US" sz="1150" u="none" cap="none" strike="noStrike">
                <a:solidFill>
                  <a:schemeClr val="dk1"/>
                </a:solidFill>
                <a:latin typeface="Calibri"/>
                <a:ea typeface="Calibri"/>
                <a:cs typeface="Calibri"/>
                <a:sym typeface="Calibri"/>
              </a:rPr>
              <a:t>PurchaseOrder</a:t>
            </a:r>
            <a:endParaRPr b="0" i="0" sz="1150" u="none" cap="none" strike="noStrike">
              <a:solidFill>
                <a:schemeClr val="dk1"/>
              </a:solidFill>
              <a:latin typeface="Calibri"/>
              <a:ea typeface="Calibri"/>
              <a:cs typeface="Calibri"/>
              <a:sym typeface="Calibri"/>
            </a:endParaRPr>
          </a:p>
        </p:txBody>
      </p:sp>
      <p:sp>
        <p:nvSpPr>
          <p:cNvPr id="398" name="Google Shape;398;p20"/>
          <p:cNvSpPr/>
          <p:nvPr/>
        </p:nvSpPr>
        <p:spPr>
          <a:xfrm>
            <a:off x="2240280" y="2194560"/>
            <a:ext cx="1051560" cy="384048"/>
          </a:xfrm>
          <a:prstGeom prst="roundRect">
            <a:avLst>
              <a:gd fmla="val 14286" name="adj"/>
            </a:avLst>
          </a:prstGeom>
          <a:solidFill>
            <a:schemeClr val="lt2"/>
          </a:solidFill>
          <a:ln cap="flat" cmpd="sng" w="158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0"/>
          <p:cNvSpPr txBox="1"/>
          <p:nvPr/>
        </p:nvSpPr>
        <p:spPr>
          <a:xfrm>
            <a:off x="2240280" y="2194560"/>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50"/>
              <a:buFont typeface="Calibri"/>
              <a:buNone/>
            </a:pPr>
            <a:r>
              <a:rPr b="1" i="0" lang="en-US" sz="1150" u="none" cap="none" strike="noStrike">
                <a:solidFill>
                  <a:schemeClr val="dk1"/>
                </a:solidFill>
                <a:latin typeface="Calibri"/>
                <a:ea typeface="Calibri"/>
                <a:cs typeface="Calibri"/>
                <a:sym typeface="Calibri"/>
              </a:rPr>
              <a:t>Vendor</a:t>
            </a:r>
            <a:endParaRPr b="0" i="0" sz="1150" u="none" cap="none" strike="noStrike">
              <a:solidFill>
                <a:schemeClr val="dk1"/>
              </a:solidFill>
              <a:latin typeface="Calibri"/>
              <a:ea typeface="Calibri"/>
              <a:cs typeface="Calibri"/>
              <a:sym typeface="Calibri"/>
            </a:endParaRPr>
          </a:p>
        </p:txBody>
      </p:sp>
      <p:sp>
        <p:nvSpPr>
          <p:cNvPr id="400" name="Google Shape;400;p20"/>
          <p:cNvSpPr/>
          <p:nvPr/>
        </p:nvSpPr>
        <p:spPr>
          <a:xfrm>
            <a:off x="4023360" y="1289304"/>
            <a:ext cx="1051560" cy="384048"/>
          </a:xfrm>
          <a:prstGeom prst="roundRect">
            <a:avLst>
              <a:gd fmla="val 14286" name="adj"/>
            </a:avLst>
          </a:prstGeom>
          <a:solidFill>
            <a:schemeClr val="lt2"/>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0"/>
          <p:cNvSpPr txBox="1"/>
          <p:nvPr/>
        </p:nvSpPr>
        <p:spPr>
          <a:xfrm>
            <a:off x="4023360" y="1289304"/>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50"/>
              <a:buFont typeface="Calibri"/>
              <a:buNone/>
            </a:pPr>
            <a:r>
              <a:rPr b="1" i="0" lang="en-US" sz="1150" u="none" cap="none" strike="noStrike">
                <a:solidFill>
                  <a:schemeClr val="dk1"/>
                </a:solidFill>
                <a:latin typeface="Calibri"/>
                <a:ea typeface="Calibri"/>
                <a:cs typeface="Calibri"/>
                <a:sym typeface="Calibri"/>
              </a:rPr>
              <a:t>Subcategory</a:t>
            </a:r>
            <a:endParaRPr b="0" i="0" sz="1150" u="none" cap="none" strike="noStrike">
              <a:solidFill>
                <a:schemeClr val="dk1"/>
              </a:solidFill>
              <a:latin typeface="Calibri"/>
              <a:ea typeface="Calibri"/>
              <a:cs typeface="Calibri"/>
              <a:sym typeface="Calibri"/>
            </a:endParaRPr>
          </a:p>
        </p:txBody>
      </p:sp>
      <p:sp>
        <p:nvSpPr>
          <p:cNvPr id="402" name="Google Shape;402;p20"/>
          <p:cNvSpPr/>
          <p:nvPr/>
        </p:nvSpPr>
        <p:spPr>
          <a:xfrm>
            <a:off x="5806440" y="1289304"/>
            <a:ext cx="1051560" cy="384048"/>
          </a:xfrm>
          <a:prstGeom prst="roundRect">
            <a:avLst>
              <a:gd fmla="val 14286" name="adj"/>
            </a:avLst>
          </a:prstGeom>
          <a:solidFill>
            <a:schemeClr val="lt2"/>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0"/>
          <p:cNvSpPr txBox="1"/>
          <p:nvPr/>
        </p:nvSpPr>
        <p:spPr>
          <a:xfrm>
            <a:off x="5806440" y="1289304"/>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50"/>
              <a:buFont typeface="Calibri"/>
              <a:buNone/>
            </a:pPr>
            <a:r>
              <a:rPr b="1" i="0" lang="en-US" sz="1150" u="none" cap="none" strike="noStrike">
                <a:solidFill>
                  <a:schemeClr val="dk1"/>
                </a:solidFill>
                <a:latin typeface="Calibri"/>
                <a:ea typeface="Calibri"/>
                <a:cs typeface="Calibri"/>
                <a:sym typeface="Calibri"/>
              </a:rPr>
              <a:t>Category</a:t>
            </a:r>
            <a:endParaRPr b="0" i="0" sz="1150" u="none" cap="none" strike="noStrike">
              <a:solidFill>
                <a:schemeClr val="dk1"/>
              </a:solidFill>
              <a:latin typeface="Calibri"/>
              <a:ea typeface="Calibri"/>
              <a:cs typeface="Calibri"/>
              <a:sym typeface="Calibri"/>
            </a:endParaRPr>
          </a:p>
        </p:txBody>
      </p:sp>
      <p:sp>
        <p:nvSpPr>
          <p:cNvPr id="404" name="Google Shape;404;p20"/>
          <p:cNvSpPr/>
          <p:nvPr/>
        </p:nvSpPr>
        <p:spPr>
          <a:xfrm>
            <a:off x="5806440" y="2194560"/>
            <a:ext cx="1051560" cy="384048"/>
          </a:xfrm>
          <a:prstGeom prst="roundRect">
            <a:avLst>
              <a:gd fmla="val 14286" name="adj"/>
            </a:avLst>
          </a:prstGeom>
          <a:solidFill>
            <a:schemeClr val="lt2"/>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0"/>
          <p:cNvSpPr txBox="1"/>
          <p:nvPr/>
        </p:nvSpPr>
        <p:spPr>
          <a:xfrm>
            <a:off x="5806440" y="2194560"/>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50"/>
              <a:buFont typeface="Calibri"/>
              <a:buNone/>
            </a:pPr>
            <a:r>
              <a:rPr b="1" i="0" lang="en-US" sz="1150" u="none" cap="none" strike="noStrike">
                <a:solidFill>
                  <a:schemeClr val="dk1"/>
                </a:solidFill>
                <a:latin typeface="Calibri"/>
                <a:ea typeface="Calibri"/>
                <a:cs typeface="Calibri"/>
                <a:sym typeface="Calibri"/>
              </a:rPr>
              <a:t>Location</a:t>
            </a:r>
            <a:endParaRPr b="0" i="0" sz="1150" u="none" cap="none" strike="noStrike">
              <a:solidFill>
                <a:schemeClr val="dk1"/>
              </a:solidFill>
              <a:latin typeface="Calibri"/>
              <a:ea typeface="Calibri"/>
              <a:cs typeface="Calibri"/>
              <a:sym typeface="Calibri"/>
            </a:endParaRPr>
          </a:p>
        </p:txBody>
      </p:sp>
      <p:sp>
        <p:nvSpPr>
          <p:cNvPr id="406" name="Google Shape;406;p20"/>
          <p:cNvSpPr/>
          <p:nvPr/>
        </p:nvSpPr>
        <p:spPr>
          <a:xfrm>
            <a:off x="2240280" y="3200400"/>
            <a:ext cx="1051560" cy="384048"/>
          </a:xfrm>
          <a:prstGeom prst="roundRect">
            <a:avLst>
              <a:gd fmla="val 14286" name="adj"/>
            </a:avLst>
          </a:prstGeom>
          <a:solidFill>
            <a:schemeClr val="lt2"/>
          </a:solidFill>
          <a:ln cap="flat" cmpd="sng" w="158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0"/>
          <p:cNvSpPr txBox="1"/>
          <p:nvPr/>
        </p:nvSpPr>
        <p:spPr>
          <a:xfrm>
            <a:off x="2240280" y="3200400"/>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50"/>
              <a:buFont typeface="Calibri"/>
              <a:buNone/>
            </a:pPr>
            <a:r>
              <a:rPr b="1" i="0" lang="en-US" sz="1150" u="none" cap="none" strike="noStrike">
                <a:solidFill>
                  <a:schemeClr val="dk1"/>
                </a:solidFill>
                <a:latin typeface="Calibri"/>
                <a:ea typeface="Calibri"/>
                <a:cs typeface="Calibri"/>
                <a:sym typeface="Calibri"/>
              </a:rPr>
              <a:t>Customer</a:t>
            </a:r>
            <a:endParaRPr b="0" i="0" sz="1150" u="none" cap="none" strike="noStrike">
              <a:solidFill>
                <a:schemeClr val="dk1"/>
              </a:solidFill>
              <a:latin typeface="Calibri"/>
              <a:ea typeface="Calibri"/>
              <a:cs typeface="Calibri"/>
              <a:sym typeface="Calibri"/>
            </a:endParaRPr>
          </a:p>
        </p:txBody>
      </p:sp>
      <p:sp>
        <p:nvSpPr>
          <p:cNvPr id="408" name="Google Shape;408;p20"/>
          <p:cNvSpPr/>
          <p:nvPr/>
        </p:nvSpPr>
        <p:spPr>
          <a:xfrm>
            <a:off x="4023360" y="3200400"/>
            <a:ext cx="1051560" cy="384048"/>
          </a:xfrm>
          <a:prstGeom prst="roundRect">
            <a:avLst>
              <a:gd fmla="val 14286" name="adj"/>
            </a:avLst>
          </a:prstGeom>
          <a:solidFill>
            <a:schemeClr val="lt2"/>
          </a:solidFill>
          <a:ln cap="flat" cmpd="sng" w="158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0"/>
          <p:cNvSpPr txBox="1"/>
          <p:nvPr/>
        </p:nvSpPr>
        <p:spPr>
          <a:xfrm>
            <a:off x="4023360" y="3200400"/>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50"/>
              <a:buFont typeface="Calibri"/>
              <a:buNone/>
            </a:pPr>
            <a:r>
              <a:rPr b="1" i="0" lang="en-US" sz="1150" u="none" cap="none" strike="noStrike">
                <a:solidFill>
                  <a:schemeClr val="dk1"/>
                </a:solidFill>
                <a:latin typeface="Calibri"/>
                <a:ea typeface="Calibri"/>
                <a:cs typeface="Calibri"/>
                <a:sym typeface="Calibri"/>
              </a:rPr>
              <a:t>SalesOrder</a:t>
            </a:r>
            <a:endParaRPr b="0" i="0" sz="1150" u="none" cap="none" strike="noStrike">
              <a:solidFill>
                <a:schemeClr val="dk1"/>
              </a:solidFill>
              <a:latin typeface="Calibri"/>
              <a:ea typeface="Calibri"/>
              <a:cs typeface="Calibri"/>
              <a:sym typeface="Calibri"/>
            </a:endParaRPr>
          </a:p>
        </p:txBody>
      </p:sp>
      <p:sp>
        <p:nvSpPr>
          <p:cNvPr id="410" name="Google Shape;410;p20"/>
          <p:cNvSpPr/>
          <p:nvPr/>
        </p:nvSpPr>
        <p:spPr>
          <a:xfrm>
            <a:off x="5806440" y="3200400"/>
            <a:ext cx="1051560" cy="384048"/>
          </a:xfrm>
          <a:prstGeom prst="roundRect">
            <a:avLst>
              <a:gd fmla="val 14286" name="adj"/>
            </a:avLst>
          </a:prstGeom>
          <a:solidFill>
            <a:schemeClr val="lt2"/>
          </a:solidFill>
          <a:ln cap="flat" cmpd="sng" w="158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0"/>
          <p:cNvSpPr txBox="1"/>
          <p:nvPr/>
        </p:nvSpPr>
        <p:spPr>
          <a:xfrm>
            <a:off x="5806440" y="3200400"/>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50"/>
              <a:buFont typeface="Calibri"/>
              <a:buNone/>
            </a:pPr>
            <a:r>
              <a:rPr b="1" i="0" lang="en-US" sz="1150" u="none" cap="none" strike="noStrike">
                <a:solidFill>
                  <a:schemeClr val="dk1"/>
                </a:solidFill>
                <a:latin typeface="Calibri"/>
                <a:ea typeface="Calibri"/>
                <a:cs typeface="Calibri"/>
                <a:sym typeface="Calibri"/>
              </a:rPr>
              <a:t>SalesPerson</a:t>
            </a:r>
            <a:endParaRPr b="0" i="0" sz="1150" u="none" cap="none" strike="noStrike">
              <a:solidFill>
                <a:schemeClr val="dk1"/>
              </a:solidFill>
              <a:latin typeface="Calibri"/>
              <a:ea typeface="Calibri"/>
              <a:cs typeface="Calibri"/>
              <a:sym typeface="Calibri"/>
            </a:endParaRPr>
          </a:p>
        </p:txBody>
      </p:sp>
      <p:sp>
        <p:nvSpPr>
          <p:cNvPr id="412" name="Google Shape;412;p20"/>
          <p:cNvSpPr/>
          <p:nvPr/>
        </p:nvSpPr>
        <p:spPr>
          <a:xfrm>
            <a:off x="2240280" y="4069080"/>
            <a:ext cx="1051560" cy="384048"/>
          </a:xfrm>
          <a:prstGeom prst="roundRect">
            <a:avLst>
              <a:gd fmla="val 14286" name="adj"/>
            </a:avLst>
          </a:prstGeom>
          <a:solidFill>
            <a:schemeClr val="lt2"/>
          </a:solidFill>
          <a:ln cap="flat" cmpd="sng" w="158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0"/>
          <p:cNvSpPr txBox="1"/>
          <p:nvPr/>
        </p:nvSpPr>
        <p:spPr>
          <a:xfrm>
            <a:off x="2240280" y="4069080"/>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50"/>
              <a:buFont typeface="Calibri"/>
              <a:buNone/>
            </a:pPr>
            <a:r>
              <a:rPr b="1" i="0" lang="en-US" sz="1150" u="none" cap="none" strike="noStrike">
                <a:solidFill>
                  <a:schemeClr val="dk1"/>
                </a:solidFill>
                <a:latin typeface="Calibri"/>
                <a:ea typeface="Calibri"/>
                <a:cs typeface="Calibri"/>
                <a:sym typeface="Calibri"/>
              </a:rPr>
              <a:t>Store</a:t>
            </a:r>
            <a:endParaRPr b="0" i="0" sz="1150" u="none" cap="none" strike="noStrike">
              <a:solidFill>
                <a:schemeClr val="dk1"/>
              </a:solidFill>
              <a:latin typeface="Calibri"/>
              <a:ea typeface="Calibri"/>
              <a:cs typeface="Calibri"/>
              <a:sym typeface="Calibri"/>
            </a:endParaRPr>
          </a:p>
        </p:txBody>
      </p:sp>
      <p:sp>
        <p:nvSpPr>
          <p:cNvPr id="414" name="Google Shape;414;p20"/>
          <p:cNvSpPr/>
          <p:nvPr/>
        </p:nvSpPr>
        <p:spPr>
          <a:xfrm>
            <a:off x="4023360" y="4069080"/>
            <a:ext cx="1051560" cy="384048"/>
          </a:xfrm>
          <a:prstGeom prst="roundRect">
            <a:avLst>
              <a:gd fmla="val 14286" name="adj"/>
            </a:avLst>
          </a:prstGeom>
          <a:solidFill>
            <a:schemeClr val="lt2"/>
          </a:solidFill>
          <a:ln cap="flat" cmpd="sng" w="158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0"/>
          <p:cNvSpPr txBox="1"/>
          <p:nvPr/>
        </p:nvSpPr>
        <p:spPr>
          <a:xfrm>
            <a:off x="4023360" y="4069080"/>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50"/>
              <a:buFont typeface="Calibri"/>
              <a:buNone/>
            </a:pPr>
            <a:r>
              <a:rPr b="1" i="0" lang="en-US" sz="1150" u="none" cap="none" strike="noStrike">
                <a:solidFill>
                  <a:schemeClr val="dk1"/>
                </a:solidFill>
                <a:latin typeface="Calibri"/>
                <a:ea typeface="Calibri"/>
                <a:cs typeface="Calibri"/>
                <a:sym typeface="Calibri"/>
              </a:rPr>
              <a:t>Territory</a:t>
            </a:r>
            <a:endParaRPr b="0" i="0" sz="1150" u="none" cap="none" strike="noStrike">
              <a:solidFill>
                <a:schemeClr val="dk1"/>
              </a:solidFill>
              <a:latin typeface="Calibri"/>
              <a:ea typeface="Calibri"/>
              <a:cs typeface="Calibri"/>
              <a:sym typeface="Calibri"/>
            </a:endParaRPr>
          </a:p>
        </p:txBody>
      </p:sp>
      <p:sp>
        <p:nvSpPr>
          <p:cNvPr id="416" name="Google Shape;416;p20"/>
          <p:cNvSpPr/>
          <p:nvPr/>
        </p:nvSpPr>
        <p:spPr>
          <a:xfrm>
            <a:off x="5806440" y="4069080"/>
            <a:ext cx="1051560" cy="384048"/>
          </a:xfrm>
          <a:prstGeom prst="roundRect">
            <a:avLst>
              <a:gd fmla="val 14286" name="adj"/>
            </a:avLst>
          </a:prstGeom>
          <a:solidFill>
            <a:schemeClr val="lt2"/>
          </a:solidFill>
          <a:ln cap="flat" cmpd="sng" w="158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0"/>
          <p:cNvSpPr txBox="1"/>
          <p:nvPr/>
        </p:nvSpPr>
        <p:spPr>
          <a:xfrm>
            <a:off x="5806440" y="4069080"/>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50"/>
              <a:buFont typeface="Calibri"/>
              <a:buNone/>
            </a:pPr>
            <a:r>
              <a:rPr b="1" i="0" lang="en-US" sz="1150" u="none" cap="none" strike="noStrike">
                <a:solidFill>
                  <a:schemeClr val="dk1"/>
                </a:solidFill>
                <a:latin typeface="Calibri"/>
                <a:ea typeface="Calibri"/>
                <a:cs typeface="Calibri"/>
                <a:sym typeface="Calibri"/>
              </a:rPr>
              <a:t>Employee</a:t>
            </a:r>
            <a:endParaRPr b="0" i="0" sz="1150" u="none" cap="none" strike="noStrike">
              <a:solidFill>
                <a:schemeClr val="dk1"/>
              </a:solidFill>
              <a:latin typeface="Calibri"/>
              <a:ea typeface="Calibri"/>
              <a:cs typeface="Calibri"/>
              <a:sym typeface="Calibri"/>
            </a:endParaRPr>
          </a:p>
        </p:txBody>
      </p:sp>
      <p:cxnSp>
        <p:nvCxnSpPr>
          <p:cNvPr id="418" name="Google Shape;418;p20"/>
          <p:cNvCxnSpPr/>
          <p:nvPr/>
        </p:nvCxnSpPr>
        <p:spPr>
          <a:xfrm>
            <a:off x="1527048" y="2386584"/>
            <a:ext cx="694944" cy="0"/>
          </a:xfrm>
          <a:prstGeom prst="straightConnector1">
            <a:avLst/>
          </a:prstGeom>
          <a:noFill/>
          <a:ln cap="flat" cmpd="sng" w="15875">
            <a:solidFill>
              <a:schemeClr val="accent5"/>
            </a:solidFill>
            <a:prstDash val="solid"/>
            <a:round/>
            <a:headEnd len="sm" w="sm" type="none"/>
            <a:tailEnd len="med" w="med" type="triangle"/>
          </a:ln>
        </p:spPr>
      </p:cxnSp>
      <p:sp>
        <p:nvSpPr>
          <p:cNvPr id="419" name="Google Shape;419;p20"/>
          <p:cNvSpPr txBox="1"/>
          <p:nvPr/>
        </p:nvSpPr>
        <p:spPr>
          <a:xfrm>
            <a:off x="1424635" y="1956816"/>
            <a:ext cx="89977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0" i="0" lang="en-US" sz="1000" u="none" cap="none" strike="noStrike">
                <a:solidFill>
                  <a:schemeClr val="dk2"/>
                </a:solidFill>
                <a:latin typeface="Calibri"/>
                <a:ea typeface="Calibri"/>
                <a:cs typeface="Calibri"/>
                <a:sym typeface="Calibri"/>
              </a:rPr>
              <a:t>ORDERED_FROM</a:t>
            </a:r>
            <a:endParaRPr b="0" i="0" sz="1000" u="none" cap="none" strike="noStrike">
              <a:solidFill>
                <a:schemeClr val="dk1"/>
              </a:solidFill>
              <a:latin typeface="Calibri"/>
              <a:ea typeface="Calibri"/>
              <a:cs typeface="Calibri"/>
              <a:sym typeface="Calibri"/>
            </a:endParaRPr>
          </a:p>
        </p:txBody>
      </p:sp>
      <p:cxnSp>
        <p:nvCxnSpPr>
          <p:cNvPr id="420" name="Google Shape;420;p20"/>
          <p:cNvCxnSpPr/>
          <p:nvPr/>
        </p:nvCxnSpPr>
        <p:spPr>
          <a:xfrm>
            <a:off x="3310128" y="2386584"/>
            <a:ext cx="603504" cy="0"/>
          </a:xfrm>
          <a:prstGeom prst="straightConnector1">
            <a:avLst/>
          </a:prstGeom>
          <a:noFill/>
          <a:ln cap="flat" cmpd="sng" w="15875">
            <a:solidFill>
              <a:schemeClr val="accent5"/>
            </a:solidFill>
            <a:prstDash val="solid"/>
            <a:round/>
            <a:headEnd len="sm" w="sm" type="none"/>
            <a:tailEnd len="med" w="med" type="triangle"/>
          </a:ln>
        </p:spPr>
      </p:cxnSp>
      <p:sp>
        <p:nvSpPr>
          <p:cNvPr id="421" name="Google Shape;421;p20"/>
          <p:cNvSpPr txBox="1"/>
          <p:nvPr/>
        </p:nvSpPr>
        <p:spPr>
          <a:xfrm>
            <a:off x="3291840" y="1956816"/>
            <a:ext cx="64008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0" i="0" lang="en-US" sz="1000" u="none" cap="none" strike="noStrike">
                <a:solidFill>
                  <a:schemeClr val="dk2"/>
                </a:solidFill>
                <a:latin typeface="Calibri"/>
                <a:ea typeface="Calibri"/>
                <a:cs typeface="Calibri"/>
                <a:sym typeface="Calibri"/>
              </a:rPr>
              <a:t>SUPPLIES</a:t>
            </a:r>
            <a:endParaRPr b="0" i="0" sz="1000" u="none" cap="none" strike="noStrike">
              <a:solidFill>
                <a:schemeClr val="dk1"/>
              </a:solidFill>
              <a:latin typeface="Calibri"/>
              <a:ea typeface="Calibri"/>
              <a:cs typeface="Calibri"/>
              <a:sym typeface="Calibri"/>
            </a:endParaRPr>
          </a:p>
        </p:txBody>
      </p:sp>
      <p:cxnSp>
        <p:nvCxnSpPr>
          <p:cNvPr id="422" name="Google Shape;422;p20"/>
          <p:cNvCxnSpPr/>
          <p:nvPr/>
        </p:nvCxnSpPr>
        <p:spPr>
          <a:xfrm>
            <a:off x="5184648" y="2386584"/>
            <a:ext cx="603504" cy="0"/>
          </a:xfrm>
          <a:prstGeom prst="straightConnector1">
            <a:avLst/>
          </a:prstGeom>
          <a:noFill/>
          <a:ln cap="flat" cmpd="sng" w="15875">
            <a:solidFill>
              <a:schemeClr val="accent5"/>
            </a:solidFill>
            <a:prstDash val="solid"/>
            <a:round/>
            <a:headEnd len="sm" w="sm" type="none"/>
            <a:tailEnd len="med" w="med" type="triangle"/>
          </a:ln>
        </p:spPr>
      </p:cxnSp>
      <p:sp>
        <p:nvSpPr>
          <p:cNvPr id="423" name="Google Shape;423;p20"/>
          <p:cNvSpPr txBox="1"/>
          <p:nvPr/>
        </p:nvSpPr>
        <p:spPr>
          <a:xfrm>
            <a:off x="5102352" y="1956816"/>
            <a:ext cx="768096"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0" i="0" lang="en-US" sz="1000" u="none" cap="none" strike="noStrike">
                <a:solidFill>
                  <a:schemeClr val="dk2"/>
                </a:solidFill>
                <a:latin typeface="Calibri"/>
                <a:ea typeface="Calibri"/>
                <a:cs typeface="Calibri"/>
                <a:sym typeface="Calibri"/>
              </a:rPr>
              <a:t>STOCKED_AT</a:t>
            </a:r>
            <a:endParaRPr b="0" i="0" sz="1000" u="none" cap="none" strike="noStrike">
              <a:solidFill>
                <a:schemeClr val="dk1"/>
              </a:solidFill>
              <a:latin typeface="Calibri"/>
              <a:ea typeface="Calibri"/>
              <a:cs typeface="Calibri"/>
              <a:sym typeface="Calibri"/>
            </a:endParaRPr>
          </a:p>
        </p:txBody>
      </p:sp>
      <p:cxnSp>
        <p:nvCxnSpPr>
          <p:cNvPr id="424" name="Google Shape;424;p20"/>
          <p:cNvCxnSpPr/>
          <p:nvPr/>
        </p:nvCxnSpPr>
        <p:spPr>
          <a:xfrm>
            <a:off x="5093208" y="1481328"/>
            <a:ext cx="694944" cy="0"/>
          </a:xfrm>
          <a:prstGeom prst="straightConnector1">
            <a:avLst/>
          </a:prstGeom>
          <a:noFill/>
          <a:ln cap="flat" cmpd="sng" w="15875">
            <a:solidFill>
              <a:schemeClr val="accent5"/>
            </a:solidFill>
            <a:prstDash val="solid"/>
            <a:round/>
            <a:headEnd len="sm" w="sm" type="none"/>
            <a:tailEnd len="med" w="med" type="triangle"/>
          </a:ln>
        </p:spPr>
      </p:cxnSp>
      <p:sp>
        <p:nvSpPr>
          <p:cNvPr id="425" name="Google Shape;425;p20"/>
          <p:cNvSpPr txBox="1"/>
          <p:nvPr/>
        </p:nvSpPr>
        <p:spPr>
          <a:xfrm>
            <a:off x="5023714" y="1051560"/>
            <a:ext cx="833933"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0" i="0" lang="en-US" sz="1000" u="none" cap="none" strike="noStrike">
                <a:solidFill>
                  <a:schemeClr val="dk2"/>
                </a:solidFill>
                <a:latin typeface="Calibri"/>
                <a:ea typeface="Calibri"/>
                <a:cs typeface="Calibri"/>
                <a:sym typeface="Calibri"/>
              </a:rPr>
              <a:t>IN_CATEGORY</a:t>
            </a:r>
            <a:endParaRPr b="0" i="0" sz="1000" u="none" cap="none" strike="noStrike">
              <a:solidFill>
                <a:schemeClr val="dk1"/>
              </a:solidFill>
              <a:latin typeface="Calibri"/>
              <a:ea typeface="Calibri"/>
              <a:cs typeface="Calibri"/>
              <a:sym typeface="Calibri"/>
            </a:endParaRPr>
          </a:p>
        </p:txBody>
      </p:sp>
      <p:cxnSp>
        <p:nvCxnSpPr>
          <p:cNvPr id="426" name="Google Shape;426;p20"/>
          <p:cNvCxnSpPr/>
          <p:nvPr/>
        </p:nvCxnSpPr>
        <p:spPr>
          <a:xfrm>
            <a:off x="3310128" y="3392424"/>
            <a:ext cx="694944" cy="0"/>
          </a:xfrm>
          <a:prstGeom prst="straightConnector1">
            <a:avLst/>
          </a:prstGeom>
          <a:noFill/>
          <a:ln cap="flat" cmpd="sng" w="15875">
            <a:solidFill>
              <a:schemeClr val="accent5"/>
            </a:solidFill>
            <a:prstDash val="solid"/>
            <a:round/>
            <a:headEnd len="sm" w="sm" type="none"/>
            <a:tailEnd len="med" w="med" type="triangle"/>
          </a:ln>
        </p:spPr>
      </p:cxnSp>
      <p:sp>
        <p:nvSpPr>
          <p:cNvPr id="427" name="Google Shape;427;p20"/>
          <p:cNvSpPr txBox="1"/>
          <p:nvPr/>
        </p:nvSpPr>
        <p:spPr>
          <a:xfrm>
            <a:off x="3291840" y="2962656"/>
            <a:ext cx="73152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0" i="0" lang="en-US" sz="1000" u="none" cap="none" strike="noStrike">
                <a:solidFill>
                  <a:schemeClr val="dk2"/>
                </a:solidFill>
                <a:latin typeface="Calibri"/>
                <a:ea typeface="Calibri"/>
                <a:cs typeface="Calibri"/>
                <a:sym typeface="Calibri"/>
              </a:rPr>
              <a:t>PLACED</a:t>
            </a:r>
            <a:endParaRPr b="0" i="0" sz="1000" u="none" cap="none" strike="noStrike">
              <a:solidFill>
                <a:schemeClr val="dk1"/>
              </a:solidFill>
              <a:latin typeface="Calibri"/>
              <a:ea typeface="Calibri"/>
              <a:cs typeface="Calibri"/>
              <a:sym typeface="Calibri"/>
            </a:endParaRPr>
          </a:p>
        </p:txBody>
      </p:sp>
      <p:cxnSp>
        <p:nvCxnSpPr>
          <p:cNvPr id="428" name="Google Shape;428;p20"/>
          <p:cNvCxnSpPr/>
          <p:nvPr/>
        </p:nvCxnSpPr>
        <p:spPr>
          <a:xfrm>
            <a:off x="5093208" y="3392424"/>
            <a:ext cx="694944" cy="0"/>
          </a:xfrm>
          <a:prstGeom prst="straightConnector1">
            <a:avLst/>
          </a:prstGeom>
          <a:noFill/>
          <a:ln cap="flat" cmpd="sng" w="15875">
            <a:solidFill>
              <a:schemeClr val="accent5"/>
            </a:solidFill>
            <a:prstDash val="solid"/>
            <a:round/>
            <a:headEnd len="sm" w="sm" type="none"/>
            <a:tailEnd len="med" w="med" type="triangle"/>
          </a:ln>
        </p:spPr>
      </p:cxnSp>
      <p:sp>
        <p:nvSpPr>
          <p:cNvPr id="429" name="Google Shape;429;p20"/>
          <p:cNvSpPr txBox="1"/>
          <p:nvPr/>
        </p:nvSpPr>
        <p:spPr>
          <a:xfrm>
            <a:off x="5074920" y="2962656"/>
            <a:ext cx="73152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0" i="0" lang="en-US" sz="1000" u="none" cap="none" strike="noStrike">
                <a:solidFill>
                  <a:schemeClr val="dk2"/>
                </a:solidFill>
                <a:latin typeface="Calibri"/>
                <a:ea typeface="Calibri"/>
                <a:cs typeface="Calibri"/>
                <a:sym typeface="Calibri"/>
              </a:rPr>
              <a:t>SOLD_BY</a:t>
            </a:r>
            <a:endParaRPr b="0" i="0" sz="1000" u="none" cap="none" strike="noStrike">
              <a:solidFill>
                <a:schemeClr val="dk1"/>
              </a:solidFill>
              <a:latin typeface="Calibri"/>
              <a:ea typeface="Calibri"/>
              <a:cs typeface="Calibri"/>
              <a:sym typeface="Calibri"/>
            </a:endParaRPr>
          </a:p>
        </p:txBody>
      </p:sp>
      <p:cxnSp>
        <p:nvCxnSpPr>
          <p:cNvPr id="430" name="Google Shape;430;p20"/>
          <p:cNvCxnSpPr/>
          <p:nvPr/>
        </p:nvCxnSpPr>
        <p:spPr>
          <a:xfrm rot="10800000">
            <a:off x="4549140" y="1691640"/>
            <a:ext cx="0" cy="393192"/>
          </a:xfrm>
          <a:prstGeom prst="straightConnector1">
            <a:avLst/>
          </a:prstGeom>
          <a:noFill/>
          <a:ln cap="flat" cmpd="sng" w="15875">
            <a:solidFill>
              <a:schemeClr val="accent5"/>
            </a:solidFill>
            <a:prstDash val="solid"/>
            <a:round/>
            <a:headEnd len="sm" w="sm" type="none"/>
            <a:tailEnd len="med" w="med" type="triangle"/>
          </a:ln>
        </p:spPr>
      </p:cxnSp>
      <p:sp>
        <p:nvSpPr>
          <p:cNvPr id="431" name="Google Shape;431;p20"/>
          <p:cNvSpPr txBox="1"/>
          <p:nvPr/>
        </p:nvSpPr>
        <p:spPr>
          <a:xfrm>
            <a:off x="3479292" y="1751076"/>
            <a:ext cx="100584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2"/>
              </a:buClr>
              <a:buSzPts val="1000"/>
              <a:buFont typeface="Calibri"/>
              <a:buNone/>
            </a:pPr>
            <a:r>
              <a:rPr b="0" i="0" lang="en-US" sz="1000" u="none" cap="none" strike="noStrike">
                <a:solidFill>
                  <a:schemeClr val="dk2"/>
                </a:solidFill>
                <a:latin typeface="Calibri"/>
                <a:ea typeface="Calibri"/>
                <a:cs typeface="Calibri"/>
                <a:sym typeface="Calibri"/>
              </a:rPr>
              <a:t>IN_SUBCATEGORY</a:t>
            </a:r>
            <a:endParaRPr b="0" i="0" sz="1000" u="none" cap="none" strike="noStrike">
              <a:solidFill>
                <a:schemeClr val="dk1"/>
              </a:solidFill>
              <a:latin typeface="Calibri"/>
              <a:ea typeface="Calibri"/>
              <a:cs typeface="Calibri"/>
              <a:sym typeface="Calibri"/>
            </a:endParaRPr>
          </a:p>
        </p:txBody>
      </p:sp>
      <p:cxnSp>
        <p:nvCxnSpPr>
          <p:cNvPr id="432" name="Google Shape;432;p20"/>
          <p:cNvCxnSpPr/>
          <p:nvPr/>
        </p:nvCxnSpPr>
        <p:spPr>
          <a:xfrm rot="10800000">
            <a:off x="4549140" y="2688336"/>
            <a:ext cx="0" cy="493776"/>
          </a:xfrm>
          <a:prstGeom prst="straightConnector1">
            <a:avLst/>
          </a:prstGeom>
          <a:noFill/>
          <a:ln cap="flat" cmpd="sng" w="15875">
            <a:solidFill>
              <a:schemeClr val="accent5"/>
            </a:solidFill>
            <a:prstDash val="solid"/>
            <a:round/>
            <a:headEnd len="sm" w="sm" type="none"/>
            <a:tailEnd len="med" w="med" type="triangle"/>
          </a:ln>
        </p:spPr>
      </p:cxnSp>
      <p:sp>
        <p:nvSpPr>
          <p:cNvPr id="433" name="Google Shape;433;p20"/>
          <p:cNvSpPr txBox="1"/>
          <p:nvPr/>
        </p:nvSpPr>
        <p:spPr>
          <a:xfrm>
            <a:off x="3479292" y="2779776"/>
            <a:ext cx="100584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2"/>
              </a:buClr>
              <a:buSzPts val="1000"/>
              <a:buFont typeface="Calibri"/>
              <a:buNone/>
            </a:pPr>
            <a:r>
              <a:rPr b="0" i="0" lang="en-US" sz="1000" u="none" cap="none" strike="noStrike">
                <a:solidFill>
                  <a:schemeClr val="dk2"/>
                </a:solidFill>
                <a:latin typeface="Calibri"/>
                <a:ea typeface="Calibri"/>
                <a:cs typeface="Calibri"/>
                <a:sym typeface="Calibri"/>
              </a:rPr>
              <a:t>CONTAINS</a:t>
            </a:r>
            <a:endParaRPr b="0" i="0" sz="1000" u="none" cap="none" strike="noStrike">
              <a:solidFill>
                <a:schemeClr val="dk1"/>
              </a:solidFill>
              <a:latin typeface="Calibri"/>
              <a:ea typeface="Calibri"/>
              <a:cs typeface="Calibri"/>
              <a:sym typeface="Calibri"/>
            </a:endParaRPr>
          </a:p>
        </p:txBody>
      </p:sp>
      <p:cxnSp>
        <p:nvCxnSpPr>
          <p:cNvPr id="434" name="Google Shape;434;p20"/>
          <p:cNvCxnSpPr/>
          <p:nvPr/>
        </p:nvCxnSpPr>
        <p:spPr>
          <a:xfrm>
            <a:off x="4549140" y="3602736"/>
            <a:ext cx="0" cy="448056"/>
          </a:xfrm>
          <a:prstGeom prst="straightConnector1">
            <a:avLst/>
          </a:prstGeom>
          <a:noFill/>
          <a:ln cap="flat" cmpd="sng" w="15875">
            <a:solidFill>
              <a:schemeClr val="accent5"/>
            </a:solidFill>
            <a:prstDash val="solid"/>
            <a:round/>
            <a:headEnd len="sm" w="sm" type="none"/>
            <a:tailEnd len="med" w="med" type="triangle"/>
          </a:ln>
        </p:spPr>
      </p:cxnSp>
      <p:sp>
        <p:nvSpPr>
          <p:cNvPr id="435" name="Google Shape;435;p20"/>
          <p:cNvSpPr txBox="1"/>
          <p:nvPr/>
        </p:nvSpPr>
        <p:spPr>
          <a:xfrm>
            <a:off x="4613148" y="3726180"/>
            <a:ext cx="7315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0" i="0" lang="en-US" sz="1000" u="none" cap="none" strike="noStrike">
                <a:solidFill>
                  <a:schemeClr val="dk2"/>
                </a:solidFill>
                <a:latin typeface="Calibri"/>
                <a:ea typeface="Calibri"/>
                <a:cs typeface="Calibri"/>
                <a:sym typeface="Calibri"/>
              </a:rPr>
              <a:t>BOOKED_IN</a:t>
            </a:r>
            <a:endParaRPr b="0" i="0" sz="1000" u="none" cap="none" strike="noStrike">
              <a:solidFill>
                <a:schemeClr val="dk1"/>
              </a:solidFill>
              <a:latin typeface="Calibri"/>
              <a:ea typeface="Calibri"/>
              <a:cs typeface="Calibri"/>
              <a:sym typeface="Calibri"/>
            </a:endParaRPr>
          </a:p>
        </p:txBody>
      </p:sp>
      <p:cxnSp>
        <p:nvCxnSpPr>
          <p:cNvPr id="436" name="Google Shape;436;p20"/>
          <p:cNvCxnSpPr/>
          <p:nvPr/>
        </p:nvCxnSpPr>
        <p:spPr>
          <a:xfrm>
            <a:off x="6332220" y="3602736"/>
            <a:ext cx="0" cy="448056"/>
          </a:xfrm>
          <a:prstGeom prst="straightConnector1">
            <a:avLst/>
          </a:prstGeom>
          <a:noFill/>
          <a:ln cap="flat" cmpd="sng" w="15875">
            <a:solidFill>
              <a:schemeClr val="accent5"/>
            </a:solidFill>
            <a:prstDash val="solid"/>
            <a:round/>
            <a:headEnd len="sm" w="sm" type="none"/>
            <a:tailEnd len="med" w="med" type="triangle"/>
          </a:ln>
        </p:spPr>
      </p:cxnSp>
      <p:sp>
        <p:nvSpPr>
          <p:cNvPr id="437" name="Google Shape;437;p20"/>
          <p:cNvSpPr txBox="1"/>
          <p:nvPr/>
        </p:nvSpPr>
        <p:spPr>
          <a:xfrm>
            <a:off x="5399532" y="3726180"/>
            <a:ext cx="8686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2"/>
              </a:buClr>
              <a:buSzPts val="1000"/>
              <a:buFont typeface="Calibri"/>
              <a:buNone/>
            </a:pPr>
            <a:r>
              <a:rPr b="0" i="0" lang="en-US" sz="1000" u="none" cap="none" strike="noStrike">
                <a:solidFill>
                  <a:schemeClr val="dk2"/>
                </a:solidFill>
                <a:latin typeface="Calibri"/>
                <a:ea typeface="Calibri"/>
                <a:cs typeface="Calibri"/>
                <a:sym typeface="Calibri"/>
              </a:rPr>
              <a:t>IS_EMPLOYEE</a:t>
            </a:r>
            <a:endParaRPr b="0" i="0" sz="1000" u="none" cap="none" strike="noStrike">
              <a:solidFill>
                <a:schemeClr val="dk1"/>
              </a:solidFill>
              <a:latin typeface="Calibri"/>
              <a:ea typeface="Calibri"/>
              <a:cs typeface="Calibri"/>
              <a:sym typeface="Calibri"/>
            </a:endParaRPr>
          </a:p>
        </p:txBody>
      </p:sp>
      <p:cxnSp>
        <p:nvCxnSpPr>
          <p:cNvPr id="438" name="Google Shape;438;p20"/>
          <p:cNvCxnSpPr/>
          <p:nvPr/>
        </p:nvCxnSpPr>
        <p:spPr>
          <a:xfrm>
            <a:off x="2766060" y="3602736"/>
            <a:ext cx="0" cy="448056"/>
          </a:xfrm>
          <a:prstGeom prst="straightConnector1">
            <a:avLst/>
          </a:prstGeom>
          <a:noFill/>
          <a:ln cap="flat" cmpd="sng" w="15875">
            <a:solidFill>
              <a:schemeClr val="accent5"/>
            </a:solidFill>
            <a:prstDash val="solid"/>
            <a:round/>
            <a:headEnd len="sm" w="sm" type="none"/>
            <a:tailEnd len="med" w="med" type="triangle"/>
          </a:ln>
        </p:spPr>
      </p:cxnSp>
      <p:sp>
        <p:nvSpPr>
          <p:cNvPr id="439" name="Google Shape;439;p20"/>
          <p:cNvSpPr txBox="1"/>
          <p:nvPr/>
        </p:nvSpPr>
        <p:spPr>
          <a:xfrm>
            <a:off x="2830068" y="3726180"/>
            <a:ext cx="914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0" i="0" lang="en-US" sz="1000" u="none" cap="none" strike="noStrike">
                <a:solidFill>
                  <a:schemeClr val="dk2"/>
                </a:solidFill>
                <a:latin typeface="Calibri"/>
                <a:ea typeface="Calibri"/>
                <a:cs typeface="Calibri"/>
                <a:sym typeface="Calibri"/>
              </a:rPr>
              <a:t>BELONGS_TO</a:t>
            </a:r>
            <a:endParaRPr b="0" i="0" sz="1000" u="none" cap="none" strike="noStrike">
              <a:solidFill>
                <a:schemeClr val="dk1"/>
              </a:solidFill>
              <a:latin typeface="Calibri"/>
              <a:ea typeface="Calibri"/>
              <a:cs typeface="Calibri"/>
              <a:sym typeface="Calibri"/>
            </a:endParaRPr>
          </a:p>
        </p:txBody>
      </p:sp>
      <p:sp>
        <p:nvSpPr>
          <p:cNvPr id="440" name="Google Shape;440;p20"/>
          <p:cNvSpPr txBox="1"/>
          <p:nvPr/>
        </p:nvSpPr>
        <p:spPr>
          <a:xfrm>
            <a:off x="7086600" y="1188720"/>
            <a:ext cx="160020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Microsoft's sample database for a bicycle manufacturer, MIT licensed.</a:t>
            </a:r>
            <a:endParaRPr b="0" i="0" sz="1200" u="none" cap="none" strike="noStrike">
              <a:solidFill>
                <a:schemeClr val="dk1"/>
              </a:solidFill>
              <a:latin typeface="Calibri"/>
              <a:ea typeface="Calibri"/>
              <a:cs typeface="Calibri"/>
              <a:sym typeface="Calibri"/>
            </a:endParaRPr>
          </a:p>
        </p:txBody>
      </p:sp>
      <p:sp>
        <p:nvSpPr>
          <p:cNvPr id="441" name="Google Shape;441;p20"/>
          <p:cNvSpPr txBox="1"/>
          <p:nvPr/>
        </p:nvSpPr>
        <p:spPr>
          <a:xfrm>
            <a:off x="7086600" y="2103120"/>
            <a:ext cx="160020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17 entity types, 22 relationship types; 57K entities, 271K relationships.</a:t>
            </a:r>
            <a:endParaRPr b="0" i="0" sz="1200" u="none" cap="none" strike="noStrike">
              <a:solidFill>
                <a:schemeClr val="dk1"/>
              </a:solidFill>
              <a:latin typeface="Calibri"/>
              <a:ea typeface="Calibri"/>
              <a:cs typeface="Calibri"/>
              <a:sym typeface="Calibri"/>
            </a:endParaRPr>
          </a:p>
        </p:txBody>
      </p:sp>
      <p:sp>
        <p:nvSpPr>
          <p:cNvPr id="442" name="Google Shape;442;p20"/>
          <p:cNvSpPr txBox="1"/>
          <p:nvPr/>
        </p:nvSpPr>
        <p:spPr>
          <a:xfrm>
            <a:off x="7086600" y="3017520"/>
            <a:ext cx="1600200"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1" i="0" lang="en-US" sz="1200" u="none" cap="none" strike="noStrike">
                <a:solidFill>
                  <a:schemeClr val="accent1"/>
                </a:solidFill>
                <a:latin typeface="Calibri"/>
                <a:ea typeface="Calibri"/>
                <a:cs typeface="Calibri"/>
                <a:sym typeface="Calibri"/>
              </a:rPr>
              <a:t>Why it's a good test: </a:t>
            </a:r>
            <a:r>
              <a:rPr b="0" i="0" lang="en-US" sz="1200" u="none" cap="none" strike="noStrike">
                <a:solidFill>
                  <a:schemeClr val="dk1"/>
                </a:solidFill>
                <a:latin typeface="Calibri"/>
                <a:ea typeface="Calibri"/>
                <a:cs typeface="Calibri"/>
                <a:sym typeface="Calibri"/>
              </a:rPr>
              <a:t>a recursive bill of materials, and questions whose paths cross purchasing, manufacturing and sales.</a:t>
            </a:r>
            <a:endParaRPr b="0" i="0" sz="1200" u="none" cap="none" strike="noStrike">
              <a:solidFill>
                <a:schemeClr val="dk1"/>
              </a:solidFill>
              <a:latin typeface="Calibri"/>
              <a:ea typeface="Calibri"/>
              <a:cs typeface="Calibri"/>
              <a:sym typeface="Calibri"/>
            </a:endParaRPr>
          </a:p>
        </p:txBody>
      </p:sp>
      <p:sp>
        <p:nvSpPr>
          <p:cNvPr id="443" name="Google Shape;443;p20"/>
          <p:cNvSpPr/>
          <p:nvPr/>
        </p:nvSpPr>
        <p:spPr>
          <a:xfrm>
            <a:off x="457200" y="4599432"/>
            <a:ext cx="128016" cy="128016"/>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0"/>
          <p:cNvSpPr txBox="1"/>
          <p:nvPr/>
        </p:nvSpPr>
        <p:spPr>
          <a:xfrm>
            <a:off x="640080" y="4553712"/>
            <a:ext cx="123444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0" i="0" lang="en-US" sz="1000" u="none" cap="none" strike="noStrike">
                <a:solidFill>
                  <a:schemeClr val="dk2"/>
                </a:solidFill>
                <a:latin typeface="Calibri"/>
                <a:ea typeface="Calibri"/>
                <a:cs typeface="Calibri"/>
                <a:sym typeface="Calibri"/>
              </a:rPr>
              <a:t>Purchasing</a:t>
            </a:r>
            <a:endParaRPr b="0" i="0" sz="1000" u="none" cap="none" strike="noStrike">
              <a:solidFill>
                <a:schemeClr val="dk1"/>
              </a:solidFill>
              <a:latin typeface="Calibri"/>
              <a:ea typeface="Calibri"/>
              <a:cs typeface="Calibri"/>
              <a:sym typeface="Calibri"/>
            </a:endParaRPr>
          </a:p>
        </p:txBody>
      </p:sp>
      <p:sp>
        <p:nvSpPr>
          <p:cNvPr id="445" name="Google Shape;445;p20"/>
          <p:cNvSpPr/>
          <p:nvPr/>
        </p:nvSpPr>
        <p:spPr>
          <a:xfrm>
            <a:off x="1920240" y="4599432"/>
            <a:ext cx="128016" cy="128016"/>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0"/>
          <p:cNvSpPr txBox="1"/>
          <p:nvPr/>
        </p:nvSpPr>
        <p:spPr>
          <a:xfrm>
            <a:off x="2103120" y="4553712"/>
            <a:ext cx="123444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0" i="0" lang="en-US" sz="1000" u="none" cap="none" strike="noStrike">
                <a:solidFill>
                  <a:schemeClr val="dk2"/>
                </a:solidFill>
                <a:latin typeface="Calibri"/>
                <a:ea typeface="Calibri"/>
                <a:cs typeface="Calibri"/>
                <a:sym typeface="Calibri"/>
              </a:rPr>
              <a:t>Manufacturing</a:t>
            </a:r>
            <a:endParaRPr b="0" i="0" sz="1000" u="none" cap="none" strike="noStrike">
              <a:solidFill>
                <a:schemeClr val="dk1"/>
              </a:solidFill>
              <a:latin typeface="Calibri"/>
              <a:ea typeface="Calibri"/>
              <a:cs typeface="Calibri"/>
              <a:sym typeface="Calibri"/>
            </a:endParaRPr>
          </a:p>
        </p:txBody>
      </p:sp>
      <p:sp>
        <p:nvSpPr>
          <p:cNvPr id="447" name="Google Shape;447;p20"/>
          <p:cNvSpPr/>
          <p:nvPr/>
        </p:nvSpPr>
        <p:spPr>
          <a:xfrm>
            <a:off x="3383280" y="4599432"/>
            <a:ext cx="128016" cy="128016"/>
          </a:xfrm>
          <a:prstGeom prst="ellipse">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0"/>
          <p:cNvSpPr txBox="1"/>
          <p:nvPr/>
        </p:nvSpPr>
        <p:spPr>
          <a:xfrm>
            <a:off x="3566160" y="4553712"/>
            <a:ext cx="123444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0" i="0" lang="en-US" sz="1000" u="none" cap="none" strike="noStrike">
                <a:solidFill>
                  <a:schemeClr val="dk2"/>
                </a:solidFill>
                <a:latin typeface="Calibri"/>
                <a:ea typeface="Calibri"/>
                <a:cs typeface="Calibri"/>
                <a:sym typeface="Calibri"/>
              </a:rPr>
              <a:t>Sales</a:t>
            </a:r>
            <a:endParaRPr b="0" i="0" sz="1000" u="none" cap="none" strike="noStrike">
              <a:solidFill>
                <a:schemeClr val="dk1"/>
              </a:solidFill>
              <a:latin typeface="Calibri"/>
              <a:ea typeface="Calibri"/>
              <a:cs typeface="Calibri"/>
              <a:sym typeface="Calibri"/>
            </a:endParaRPr>
          </a:p>
        </p:txBody>
      </p:sp>
      <p:sp>
        <p:nvSpPr>
          <p:cNvPr id="449" name="Google Shape;449;p20"/>
          <p:cNvSpPr txBox="1"/>
          <p:nvPr/>
        </p:nvSpPr>
        <p:spPr>
          <a:xfrm>
            <a:off x="4846320" y="4553712"/>
            <a:ext cx="347472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0" i="1" lang="en-US" sz="1000" u="none" cap="none" strike="noStrike">
                <a:solidFill>
                  <a:schemeClr val="dk2"/>
                </a:solidFill>
                <a:latin typeface="Calibri"/>
                <a:ea typeface="Calibri"/>
                <a:cs typeface="Calibri"/>
                <a:sym typeface="Calibri"/>
              </a:rPr>
              <a:t>Main entities and relationships shown; HR and offers omitted.</a:t>
            </a:r>
            <a:endParaRPr b="0" i="0" sz="1000" u="none" cap="none" strike="noStrike">
              <a:solidFill>
                <a:schemeClr val="dk1"/>
              </a:solidFill>
              <a:latin typeface="Calibri"/>
              <a:ea typeface="Calibri"/>
              <a:cs typeface="Calibri"/>
              <a:sym typeface="Calibri"/>
            </a:endParaRPr>
          </a:p>
        </p:txBody>
      </p:sp>
      <p:sp>
        <p:nvSpPr>
          <p:cNvPr id="450" name="Google Shape;450;p20"/>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21"/>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The demo setup: a golden set, and a graph under test with hidden defects</a:t>
            </a:r>
            <a:endParaRPr sz="2100"/>
          </a:p>
        </p:txBody>
      </p:sp>
      <p:sp>
        <p:nvSpPr>
          <p:cNvPr id="457" name="Google Shape;457;p21"/>
          <p:cNvSpPr/>
          <p:nvPr/>
        </p:nvSpPr>
        <p:spPr>
          <a:xfrm>
            <a:off x="457200" y="1188720"/>
            <a:ext cx="2560320" cy="1143000"/>
          </a:xfrm>
          <a:prstGeom prst="roundRect">
            <a:avLst>
              <a:gd fmla="val 6400"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1"/>
          <p:cNvSpPr txBox="1"/>
          <p:nvPr/>
        </p:nvSpPr>
        <p:spPr>
          <a:xfrm>
            <a:off x="640080" y="1261872"/>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800"/>
              <a:buFont typeface="Arial"/>
              <a:buNone/>
            </a:pPr>
            <a:r>
              <a:rPr b="1" i="0" lang="en-US" sz="2800" u="none" cap="none" strike="noStrike">
                <a:solidFill>
                  <a:schemeClr val="accent2"/>
                </a:solidFill>
                <a:latin typeface="Arial"/>
                <a:ea typeface="Arial"/>
                <a:cs typeface="Arial"/>
                <a:sym typeface="Arial"/>
              </a:rPr>
              <a:t>1,214</a:t>
            </a:r>
            <a:endParaRPr b="0" i="0" sz="2800" u="none" cap="none" strike="noStrike">
              <a:solidFill>
                <a:schemeClr val="dk1"/>
              </a:solidFill>
              <a:latin typeface="Calibri"/>
              <a:ea typeface="Calibri"/>
              <a:cs typeface="Calibri"/>
              <a:sym typeface="Calibri"/>
            </a:endParaRPr>
          </a:p>
        </p:txBody>
      </p:sp>
      <p:sp>
        <p:nvSpPr>
          <p:cNvPr id="459" name="Google Shape;459;p21"/>
          <p:cNvSpPr txBox="1"/>
          <p:nvPr/>
        </p:nvSpPr>
        <p:spPr>
          <a:xfrm>
            <a:off x="640080" y="1764792"/>
            <a:ext cx="224028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golden questions from 13 templates, 4 of them recursive</a:t>
            </a:r>
            <a:endParaRPr b="0" i="0" sz="1200" u="none" cap="none" strike="noStrike">
              <a:solidFill>
                <a:schemeClr val="dk1"/>
              </a:solidFill>
              <a:latin typeface="Calibri"/>
              <a:ea typeface="Calibri"/>
              <a:cs typeface="Calibri"/>
              <a:sym typeface="Calibri"/>
            </a:endParaRPr>
          </a:p>
        </p:txBody>
      </p:sp>
      <p:sp>
        <p:nvSpPr>
          <p:cNvPr id="460" name="Google Shape;460;p21"/>
          <p:cNvSpPr/>
          <p:nvPr/>
        </p:nvSpPr>
        <p:spPr>
          <a:xfrm>
            <a:off x="3291840" y="1188720"/>
            <a:ext cx="2560320" cy="1143000"/>
          </a:xfrm>
          <a:prstGeom prst="roundRect">
            <a:avLst>
              <a:gd fmla="val 6400"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1"/>
          <p:cNvSpPr txBox="1"/>
          <p:nvPr/>
        </p:nvSpPr>
        <p:spPr>
          <a:xfrm>
            <a:off x="3474720" y="1261872"/>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800"/>
              <a:buFont typeface="Arial"/>
              <a:buNone/>
            </a:pPr>
            <a:r>
              <a:rPr b="1" i="0" lang="en-US" sz="2800" u="none" cap="none" strike="noStrike">
                <a:solidFill>
                  <a:schemeClr val="accent2"/>
                </a:solidFill>
                <a:latin typeface="Arial"/>
                <a:ea typeface="Arial"/>
                <a:cs typeface="Arial"/>
                <a:sym typeface="Arial"/>
              </a:rPr>
              <a:t>SQL</a:t>
            </a:r>
            <a:endParaRPr b="0" i="0" sz="2800" u="none" cap="none" strike="noStrike">
              <a:solidFill>
                <a:schemeClr val="dk1"/>
              </a:solidFill>
              <a:latin typeface="Calibri"/>
              <a:ea typeface="Calibri"/>
              <a:cs typeface="Calibri"/>
              <a:sym typeface="Calibri"/>
            </a:endParaRPr>
          </a:p>
        </p:txBody>
      </p:sp>
      <p:sp>
        <p:nvSpPr>
          <p:cNvPr id="462" name="Google Shape;462;p21"/>
          <p:cNvSpPr txBox="1"/>
          <p:nvPr/>
        </p:nvSpPr>
        <p:spPr>
          <a:xfrm>
            <a:off x="3474720" y="1764792"/>
            <a:ext cx="224028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computes every expected answer directly on the source tables</a:t>
            </a:r>
            <a:endParaRPr b="0" i="0" sz="1200" u="none" cap="none" strike="noStrike">
              <a:solidFill>
                <a:schemeClr val="dk1"/>
              </a:solidFill>
              <a:latin typeface="Calibri"/>
              <a:ea typeface="Calibri"/>
              <a:cs typeface="Calibri"/>
              <a:sym typeface="Calibri"/>
            </a:endParaRPr>
          </a:p>
        </p:txBody>
      </p:sp>
      <p:sp>
        <p:nvSpPr>
          <p:cNvPr id="463" name="Google Shape;463;p21"/>
          <p:cNvSpPr/>
          <p:nvPr/>
        </p:nvSpPr>
        <p:spPr>
          <a:xfrm>
            <a:off x="6126480" y="1188720"/>
            <a:ext cx="2560320" cy="1143000"/>
          </a:xfrm>
          <a:prstGeom prst="roundRect">
            <a:avLst>
              <a:gd fmla="val 6400"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1"/>
          <p:cNvSpPr txBox="1"/>
          <p:nvPr/>
        </p:nvSpPr>
        <p:spPr>
          <a:xfrm>
            <a:off x="6309360" y="1261872"/>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800"/>
              <a:buFont typeface="Arial"/>
              <a:buNone/>
            </a:pPr>
            <a:r>
              <a:rPr b="1" i="0" lang="en-US" sz="2800" u="none" cap="none" strike="noStrike">
                <a:solidFill>
                  <a:schemeClr val="accent2"/>
                </a:solidFill>
                <a:latin typeface="Arial"/>
                <a:ea typeface="Arial"/>
                <a:cs typeface="Arial"/>
                <a:sym typeface="Arial"/>
              </a:rPr>
              <a:t>100%</a:t>
            </a:r>
            <a:endParaRPr b="0" i="0" sz="2800" u="none" cap="none" strike="noStrike">
              <a:solidFill>
                <a:schemeClr val="dk1"/>
              </a:solidFill>
              <a:latin typeface="Calibri"/>
              <a:ea typeface="Calibri"/>
              <a:cs typeface="Calibri"/>
              <a:sym typeface="Calibri"/>
            </a:endParaRPr>
          </a:p>
        </p:txBody>
      </p:sp>
      <p:sp>
        <p:nvSpPr>
          <p:cNvPr id="465" name="Google Shape;465;p21"/>
          <p:cNvSpPr txBox="1"/>
          <p:nvPr/>
        </p:nvSpPr>
        <p:spPr>
          <a:xfrm>
            <a:off x="6309360" y="1764792"/>
            <a:ext cx="224028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of questions answered correctly by a faithful copy of the source</a:t>
            </a:r>
            <a:endParaRPr b="0" i="0" sz="1200" u="none" cap="none" strike="noStrike">
              <a:solidFill>
                <a:schemeClr val="dk1"/>
              </a:solidFill>
              <a:latin typeface="Calibri"/>
              <a:ea typeface="Calibri"/>
              <a:cs typeface="Calibri"/>
              <a:sym typeface="Calibri"/>
            </a:endParaRPr>
          </a:p>
        </p:txBody>
      </p:sp>
      <p:sp>
        <p:nvSpPr>
          <p:cNvPr id="466" name="Google Shape;466;p21"/>
          <p:cNvSpPr/>
          <p:nvPr/>
        </p:nvSpPr>
        <p:spPr>
          <a:xfrm>
            <a:off x="457200" y="2514600"/>
            <a:ext cx="2560320" cy="1143000"/>
          </a:xfrm>
          <a:prstGeom prst="roundRect">
            <a:avLst>
              <a:gd fmla="val 6400"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1"/>
          <p:cNvSpPr txBox="1"/>
          <p:nvPr/>
        </p:nvSpPr>
        <p:spPr>
          <a:xfrm>
            <a:off x="640080" y="2587752"/>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800"/>
              <a:buFont typeface="Arial"/>
              <a:buNone/>
            </a:pPr>
            <a:r>
              <a:rPr b="1" i="0" lang="en-US" sz="2800" u="none" cap="none" strike="noStrike">
                <a:solidFill>
                  <a:schemeClr val="accent2"/>
                </a:solidFill>
                <a:latin typeface="Arial"/>
                <a:ea typeface="Arial"/>
                <a:cs typeface="Arial"/>
                <a:sym typeface="Arial"/>
              </a:rPr>
              <a:t>4</a:t>
            </a:r>
            <a:endParaRPr b="0" i="0" sz="2800" u="none" cap="none" strike="noStrike">
              <a:solidFill>
                <a:schemeClr val="dk1"/>
              </a:solidFill>
              <a:latin typeface="Calibri"/>
              <a:ea typeface="Calibri"/>
              <a:cs typeface="Calibri"/>
              <a:sym typeface="Calibri"/>
            </a:endParaRPr>
          </a:p>
        </p:txBody>
      </p:sp>
      <p:sp>
        <p:nvSpPr>
          <p:cNvPr id="468" name="Google Shape;468;p21"/>
          <p:cNvSpPr txBox="1"/>
          <p:nvPr/>
        </p:nvSpPr>
        <p:spPr>
          <a:xfrm>
            <a:off x="640080" y="3090672"/>
            <a:ext cx="224028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kinds of hidden defects from a simulated pipeline</a:t>
            </a:r>
            <a:endParaRPr b="0" i="0" sz="1200" u="none" cap="none" strike="noStrike">
              <a:solidFill>
                <a:schemeClr val="dk1"/>
              </a:solidFill>
              <a:latin typeface="Calibri"/>
              <a:ea typeface="Calibri"/>
              <a:cs typeface="Calibri"/>
              <a:sym typeface="Calibri"/>
            </a:endParaRPr>
          </a:p>
        </p:txBody>
      </p:sp>
      <p:sp>
        <p:nvSpPr>
          <p:cNvPr id="469" name="Google Shape;469;p21"/>
          <p:cNvSpPr/>
          <p:nvPr/>
        </p:nvSpPr>
        <p:spPr>
          <a:xfrm>
            <a:off x="3291840" y="2514600"/>
            <a:ext cx="2560320" cy="1143000"/>
          </a:xfrm>
          <a:prstGeom prst="roundRect">
            <a:avLst>
              <a:gd fmla="val 6400"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1"/>
          <p:cNvSpPr txBox="1"/>
          <p:nvPr/>
        </p:nvSpPr>
        <p:spPr>
          <a:xfrm>
            <a:off x="3474720" y="2587752"/>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800"/>
              <a:buFont typeface="Arial"/>
              <a:buNone/>
            </a:pPr>
            <a:r>
              <a:rPr b="1" i="0" lang="en-US" sz="2800" u="none" cap="none" strike="noStrike">
                <a:solidFill>
                  <a:schemeClr val="accent2"/>
                </a:solidFill>
                <a:latin typeface="Arial"/>
                <a:ea typeface="Arial"/>
                <a:cs typeface="Arial"/>
                <a:sym typeface="Arial"/>
              </a:rPr>
              <a:t>50 / 50</a:t>
            </a:r>
            <a:endParaRPr b="0" i="0" sz="2800" u="none" cap="none" strike="noStrike">
              <a:solidFill>
                <a:schemeClr val="dk1"/>
              </a:solidFill>
              <a:latin typeface="Calibri"/>
              <a:ea typeface="Calibri"/>
              <a:cs typeface="Calibri"/>
              <a:sym typeface="Calibri"/>
            </a:endParaRPr>
          </a:p>
        </p:txBody>
      </p:sp>
      <p:sp>
        <p:nvSpPr>
          <p:cNvPr id="471" name="Google Shape;471;p21"/>
          <p:cNvSpPr txBox="1"/>
          <p:nvPr/>
        </p:nvSpPr>
        <p:spPr>
          <a:xfrm>
            <a:off x="3474720" y="3090672"/>
            <a:ext cx="224028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split: diagnose on one half, report on held-out questions</a:t>
            </a:r>
            <a:endParaRPr b="0" i="0" sz="1200" u="none" cap="none" strike="noStrike">
              <a:solidFill>
                <a:schemeClr val="dk1"/>
              </a:solidFill>
              <a:latin typeface="Calibri"/>
              <a:ea typeface="Calibri"/>
              <a:cs typeface="Calibri"/>
              <a:sym typeface="Calibri"/>
            </a:endParaRPr>
          </a:p>
        </p:txBody>
      </p:sp>
      <p:sp>
        <p:nvSpPr>
          <p:cNvPr id="472" name="Google Shape;472;p21"/>
          <p:cNvSpPr/>
          <p:nvPr/>
        </p:nvSpPr>
        <p:spPr>
          <a:xfrm>
            <a:off x="6126480" y="2514600"/>
            <a:ext cx="2560320" cy="1143000"/>
          </a:xfrm>
          <a:prstGeom prst="roundRect">
            <a:avLst>
              <a:gd fmla="val 6400"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1"/>
          <p:cNvSpPr txBox="1"/>
          <p:nvPr/>
        </p:nvSpPr>
        <p:spPr>
          <a:xfrm>
            <a:off x="6309360" y="2587752"/>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800"/>
              <a:buFont typeface="Arial"/>
              <a:buNone/>
            </a:pPr>
            <a:r>
              <a:rPr b="1" i="0" lang="en-US" sz="2800" u="none" cap="none" strike="noStrike">
                <a:solidFill>
                  <a:schemeClr val="accent2"/>
                </a:solidFill>
                <a:latin typeface="Arial"/>
                <a:ea typeface="Arial"/>
                <a:cs typeface="Arial"/>
                <a:sym typeface="Arial"/>
              </a:rPr>
              <a:t>95%</a:t>
            </a:r>
            <a:endParaRPr b="0" i="0" sz="2800" u="none" cap="none" strike="noStrike">
              <a:solidFill>
                <a:schemeClr val="dk1"/>
              </a:solidFill>
              <a:latin typeface="Calibri"/>
              <a:ea typeface="Calibri"/>
              <a:cs typeface="Calibri"/>
              <a:sym typeface="Calibri"/>
            </a:endParaRPr>
          </a:p>
        </p:txBody>
      </p:sp>
      <p:sp>
        <p:nvSpPr>
          <p:cNvPr id="474" name="Google Shape;474;p21"/>
          <p:cNvSpPr txBox="1"/>
          <p:nvPr/>
        </p:nvSpPr>
        <p:spPr>
          <a:xfrm>
            <a:off x="6309360" y="3090672"/>
            <a:ext cx="224028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exact-match accuracy as the benchmark to reach</a:t>
            </a:r>
            <a:endParaRPr b="0" i="0" sz="1200" u="none" cap="none" strike="noStrike">
              <a:solidFill>
                <a:schemeClr val="dk1"/>
              </a:solidFill>
              <a:latin typeface="Calibri"/>
              <a:ea typeface="Calibri"/>
              <a:cs typeface="Calibri"/>
              <a:sym typeface="Calibri"/>
            </a:endParaRPr>
          </a:p>
        </p:txBody>
      </p:sp>
      <p:sp>
        <p:nvSpPr>
          <p:cNvPr id="475" name="Google Shape;475;p21"/>
          <p:cNvSpPr txBox="1"/>
          <p:nvPr/>
        </p:nvSpPr>
        <p:spPr>
          <a:xfrm>
            <a:off x="457200" y="393192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Switch to the notebook: </a:t>
            </a:r>
            <a:r>
              <a:rPr b="0" i="0" lang="en-US" sz="1400" u="none" cap="none" strike="noStrike">
                <a:solidFill>
                  <a:schemeClr val="dk1"/>
                </a:solidFill>
                <a:latin typeface="Calibri"/>
                <a:ea typeface="Calibri"/>
                <a:cs typeface="Calibri"/>
                <a:sym typeface="Calibri"/>
              </a:rPr>
              <a:t>measure, diagnose, then the loop. Open it yourself from the README's Colab badge.</a:t>
            </a:r>
            <a:endParaRPr b="0" i="0" sz="1400" u="none" cap="none" strike="noStrike">
              <a:solidFill>
                <a:schemeClr val="dk1"/>
              </a:solidFill>
              <a:latin typeface="Calibri"/>
              <a:ea typeface="Calibri"/>
              <a:cs typeface="Calibri"/>
              <a:sym typeface="Calibri"/>
            </a:endParaRPr>
          </a:p>
        </p:txBody>
      </p:sp>
      <p:sp>
        <p:nvSpPr>
          <p:cNvPr id="476" name="Google Shape;476;p21"/>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22"/>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On the demo graph, SHAP ranks schema and hierarchy validation as the first fix</a:t>
            </a:r>
            <a:endParaRPr sz="2100"/>
          </a:p>
        </p:txBody>
      </p:sp>
      <p:sp>
        <p:nvSpPr>
          <p:cNvPr id="483" name="Google Shape;483;p22"/>
          <p:cNvSpPr txBox="1"/>
          <p:nvPr/>
        </p:nvSpPr>
        <p:spPr>
          <a:xfrm>
            <a:off x="457200" y="1188720"/>
            <a:ext cx="21031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4000"/>
              <a:buFont typeface="Arial"/>
              <a:buNone/>
            </a:pPr>
            <a:r>
              <a:rPr b="1" i="0" lang="en-US" sz="4000" u="none" cap="none" strike="noStrike">
                <a:solidFill>
                  <a:schemeClr val="accent2"/>
                </a:solidFill>
                <a:latin typeface="Arial"/>
                <a:ea typeface="Arial"/>
                <a:cs typeface="Arial"/>
                <a:sym typeface="Arial"/>
              </a:rPr>
              <a:t>0.95</a:t>
            </a:r>
            <a:endParaRPr b="0" i="0" sz="4000" u="none" cap="none" strike="noStrike">
              <a:solidFill>
                <a:schemeClr val="dk1"/>
              </a:solidFill>
              <a:latin typeface="Calibri"/>
              <a:ea typeface="Calibri"/>
              <a:cs typeface="Calibri"/>
              <a:sym typeface="Calibri"/>
            </a:endParaRPr>
          </a:p>
        </p:txBody>
      </p:sp>
      <p:sp>
        <p:nvSpPr>
          <p:cNvPr id="484" name="Google Shape;484;p22"/>
          <p:cNvSpPr txBox="1"/>
          <p:nvPr/>
        </p:nvSpPr>
        <p:spPr>
          <a:xfrm>
            <a:off x="457200" y="1810512"/>
            <a:ext cx="21031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0" i="0" lang="en-US" sz="1300" u="none" cap="none" strike="noStrike">
                <a:solidFill>
                  <a:schemeClr val="dk2"/>
                </a:solidFill>
                <a:latin typeface="Calibri"/>
                <a:ea typeface="Calibri"/>
                <a:cs typeface="Calibri"/>
                <a:sym typeface="Calibri"/>
              </a:rPr>
              <a:t>mean answer F1</a:t>
            </a:r>
            <a:endParaRPr b="0" i="0" sz="1300" u="none" cap="none" strike="noStrike">
              <a:solidFill>
                <a:schemeClr val="dk1"/>
              </a:solidFill>
              <a:latin typeface="Calibri"/>
              <a:ea typeface="Calibri"/>
              <a:cs typeface="Calibri"/>
              <a:sym typeface="Calibri"/>
            </a:endParaRPr>
          </a:p>
        </p:txBody>
      </p:sp>
      <p:sp>
        <p:nvSpPr>
          <p:cNvPr id="485" name="Google Shape;485;p22"/>
          <p:cNvSpPr txBox="1"/>
          <p:nvPr/>
        </p:nvSpPr>
        <p:spPr>
          <a:xfrm>
            <a:off x="457200" y="2331720"/>
            <a:ext cx="21031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4000"/>
              <a:buFont typeface="Arial"/>
              <a:buNone/>
            </a:pPr>
            <a:r>
              <a:rPr b="1" i="0" lang="en-US" sz="4000" u="none" cap="none" strike="noStrike">
                <a:solidFill>
                  <a:schemeClr val="accent3"/>
                </a:solidFill>
                <a:latin typeface="Arial"/>
                <a:ea typeface="Arial"/>
                <a:cs typeface="Arial"/>
                <a:sym typeface="Arial"/>
              </a:rPr>
              <a:t>71%</a:t>
            </a:r>
            <a:endParaRPr b="0" i="0" sz="4000" u="none" cap="none" strike="noStrike">
              <a:solidFill>
                <a:schemeClr val="dk1"/>
              </a:solidFill>
              <a:latin typeface="Calibri"/>
              <a:ea typeface="Calibri"/>
              <a:cs typeface="Calibri"/>
              <a:sym typeface="Calibri"/>
            </a:endParaRPr>
          </a:p>
        </p:txBody>
      </p:sp>
      <p:sp>
        <p:nvSpPr>
          <p:cNvPr id="486" name="Google Shape;486;p22"/>
          <p:cNvSpPr txBox="1"/>
          <p:nvPr/>
        </p:nvSpPr>
        <p:spPr>
          <a:xfrm>
            <a:off x="457200" y="2953512"/>
            <a:ext cx="2103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0" i="0" lang="en-US" sz="1300" u="none" cap="none" strike="noStrike">
                <a:solidFill>
                  <a:schemeClr val="dk2"/>
                </a:solidFill>
                <a:latin typeface="Calibri"/>
                <a:ea typeface="Calibri"/>
                <a:cs typeface="Calibri"/>
                <a:sym typeface="Calibri"/>
              </a:rPr>
              <a:t>of held-out answers exactly right</a:t>
            </a:r>
            <a:endParaRPr b="0" i="0" sz="1300" u="none" cap="none" strike="noStrike">
              <a:solidFill>
                <a:schemeClr val="dk1"/>
              </a:solidFill>
              <a:latin typeface="Calibri"/>
              <a:ea typeface="Calibri"/>
              <a:cs typeface="Calibri"/>
              <a:sym typeface="Calibri"/>
            </a:endParaRPr>
          </a:p>
        </p:txBody>
      </p:sp>
      <p:sp>
        <p:nvSpPr>
          <p:cNvPr id="487" name="Google Shape;487;p22"/>
          <p:cNvSpPr txBox="1"/>
          <p:nvPr/>
        </p:nvSpPr>
        <p:spPr>
          <a:xfrm>
            <a:off x="457200" y="3749040"/>
            <a:ext cx="21031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1" lang="en-US" sz="1200" u="none" cap="none" strike="noStrike">
                <a:solidFill>
                  <a:schemeClr val="dk2"/>
                </a:solidFill>
                <a:latin typeface="Calibri"/>
                <a:ea typeface="Calibri"/>
                <a:cs typeface="Calibri"/>
                <a:sym typeface="Calibri"/>
              </a:rPr>
              <a:t>Classifier AUC 0.99, out of fold</a:t>
            </a:r>
            <a:endParaRPr b="0" i="0" sz="1200" u="none" cap="none" strike="noStrike">
              <a:solidFill>
                <a:schemeClr val="dk1"/>
              </a:solidFill>
              <a:latin typeface="Calibri"/>
              <a:ea typeface="Calibri"/>
              <a:cs typeface="Calibri"/>
              <a:sym typeface="Calibri"/>
            </a:endParaRPr>
          </a:p>
        </p:txBody>
      </p:sp>
      <p:pic>
        <p:nvPicPr>
          <p:cNvPr id="488" name="Google Shape;488;p22"/>
          <p:cNvPicPr preferRelativeResize="0"/>
          <p:nvPr/>
        </p:nvPicPr>
        <p:blipFill rotWithShape="1">
          <a:blip r:embed="rId3">
            <a:alphaModFix/>
          </a:blip>
          <a:srcRect b="0" l="0" r="0" t="0"/>
          <a:stretch/>
        </p:blipFill>
        <p:spPr>
          <a:xfrm>
            <a:off x="2743200" y="1097280"/>
            <a:ext cx="5943600" cy="3383280"/>
          </a:xfrm>
          <a:prstGeom prst="rect">
            <a:avLst/>
          </a:prstGeom>
          <a:noFill/>
          <a:ln>
            <a:noFill/>
          </a:ln>
        </p:spPr>
      </p:pic>
      <p:sp>
        <p:nvSpPr>
          <p:cNvPr id="489" name="Google Shape;489;p22"/>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23"/>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Held-out accuracy climbs from 71% past the 95% benchmark in four rounds</a:t>
            </a:r>
            <a:endParaRPr sz="2100"/>
          </a:p>
        </p:txBody>
      </p:sp>
      <p:pic>
        <p:nvPicPr>
          <p:cNvPr id="496" name="Google Shape;496;p23"/>
          <p:cNvPicPr preferRelativeResize="0"/>
          <p:nvPr/>
        </p:nvPicPr>
        <p:blipFill rotWithShape="1">
          <a:blip r:embed="rId3">
            <a:alphaModFix/>
          </a:blip>
          <a:srcRect b="0" l="0" r="0" t="0"/>
          <a:stretch/>
        </p:blipFill>
        <p:spPr>
          <a:xfrm>
            <a:off x="365760" y="1143000"/>
            <a:ext cx="5669280" cy="3337560"/>
          </a:xfrm>
          <a:prstGeom prst="rect">
            <a:avLst/>
          </a:prstGeom>
          <a:noFill/>
          <a:ln>
            <a:noFill/>
          </a:ln>
        </p:spPr>
      </p:pic>
      <p:sp>
        <p:nvSpPr>
          <p:cNvPr id="497" name="Google Shape;497;p23"/>
          <p:cNvSpPr/>
          <p:nvPr/>
        </p:nvSpPr>
        <p:spPr>
          <a:xfrm>
            <a:off x="6263640" y="1234440"/>
            <a:ext cx="2423160" cy="1828800"/>
          </a:xfrm>
          <a:prstGeom prst="roundRect">
            <a:avLst>
              <a:gd fmla="val 4000" name="adj"/>
            </a:avLst>
          </a:prstGeom>
          <a:solidFill>
            <a:schemeClr val="l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3"/>
          <p:cNvSpPr txBox="1"/>
          <p:nvPr/>
        </p:nvSpPr>
        <p:spPr>
          <a:xfrm>
            <a:off x="6446520" y="1344168"/>
            <a:ext cx="20574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400"/>
              <a:buFont typeface="Calibri"/>
              <a:buNone/>
            </a:pPr>
            <a:r>
              <a:rPr b="1" i="0" lang="en-US" sz="1400" u="none" cap="none" strike="noStrike">
                <a:solidFill>
                  <a:schemeClr val="accent3"/>
                </a:solidFill>
                <a:latin typeface="Calibri"/>
                <a:ea typeface="Calibri"/>
                <a:cs typeface="Calibri"/>
                <a:sym typeface="Calibri"/>
              </a:rPr>
              <a:t>Honest caveat</a:t>
            </a:r>
            <a:endParaRPr b="0" i="0" sz="1400" u="none" cap="none" strike="noStrike">
              <a:solidFill>
                <a:schemeClr val="dk1"/>
              </a:solidFill>
              <a:latin typeface="Calibri"/>
              <a:ea typeface="Calibri"/>
              <a:cs typeface="Calibri"/>
              <a:sym typeface="Calibri"/>
            </a:endParaRPr>
          </a:p>
        </p:txBody>
      </p:sp>
      <p:sp>
        <p:nvSpPr>
          <p:cNvPr id="499" name="Google Shape;499;p23"/>
          <p:cNvSpPr txBox="1"/>
          <p:nvPr/>
        </p:nvSpPr>
        <p:spPr>
          <a:xfrm>
            <a:off x="6446520" y="1645920"/>
            <a:ext cx="20574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50"/>
              <a:buFont typeface="Calibri"/>
              <a:buNone/>
            </a:pPr>
            <a:r>
              <a:rPr b="0" i="0" lang="en-US" sz="1250" u="none" cap="none" strike="noStrike">
                <a:solidFill>
                  <a:schemeClr val="dk1"/>
                </a:solidFill>
                <a:latin typeface="Calibri"/>
                <a:ea typeface="Calibri"/>
                <a:cs typeface="Calibri"/>
                <a:sym typeface="Calibri"/>
              </a:rPr>
              <a:t>It reaches 100% because each fix exactly reverses one simulated defect. Real fixes are partial, so expect a plateau.</a:t>
            </a:r>
            <a:endParaRPr b="0" i="0" sz="1250" u="none" cap="none" strike="noStrike">
              <a:solidFill>
                <a:schemeClr val="dk1"/>
              </a:solidFill>
              <a:latin typeface="Calibri"/>
              <a:ea typeface="Calibri"/>
              <a:cs typeface="Calibri"/>
              <a:sym typeface="Calibri"/>
            </a:endParaRPr>
          </a:p>
        </p:txBody>
      </p:sp>
      <p:sp>
        <p:nvSpPr>
          <p:cNvPr id="500" name="Google Shape;500;p23"/>
          <p:cNvSpPr/>
          <p:nvPr/>
        </p:nvSpPr>
        <p:spPr>
          <a:xfrm>
            <a:off x="6263640" y="3246120"/>
            <a:ext cx="2423160" cy="1188720"/>
          </a:xfrm>
          <a:prstGeom prst="roundRect">
            <a:avLst>
              <a:gd fmla="val 6154"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3"/>
          <p:cNvSpPr txBox="1"/>
          <p:nvPr/>
        </p:nvSpPr>
        <p:spPr>
          <a:xfrm>
            <a:off x="6446520" y="3246120"/>
            <a:ext cx="20574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SHAP chose the best available fix in 3 of 4 rounds.</a:t>
            </a:r>
            <a:endParaRPr b="0" i="0" sz="1300" u="none" cap="none" strike="noStrike">
              <a:solidFill>
                <a:schemeClr val="dk1"/>
              </a:solidFill>
              <a:latin typeface="Calibri"/>
              <a:ea typeface="Calibri"/>
              <a:cs typeface="Calibri"/>
              <a:sym typeface="Calibri"/>
            </a:endParaRPr>
          </a:p>
        </p:txBody>
      </p:sp>
      <p:sp>
        <p:nvSpPr>
          <p:cNvPr id="502" name="Google Shape;502;p23"/>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24"/>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Across 16 pipelines, SHAP picks the best first fix 9 times; a heuristic manages 2</a:t>
            </a:r>
            <a:endParaRPr sz="2100"/>
          </a:p>
        </p:txBody>
      </p:sp>
      <p:pic>
        <p:nvPicPr>
          <p:cNvPr id="509" name="Google Shape;509;p24"/>
          <p:cNvPicPr preferRelativeResize="0"/>
          <p:nvPr/>
        </p:nvPicPr>
        <p:blipFill rotWithShape="1">
          <a:blip r:embed="rId3">
            <a:alphaModFix/>
          </a:blip>
          <a:srcRect b="0" l="0" r="0" t="0"/>
          <a:stretch/>
        </p:blipFill>
        <p:spPr>
          <a:xfrm>
            <a:off x="365760" y="1143000"/>
            <a:ext cx="4754880" cy="3337560"/>
          </a:xfrm>
          <a:prstGeom prst="rect">
            <a:avLst/>
          </a:prstGeom>
          <a:noFill/>
          <a:ln>
            <a:noFill/>
          </a:ln>
        </p:spPr>
      </p:pic>
      <p:sp>
        <p:nvSpPr>
          <p:cNvPr id="510" name="Google Shape;510;p24"/>
          <p:cNvSpPr txBox="1"/>
          <p:nvPr/>
        </p:nvSpPr>
        <p:spPr>
          <a:xfrm>
            <a:off x="5440680" y="1234440"/>
            <a:ext cx="32461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3000"/>
              <a:buFont typeface="Arial"/>
              <a:buNone/>
            </a:pPr>
            <a:r>
              <a:rPr b="1" i="0" lang="en-US" sz="3000" u="none" cap="none" strike="noStrike">
                <a:solidFill>
                  <a:schemeClr val="accent2"/>
                </a:solidFill>
                <a:latin typeface="Arial"/>
                <a:ea typeface="Arial"/>
                <a:cs typeface="Arial"/>
                <a:sym typeface="Arial"/>
              </a:rPr>
              <a:t>15 vs 57</a:t>
            </a:r>
            <a:endParaRPr b="0" i="0" sz="3000" u="none" cap="none" strike="noStrike">
              <a:solidFill>
                <a:schemeClr val="dk1"/>
              </a:solidFill>
              <a:latin typeface="Calibri"/>
              <a:ea typeface="Calibri"/>
              <a:cs typeface="Calibri"/>
              <a:sym typeface="Calibri"/>
            </a:endParaRPr>
          </a:p>
        </p:txBody>
      </p:sp>
      <p:sp>
        <p:nvSpPr>
          <p:cNvPr id="511" name="Google Shape;511;p24"/>
          <p:cNvSpPr txBox="1"/>
          <p:nvPr/>
        </p:nvSpPr>
        <p:spPr>
          <a:xfrm>
            <a:off x="5440680" y="1783080"/>
            <a:ext cx="32461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0" i="0" lang="en-US" sz="1300" u="none" cap="none" strike="noStrike">
                <a:solidFill>
                  <a:schemeClr val="dk2"/>
                </a:solidFill>
                <a:latin typeface="Calibri"/>
                <a:ea typeface="Calibri"/>
                <a:cs typeface="Calibri"/>
                <a:sym typeface="Calibri"/>
              </a:rPr>
              <a:t>wrong answers per 1,000 left on the table by the first pick: SHAP versus the heuristic</a:t>
            </a:r>
            <a:endParaRPr b="0" i="0" sz="1300" u="none" cap="none" strike="noStrike">
              <a:solidFill>
                <a:schemeClr val="dk1"/>
              </a:solidFill>
              <a:latin typeface="Calibri"/>
              <a:ea typeface="Calibri"/>
              <a:cs typeface="Calibri"/>
              <a:sym typeface="Calibri"/>
            </a:endParaRPr>
          </a:p>
        </p:txBody>
      </p:sp>
      <p:sp>
        <p:nvSpPr>
          <p:cNvPr id="512" name="Google Shape;512;p24"/>
          <p:cNvSpPr/>
          <p:nvPr/>
        </p:nvSpPr>
        <p:spPr>
          <a:xfrm>
            <a:off x="5440680" y="2697480"/>
            <a:ext cx="3246120" cy="1737360"/>
          </a:xfrm>
          <a:prstGeom prst="roundRect">
            <a:avLst>
              <a:gd fmla="val 4211" name="adj"/>
            </a:avLst>
          </a:prstGeom>
          <a:solidFill>
            <a:schemeClr val="l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4"/>
          <p:cNvSpPr txBox="1"/>
          <p:nvPr/>
        </p:nvSpPr>
        <p:spPr>
          <a:xfrm>
            <a:off x="5623560" y="2788920"/>
            <a:ext cx="2880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400"/>
              <a:buFont typeface="Calibri"/>
              <a:buNone/>
            </a:pPr>
            <a:r>
              <a:rPr b="1" i="0" lang="en-US" sz="1400" u="none" cap="none" strike="noStrike">
                <a:solidFill>
                  <a:schemeClr val="accent3"/>
                </a:solidFill>
                <a:latin typeface="Calibri"/>
                <a:ea typeface="Calibri"/>
                <a:cs typeface="Calibri"/>
                <a:sym typeface="Calibri"/>
              </a:rPr>
              <a:t>Why it misses</a:t>
            </a:r>
            <a:endParaRPr b="0" i="0" sz="1400" u="none" cap="none" strike="noStrike">
              <a:solidFill>
                <a:schemeClr val="dk1"/>
              </a:solidFill>
              <a:latin typeface="Calibri"/>
              <a:ea typeface="Calibri"/>
              <a:cs typeface="Calibri"/>
              <a:sym typeface="Calibri"/>
            </a:endParaRPr>
          </a:p>
        </p:txBody>
      </p:sp>
      <p:sp>
        <p:nvSpPr>
          <p:cNvPr id="514" name="Google Shape;514;p24"/>
          <p:cNvSpPr txBox="1"/>
          <p:nvPr/>
        </p:nvSpPr>
        <p:spPr>
          <a:xfrm>
            <a:off x="5623560" y="3108960"/>
            <a:ext cx="28803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50"/>
              <a:buFont typeface="Calibri"/>
              <a:buNone/>
            </a:pPr>
            <a:r>
              <a:rPr b="0" i="0" lang="en-US" sz="1250" u="none" cap="none" strike="noStrike">
                <a:solidFill>
                  <a:schemeClr val="dk1"/>
                </a:solidFill>
                <a:latin typeface="Calibri"/>
                <a:ea typeface="Calibri"/>
                <a:cs typeface="Calibri"/>
                <a:sym typeface="Calibri"/>
              </a:rPr>
              <a:t>A dropped many-to-many link leaves no trace on the query's path. The diagnosis is only as good as its detectors.</a:t>
            </a:r>
            <a:endParaRPr b="0" i="0" sz="1250" u="none" cap="none" strike="noStrike">
              <a:solidFill>
                <a:schemeClr val="dk1"/>
              </a:solidFill>
              <a:latin typeface="Calibri"/>
              <a:ea typeface="Calibri"/>
              <a:cs typeface="Calibri"/>
              <a:sym typeface="Calibri"/>
            </a:endParaRPr>
          </a:p>
        </p:txBody>
      </p:sp>
      <p:sp>
        <p:nvSpPr>
          <p:cNvPr id="515" name="Google Shape;515;p24"/>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25"/>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What this approach does not measure</a:t>
            </a:r>
            <a:endParaRPr sz="2100"/>
          </a:p>
        </p:txBody>
      </p:sp>
      <p:sp>
        <p:nvSpPr>
          <p:cNvPr id="522" name="Google Shape;522;p25"/>
          <p:cNvSpPr/>
          <p:nvPr/>
        </p:nvSpPr>
        <p:spPr>
          <a:xfrm>
            <a:off x="457200" y="1188720"/>
            <a:ext cx="4023360" cy="1417320"/>
          </a:xfrm>
          <a:prstGeom prst="roundRect">
            <a:avLst>
              <a:gd fmla="val 5161"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5"/>
          <p:cNvSpPr txBox="1"/>
          <p:nvPr/>
        </p:nvSpPr>
        <p:spPr>
          <a:xfrm>
            <a:off x="685800" y="1353312"/>
            <a:ext cx="35661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500"/>
              <a:buFont typeface="Calibri"/>
              <a:buNone/>
            </a:pPr>
            <a:r>
              <a:rPr b="1" i="0" lang="en-US" sz="1500" u="none" cap="none" strike="noStrike">
                <a:solidFill>
                  <a:schemeClr val="accent3"/>
                </a:solidFill>
                <a:latin typeface="Calibri"/>
                <a:ea typeface="Calibri"/>
                <a:cs typeface="Calibri"/>
                <a:sym typeface="Calibri"/>
              </a:rPr>
              <a:t>The query layer</a:t>
            </a:r>
            <a:endParaRPr b="0" i="0" sz="1500" u="none" cap="none" strike="noStrike">
              <a:solidFill>
                <a:schemeClr val="dk1"/>
              </a:solidFill>
              <a:latin typeface="Calibri"/>
              <a:ea typeface="Calibri"/>
              <a:cs typeface="Calibri"/>
              <a:sym typeface="Calibri"/>
            </a:endParaRPr>
          </a:p>
        </p:txBody>
      </p:sp>
      <p:sp>
        <p:nvSpPr>
          <p:cNvPr id="524" name="Google Shape;524;p25"/>
          <p:cNvSpPr txBox="1"/>
          <p:nvPr/>
        </p:nvSpPr>
        <p:spPr>
          <a:xfrm>
            <a:off x="685800" y="1737360"/>
            <a:ext cx="35661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The parser is assumed perfect. LLM query generation needs its own test.</a:t>
            </a:r>
            <a:endParaRPr b="0" i="0" sz="1400" u="none" cap="none" strike="noStrike">
              <a:solidFill>
                <a:schemeClr val="dk1"/>
              </a:solidFill>
              <a:latin typeface="Calibri"/>
              <a:ea typeface="Calibri"/>
              <a:cs typeface="Calibri"/>
              <a:sym typeface="Calibri"/>
            </a:endParaRPr>
          </a:p>
        </p:txBody>
      </p:sp>
      <p:sp>
        <p:nvSpPr>
          <p:cNvPr id="525" name="Google Shape;525;p25"/>
          <p:cNvSpPr/>
          <p:nvPr/>
        </p:nvSpPr>
        <p:spPr>
          <a:xfrm>
            <a:off x="4663440" y="1188720"/>
            <a:ext cx="4023360" cy="1417320"/>
          </a:xfrm>
          <a:prstGeom prst="roundRect">
            <a:avLst>
              <a:gd fmla="val 5161"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5"/>
          <p:cNvSpPr txBox="1"/>
          <p:nvPr/>
        </p:nvSpPr>
        <p:spPr>
          <a:xfrm>
            <a:off x="4892040" y="1353312"/>
            <a:ext cx="35661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500"/>
              <a:buFont typeface="Calibri"/>
              <a:buNone/>
            </a:pPr>
            <a:r>
              <a:rPr b="1" i="0" lang="en-US" sz="1500" u="none" cap="none" strike="noStrike">
                <a:solidFill>
                  <a:schemeClr val="accent3"/>
                </a:solidFill>
                <a:latin typeface="Calibri"/>
                <a:ea typeface="Calibri"/>
                <a:cs typeface="Calibri"/>
                <a:sym typeface="Calibri"/>
              </a:rPr>
              <a:t>Anything the golden set skips</a:t>
            </a:r>
            <a:endParaRPr b="0" i="0" sz="1500" u="none" cap="none" strike="noStrike">
              <a:solidFill>
                <a:schemeClr val="dk1"/>
              </a:solidFill>
              <a:latin typeface="Calibri"/>
              <a:ea typeface="Calibri"/>
              <a:cs typeface="Calibri"/>
              <a:sym typeface="Calibri"/>
            </a:endParaRPr>
          </a:p>
        </p:txBody>
      </p:sp>
      <p:sp>
        <p:nvSpPr>
          <p:cNvPr id="527" name="Google Shape;527;p25"/>
          <p:cNvSpPr txBox="1"/>
          <p:nvPr/>
        </p:nvSpPr>
        <p:spPr>
          <a:xfrm>
            <a:off x="4892040" y="1737360"/>
            <a:ext cx="35661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Defects no question touches cost nothing here. Cover what users actually ask.</a:t>
            </a:r>
            <a:endParaRPr b="0" i="0" sz="1400" u="none" cap="none" strike="noStrike">
              <a:solidFill>
                <a:schemeClr val="dk1"/>
              </a:solidFill>
              <a:latin typeface="Calibri"/>
              <a:ea typeface="Calibri"/>
              <a:cs typeface="Calibri"/>
              <a:sym typeface="Calibri"/>
            </a:endParaRPr>
          </a:p>
        </p:txBody>
      </p:sp>
      <p:sp>
        <p:nvSpPr>
          <p:cNvPr id="528" name="Google Shape;528;p25"/>
          <p:cNvSpPr/>
          <p:nvPr/>
        </p:nvSpPr>
        <p:spPr>
          <a:xfrm>
            <a:off x="457200" y="2788920"/>
            <a:ext cx="4023360" cy="1417320"/>
          </a:xfrm>
          <a:prstGeom prst="roundRect">
            <a:avLst>
              <a:gd fmla="val 5161"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5"/>
          <p:cNvSpPr txBox="1"/>
          <p:nvPr/>
        </p:nvSpPr>
        <p:spPr>
          <a:xfrm>
            <a:off x="685800" y="2953512"/>
            <a:ext cx="35661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500"/>
              <a:buFont typeface="Calibri"/>
              <a:buNone/>
            </a:pPr>
            <a:r>
              <a:rPr b="1" i="0" lang="en-US" sz="1500" u="none" cap="none" strike="noStrike">
                <a:solidFill>
                  <a:schemeClr val="accent3"/>
                </a:solidFill>
                <a:latin typeface="Calibri"/>
                <a:ea typeface="Calibri"/>
                <a:cs typeface="Calibri"/>
                <a:sym typeface="Calibri"/>
              </a:rPr>
              <a:t>Defects without a detector</a:t>
            </a:r>
            <a:endParaRPr b="0" i="0" sz="1500" u="none" cap="none" strike="noStrike">
              <a:solidFill>
                <a:schemeClr val="dk1"/>
              </a:solidFill>
              <a:latin typeface="Calibri"/>
              <a:ea typeface="Calibri"/>
              <a:cs typeface="Calibri"/>
              <a:sym typeface="Calibri"/>
            </a:endParaRPr>
          </a:p>
        </p:txBody>
      </p:sp>
      <p:sp>
        <p:nvSpPr>
          <p:cNvPr id="530" name="Google Shape;530;p25"/>
          <p:cNvSpPr txBox="1"/>
          <p:nvPr/>
        </p:nvSpPr>
        <p:spPr>
          <a:xfrm>
            <a:off x="685800" y="3337560"/>
            <a:ext cx="35661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The ranking can only blame what it can see. Track unexplained failures.</a:t>
            </a:r>
            <a:endParaRPr b="0" i="0" sz="1400" u="none" cap="none" strike="noStrike">
              <a:solidFill>
                <a:schemeClr val="dk1"/>
              </a:solidFill>
              <a:latin typeface="Calibri"/>
              <a:ea typeface="Calibri"/>
              <a:cs typeface="Calibri"/>
              <a:sym typeface="Calibri"/>
            </a:endParaRPr>
          </a:p>
        </p:txBody>
      </p:sp>
      <p:sp>
        <p:nvSpPr>
          <p:cNvPr id="531" name="Google Shape;531;p25"/>
          <p:cNvSpPr/>
          <p:nvPr/>
        </p:nvSpPr>
        <p:spPr>
          <a:xfrm>
            <a:off x="4663440" y="2788920"/>
            <a:ext cx="4023360" cy="1417320"/>
          </a:xfrm>
          <a:prstGeom prst="roundRect">
            <a:avLst>
              <a:gd fmla="val 5161" name="adj"/>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5"/>
          <p:cNvSpPr txBox="1"/>
          <p:nvPr/>
        </p:nvSpPr>
        <p:spPr>
          <a:xfrm>
            <a:off x="4892040" y="2953512"/>
            <a:ext cx="35661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500"/>
              <a:buFont typeface="Calibri"/>
              <a:buNone/>
            </a:pPr>
            <a:r>
              <a:rPr b="1" i="0" lang="en-US" sz="1500" u="none" cap="none" strike="noStrike">
                <a:solidFill>
                  <a:schemeClr val="accent3"/>
                </a:solidFill>
                <a:latin typeface="Calibri"/>
                <a:ea typeface="Calibri"/>
                <a:cs typeface="Calibri"/>
                <a:sym typeface="Calibri"/>
              </a:rPr>
              <a:t>Future recovery</a:t>
            </a:r>
            <a:endParaRPr b="0" i="0" sz="1500" u="none" cap="none" strike="noStrike">
              <a:solidFill>
                <a:schemeClr val="dk1"/>
              </a:solidFill>
              <a:latin typeface="Calibri"/>
              <a:ea typeface="Calibri"/>
              <a:cs typeface="Calibri"/>
              <a:sym typeface="Calibri"/>
            </a:endParaRPr>
          </a:p>
        </p:txBody>
      </p:sp>
      <p:sp>
        <p:nvSpPr>
          <p:cNvPr id="533" name="Google Shape;533;p25"/>
          <p:cNvSpPr txBox="1"/>
          <p:nvPr/>
        </p:nvSpPr>
        <p:spPr>
          <a:xfrm>
            <a:off x="4892040" y="3337560"/>
            <a:ext cx="35661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Attribution is a ranking, not a forecast. Report the re-measured number.</a:t>
            </a:r>
            <a:endParaRPr b="0" i="0" sz="1400" u="none" cap="none" strike="noStrike">
              <a:solidFill>
                <a:schemeClr val="dk1"/>
              </a:solidFill>
              <a:latin typeface="Calibri"/>
              <a:ea typeface="Calibri"/>
              <a:cs typeface="Calibri"/>
              <a:sym typeface="Calibri"/>
            </a:endParaRPr>
          </a:p>
        </p:txBody>
      </p:sp>
      <p:sp>
        <p:nvSpPr>
          <p:cNvPr id="534" name="Google Shape;534;p25"/>
          <p:cNvSpPr txBox="1"/>
          <p:nvPr/>
        </p:nvSpPr>
        <p:spPr>
          <a:xfrm>
            <a:off x="457200" y="4498848"/>
            <a:ext cx="7772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0" i="1" lang="en-US" sz="1000" u="none" cap="none" strike="noStrike">
                <a:solidFill>
                  <a:schemeClr val="dk2"/>
                </a:solidFill>
                <a:latin typeface="Calibri"/>
                <a:ea typeface="Calibri"/>
                <a:cs typeface="Calibri"/>
                <a:sym typeface="Calibri"/>
              </a:rPr>
              <a:t>Defects in the demo are simulated so the diagnosis can be checked against known causes; the fixes are ordinary data-quality procedures.</a:t>
            </a:r>
            <a:endParaRPr b="0" i="0" sz="1000" u="none" cap="none" strike="noStrike">
              <a:solidFill>
                <a:schemeClr val="dk1"/>
              </a:solidFill>
              <a:latin typeface="Calibri"/>
              <a:ea typeface="Calibri"/>
              <a:cs typeface="Calibri"/>
              <a:sym typeface="Calibri"/>
            </a:endParaRPr>
          </a:p>
        </p:txBody>
      </p:sp>
      <p:sp>
        <p:nvSpPr>
          <p:cNvPr id="535" name="Google Shape;535;p25"/>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26"/>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In production, run it as a release gate, not an autopilot</a:t>
            </a:r>
            <a:endParaRPr sz="2100"/>
          </a:p>
        </p:txBody>
      </p:sp>
      <p:graphicFrame>
        <p:nvGraphicFramePr>
          <p:cNvPr id="542" name="Google Shape;542;p26"/>
          <p:cNvGraphicFramePr/>
          <p:nvPr/>
        </p:nvGraphicFramePr>
        <p:xfrm>
          <a:off x="457200" y="1143000"/>
          <a:ext cx="3000000" cy="3000000"/>
        </p:xfrm>
        <a:graphic>
          <a:graphicData uri="http://schemas.openxmlformats.org/drawingml/2006/table">
            <a:tbl>
              <a:tblPr>
                <a:noFill/>
                <a:tableStyleId>{6EECCDFB-5EA0-44B6-A4F8-4B2AA8E01AB4}</a:tableStyleId>
              </a:tblPr>
              <a:tblGrid>
                <a:gridCol w="2926075"/>
                <a:gridCol w="2651750"/>
                <a:gridCol w="2651750"/>
              </a:tblGrid>
              <a:tr h="429775">
                <a:tc>
                  <a:txBody>
                    <a:bodyPr/>
                    <a:lstStyle/>
                    <a:p>
                      <a:pPr indent="0" lvl="0" marL="0" marR="0" rtl="0" algn="l">
                        <a:spcBef>
                          <a:spcPts val="0"/>
                        </a:spcBef>
                        <a:spcAft>
                          <a:spcPts val="0"/>
                        </a:spcAft>
                        <a:buClr>
                          <a:srgbClr val="B387FF"/>
                        </a:buClr>
                        <a:buSzPts val="1300"/>
                        <a:buFont typeface="Calibri"/>
                        <a:buNone/>
                      </a:pPr>
                      <a:r>
                        <a:rPr b="1" lang="en-US" sz="1300" u="none" cap="none" strike="noStrike">
                          <a:solidFill>
                            <a:srgbClr val="B387FF"/>
                          </a:solidFill>
                          <a:latin typeface="Calibri"/>
                          <a:ea typeface="Calibri"/>
                          <a:cs typeface="Calibri"/>
                          <a:sym typeface="Calibri"/>
                        </a:rPr>
                        <a:t>Stage</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2A1F45"/>
                    </a:solidFill>
                  </a:tcPr>
                </a:tc>
                <a:tc>
                  <a:txBody>
                    <a:bodyPr/>
                    <a:lstStyle/>
                    <a:p>
                      <a:pPr indent="0" lvl="0" marL="0" marR="0" rtl="0" algn="l">
                        <a:spcBef>
                          <a:spcPts val="0"/>
                        </a:spcBef>
                        <a:spcAft>
                          <a:spcPts val="0"/>
                        </a:spcAft>
                        <a:buClr>
                          <a:srgbClr val="B387FF"/>
                        </a:buClr>
                        <a:buSzPts val="1300"/>
                        <a:buFont typeface="Calibri"/>
                        <a:buNone/>
                      </a:pPr>
                      <a:r>
                        <a:rPr b="1" lang="en-US" sz="1300" u="none" cap="none" strike="noStrike">
                          <a:solidFill>
                            <a:srgbClr val="B387FF"/>
                          </a:solidFill>
                          <a:latin typeface="Calibri"/>
                          <a:ea typeface="Calibri"/>
                          <a:cs typeface="Calibri"/>
                          <a:sym typeface="Calibri"/>
                        </a:rPr>
                        <a:t>When</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2A1F45"/>
                    </a:solidFill>
                  </a:tcPr>
                </a:tc>
                <a:tc>
                  <a:txBody>
                    <a:bodyPr/>
                    <a:lstStyle/>
                    <a:p>
                      <a:pPr indent="0" lvl="0" marL="0" marR="0" rtl="0" algn="l">
                        <a:spcBef>
                          <a:spcPts val="0"/>
                        </a:spcBef>
                        <a:spcAft>
                          <a:spcPts val="0"/>
                        </a:spcAft>
                        <a:buClr>
                          <a:srgbClr val="B387FF"/>
                        </a:buClr>
                        <a:buSzPts val="1300"/>
                        <a:buFont typeface="Calibri"/>
                        <a:buNone/>
                      </a:pPr>
                      <a:r>
                        <a:rPr b="1" lang="en-US" sz="1300" u="none" cap="none" strike="noStrike">
                          <a:solidFill>
                            <a:srgbClr val="B387FF"/>
                          </a:solidFill>
                          <a:latin typeface="Calibri"/>
                          <a:ea typeface="Calibri"/>
                          <a:cs typeface="Calibri"/>
                          <a:sym typeface="Calibri"/>
                        </a:rPr>
                        <a:t>Who acts</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2A1F45"/>
                    </a:solidFill>
                  </a:tcPr>
                </a:tc>
              </a:tr>
              <a:tr h="429775">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Constraint checks</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C9C2DC"/>
                        </a:buClr>
                        <a:buSzPts val="1300"/>
                        <a:buFont typeface="Calibri"/>
                        <a:buNone/>
                      </a:pPr>
                      <a:r>
                        <a:rPr lang="en-US" sz="1300" u="none" cap="none" strike="noStrike">
                          <a:solidFill>
                            <a:srgbClr val="C9C2DC"/>
                          </a:solidFill>
                          <a:latin typeface="Calibri"/>
                          <a:ea typeface="Calibri"/>
                          <a:cs typeface="Calibri"/>
                          <a:sym typeface="Calibri"/>
                        </a:rPr>
                        <a:t>Every load, seconds</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3DD9C1"/>
                        </a:buClr>
                        <a:buSzPts val="1300"/>
                        <a:buFont typeface="Calibri"/>
                        <a:buNone/>
                      </a:pPr>
                      <a:r>
                        <a:rPr lang="en-US" sz="1300" u="none" cap="none" strike="noStrike">
                          <a:solidFill>
                            <a:srgbClr val="3DD9C1"/>
                          </a:solidFill>
                          <a:latin typeface="Calibri"/>
                          <a:ea typeface="Calibri"/>
                          <a:cs typeface="Calibri"/>
                          <a:sym typeface="Calibri"/>
                        </a:rPr>
                        <a:t>Automatic</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r>
              <a:tr h="429775">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Golden-set regression</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C9C2DC"/>
                        </a:buClr>
                        <a:buSzPts val="1300"/>
                        <a:buFont typeface="Calibri"/>
                        <a:buNone/>
                      </a:pPr>
                      <a:r>
                        <a:rPr lang="en-US" sz="1300" u="none" cap="none" strike="noStrike">
                          <a:solidFill>
                            <a:srgbClr val="C9C2DC"/>
                          </a:solidFill>
                          <a:latin typeface="Calibri"/>
                          <a:ea typeface="Calibri"/>
                          <a:cs typeface="Calibri"/>
                          <a:sym typeface="Calibri"/>
                        </a:rPr>
                        <a:t>Every load, minutes</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3DD9C1"/>
                        </a:buClr>
                        <a:buSzPts val="1300"/>
                        <a:buFont typeface="Calibri"/>
                        <a:buNone/>
                      </a:pPr>
                      <a:r>
                        <a:rPr lang="en-US" sz="1300" u="none" cap="none" strike="noStrike">
                          <a:solidFill>
                            <a:srgbClr val="3DD9C1"/>
                          </a:solidFill>
                          <a:latin typeface="Calibri"/>
                          <a:ea typeface="Calibri"/>
                          <a:cs typeface="Calibri"/>
                          <a:sym typeface="Calibri"/>
                        </a:rPr>
                        <a:t>Automatic; blocks the release</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r>
              <a:tr h="429775">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Diagnosis against the last good snapshot</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C9C2DC"/>
                        </a:buClr>
                        <a:buSzPts val="1300"/>
                        <a:buFont typeface="Calibri"/>
                        <a:buNone/>
                      </a:pPr>
                      <a:r>
                        <a:rPr lang="en-US" sz="1300" u="none" cap="none" strike="noStrike">
                          <a:solidFill>
                            <a:srgbClr val="C9C2DC"/>
                          </a:solidFill>
                          <a:latin typeface="Calibri"/>
                          <a:ea typeface="Calibri"/>
                          <a:cs typeface="Calibri"/>
                          <a:sym typeface="Calibri"/>
                        </a:rPr>
                        <a:t>When accuracy drops</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3DD9C1"/>
                        </a:buClr>
                        <a:buSzPts val="1300"/>
                        <a:buFont typeface="Calibri"/>
                        <a:buNone/>
                      </a:pPr>
                      <a:r>
                        <a:rPr lang="en-US" sz="1300" u="none" cap="none" strike="noStrike">
                          <a:solidFill>
                            <a:srgbClr val="3DD9C1"/>
                          </a:solidFill>
                          <a:latin typeface="Calibri"/>
                          <a:ea typeface="Calibri"/>
                          <a:cs typeface="Calibri"/>
                          <a:sym typeface="Calibri"/>
                        </a:rPr>
                        <a:t>Automatic report</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r>
              <a:tr h="429775">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Safe repairs on staging</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C9C2DC"/>
                        </a:buClr>
                        <a:buSzPts val="1300"/>
                        <a:buFont typeface="Calibri"/>
                        <a:buNone/>
                      </a:pPr>
                      <a:r>
                        <a:rPr lang="en-US" sz="1300" u="none" cap="none" strike="noStrike">
                          <a:solidFill>
                            <a:srgbClr val="C9C2DC"/>
                          </a:solidFill>
                          <a:latin typeface="Calibri"/>
                          <a:ea typeface="Calibri"/>
                          <a:cs typeface="Calibri"/>
                          <a:sym typeface="Calibri"/>
                        </a:rPr>
                        <a:t>Re-sync properties, restore keys</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3DD9C1"/>
                        </a:buClr>
                        <a:buSzPts val="1300"/>
                        <a:buFont typeface="Calibri"/>
                        <a:buNone/>
                      </a:pPr>
                      <a:r>
                        <a:rPr lang="en-US" sz="1300" u="none" cap="none" strike="noStrike">
                          <a:solidFill>
                            <a:srgbClr val="3DD9C1"/>
                          </a:solidFill>
                          <a:latin typeface="Calibri"/>
                          <a:ea typeface="Calibri"/>
                          <a:cs typeface="Calibri"/>
                          <a:sym typeface="Calibri"/>
                        </a:rPr>
                        <a:t>Automatic promote or roll back</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r>
              <a:tr h="429775">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Judgment repairs</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C9C2DC"/>
                        </a:buClr>
                        <a:buSzPts val="1300"/>
                        <a:buFont typeface="Calibri"/>
                        <a:buNone/>
                      </a:pPr>
                      <a:r>
                        <a:rPr lang="en-US" sz="1300" u="none" cap="none" strike="noStrike">
                          <a:solidFill>
                            <a:srgbClr val="C9C2DC"/>
                          </a:solidFill>
                          <a:latin typeface="Calibri"/>
                          <a:ea typeface="Calibri"/>
                          <a:cs typeface="Calibri"/>
                          <a:sym typeface="Calibri"/>
                        </a:rPr>
                        <a:t>Entity merges, schema changes</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c>
                  <a:txBody>
                    <a:bodyPr/>
                    <a:lstStyle/>
                    <a:p>
                      <a:pPr indent="0" lvl="0" marL="0" marR="0" rtl="0" algn="l">
                        <a:spcBef>
                          <a:spcPts val="0"/>
                        </a:spcBef>
                        <a:spcAft>
                          <a:spcPts val="0"/>
                        </a:spcAft>
                        <a:buClr>
                          <a:srgbClr val="FFB547"/>
                        </a:buClr>
                        <a:buSzPts val="1300"/>
                        <a:buFont typeface="Calibri"/>
                        <a:buNone/>
                      </a:pPr>
                      <a:r>
                        <a:rPr lang="en-US" sz="1300" u="none" cap="none" strike="noStrike">
                          <a:solidFill>
                            <a:srgbClr val="FFB547"/>
                          </a:solidFill>
                          <a:latin typeface="Calibri"/>
                          <a:ea typeface="Calibri"/>
                          <a:cs typeface="Calibri"/>
                          <a:sym typeface="Calibri"/>
                        </a:rPr>
                        <a:t>Human review, evidence attached</a:t>
                      </a:r>
                      <a:endParaRPr sz="1300" u="none" cap="none" strike="noStrike">
                        <a:latin typeface="Calibri"/>
                        <a:ea typeface="Calibri"/>
                        <a:cs typeface="Calibri"/>
                        <a:sym typeface="Calibri"/>
                      </a:endParaRPr>
                    </a:p>
                  </a:txBody>
                  <a:tcPr marT="73150" marB="73150" marR="73150" marL="73150" anchor="ctr">
                    <a:lnL cap="flat" cmpd="sng" w="9525">
                      <a:solidFill>
                        <a:srgbClr val="4A3A70"/>
                      </a:solidFill>
                      <a:prstDash val="solid"/>
                      <a:round/>
                      <a:headEnd len="sm" w="sm" type="none"/>
                      <a:tailEnd len="sm" w="sm" type="none"/>
                    </a:lnL>
                    <a:lnR cap="flat" cmpd="sng" w="9525">
                      <a:solidFill>
                        <a:srgbClr val="4A3A70"/>
                      </a:solidFill>
                      <a:prstDash val="solid"/>
                      <a:round/>
                      <a:headEnd len="sm" w="sm" type="none"/>
                      <a:tailEnd len="sm" w="sm" type="none"/>
                    </a:lnR>
                    <a:lnT cap="flat" cmpd="sng" w="9525">
                      <a:solidFill>
                        <a:srgbClr val="4A3A70"/>
                      </a:solidFill>
                      <a:prstDash val="solid"/>
                      <a:round/>
                      <a:headEnd len="sm" w="sm" type="none"/>
                      <a:tailEnd len="sm" w="sm" type="none"/>
                    </a:lnT>
                    <a:lnB cap="flat" cmpd="sng" w="9525">
                      <a:solidFill>
                        <a:srgbClr val="4A3A70"/>
                      </a:solidFill>
                      <a:prstDash val="solid"/>
                      <a:round/>
                      <a:headEnd len="sm" w="sm" type="none"/>
                      <a:tailEnd len="sm" w="sm" type="none"/>
                    </a:lnB>
                    <a:solidFill>
                      <a:srgbClr val="1A1030"/>
                    </a:solidFill>
                  </a:tcPr>
                </a:tc>
              </a:tr>
            </a:tbl>
          </a:graphicData>
        </a:graphic>
      </p:graphicFrame>
      <p:sp>
        <p:nvSpPr>
          <p:cNvPr id="543" name="Google Shape;543;p26"/>
          <p:cNvSpPr/>
          <p:nvPr/>
        </p:nvSpPr>
        <p:spPr>
          <a:xfrm>
            <a:off x="457200" y="3977640"/>
            <a:ext cx="8229600" cy="548640"/>
          </a:xfrm>
          <a:prstGeom prst="roundRect">
            <a:avLst>
              <a:gd fmla="val 13333"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6"/>
          <p:cNvSpPr txBox="1"/>
          <p:nvPr/>
        </p:nvSpPr>
        <p:spPr>
          <a:xfrm>
            <a:off x="685800" y="3977640"/>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400"/>
              <a:buFont typeface="Calibri"/>
              <a:buNone/>
            </a:pPr>
            <a:r>
              <a:rPr b="1" i="0" lang="en-US" sz="1400" u="none" cap="none" strike="noStrike">
                <a:solidFill>
                  <a:schemeClr val="accent2"/>
                </a:solidFill>
                <a:latin typeface="Calibri"/>
                <a:ea typeface="Calibri"/>
                <a:cs typeface="Calibri"/>
                <a:sym typeface="Calibri"/>
              </a:rPr>
              <a:t>Fix the pipeline, not just the graph: </a:t>
            </a:r>
            <a:r>
              <a:rPr b="0" i="0" lang="en-US" sz="1400" u="none" cap="none" strike="noStrike">
                <a:solidFill>
                  <a:schemeClr val="dk1"/>
                </a:solidFill>
                <a:latin typeface="Calibri"/>
                <a:ea typeface="Calibri"/>
                <a:cs typeface="Calibri"/>
                <a:sym typeface="Calibri"/>
              </a:rPr>
              <a:t>a defect that keeps returning is a bug in an ETL step.</a:t>
            </a:r>
            <a:endParaRPr b="0" i="0" sz="1400" u="none" cap="none" strike="noStrike">
              <a:solidFill>
                <a:schemeClr val="dk1"/>
              </a:solidFill>
              <a:latin typeface="Calibri"/>
              <a:ea typeface="Calibri"/>
              <a:cs typeface="Calibri"/>
              <a:sym typeface="Calibri"/>
            </a:endParaRPr>
          </a:p>
        </p:txBody>
      </p:sp>
      <p:sp>
        <p:nvSpPr>
          <p:cNvPr id="545" name="Google Shape;545;p26"/>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27"/>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Adding an LLM: one extra run separates query errors from graph errors</a:t>
            </a:r>
            <a:endParaRPr sz="2100"/>
          </a:p>
        </p:txBody>
      </p:sp>
      <p:sp>
        <p:nvSpPr>
          <p:cNvPr id="552" name="Google Shape;552;p27"/>
          <p:cNvSpPr txBox="1"/>
          <p:nvPr/>
        </p:nvSpPr>
        <p:spPr>
          <a:xfrm>
            <a:off x="2743200" y="1143000"/>
            <a:ext cx="5943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LLM query on the graph under test</a:t>
            </a:r>
            <a:endParaRPr b="0" i="0" sz="1200" u="none" cap="none" strike="noStrike">
              <a:solidFill>
                <a:schemeClr val="dk1"/>
              </a:solidFill>
              <a:latin typeface="Calibri"/>
              <a:ea typeface="Calibri"/>
              <a:cs typeface="Calibri"/>
              <a:sym typeface="Calibri"/>
            </a:endParaRPr>
          </a:p>
        </p:txBody>
      </p:sp>
      <p:sp>
        <p:nvSpPr>
          <p:cNvPr id="553" name="Google Shape;553;p27"/>
          <p:cNvSpPr txBox="1"/>
          <p:nvPr/>
        </p:nvSpPr>
        <p:spPr>
          <a:xfrm>
            <a:off x="2743200" y="1417320"/>
            <a:ext cx="288036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Correct</a:t>
            </a:r>
            <a:endParaRPr b="0" i="0" sz="1200" u="none" cap="none" strike="noStrike">
              <a:solidFill>
                <a:schemeClr val="dk1"/>
              </a:solidFill>
              <a:latin typeface="Calibri"/>
              <a:ea typeface="Calibri"/>
              <a:cs typeface="Calibri"/>
              <a:sym typeface="Calibri"/>
            </a:endParaRPr>
          </a:p>
        </p:txBody>
      </p:sp>
      <p:sp>
        <p:nvSpPr>
          <p:cNvPr id="554" name="Google Shape;554;p27"/>
          <p:cNvSpPr txBox="1"/>
          <p:nvPr/>
        </p:nvSpPr>
        <p:spPr>
          <a:xfrm>
            <a:off x="5806440" y="1417320"/>
            <a:ext cx="288036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3"/>
              </a:buClr>
              <a:buSzPts val="1200"/>
              <a:buFont typeface="Calibri"/>
              <a:buNone/>
            </a:pPr>
            <a:r>
              <a:rPr b="1" i="0" lang="en-US" sz="1200" u="none" cap="none" strike="noStrike">
                <a:solidFill>
                  <a:schemeClr val="accent3"/>
                </a:solidFill>
                <a:latin typeface="Calibri"/>
                <a:ea typeface="Calibri"/>
                <a:cs typeface="Calibri"/>
                <a:sym typeface="Calibri"/>
              </a:rPr>
              <a:t>Wrong</a:t>
            </a:r>
            <a:endParaRPr b="0" i="0" sz="1200" u="none" cap="none" strike="noStrike">
              <a:solidFill>
                <a:schemeClr val="dk1"/>
              </a:solidFill>
              <a:latin typeface="Calibri"/>
              <a:ea typeface="Calibri"/>
              <a:cs typeface="Calibri"/>
              <a:sym typeface="Calibri"/>
            </a:endParaRPr>
          </a:p>
        </p:txBody>
      </p:sp>
      <p:sp>
        <p:nvSpPr>
          <p:cNvPr id="555" name="Google Shape;555;p27"/>
          <p:cNvSpPr txBox="1"/>
          <p:nvPr/>
        </p:nvSpPr>
        <p:spPr>
          <a:xfrm>
            <a:off x="457200" y="1737360"/>
            <a:ext cx="118872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LLM query on a trusted snapshot</a:t>
            </a:r>
            <a:endParaRPr b="0" i="0" sz="1200" u="none" cap="none" strike="noStrike">
              <a:solidFill>
                <a:schemeClr val="dk1"/>
              </a:solidFill>
              <a:latin typeface="Calibri"/>
              <a:ea typeface="Calibri"/>
              <a:cs typeface="Calibri"/>
              <a:sym typeface="Calibri"/>
            </a:endParaRPr>
          </a:p>
        </p:txBody>
      </p:sp>
      <p:sp>
        <p:nvSpPr>
          <p:cNvPr id="556" name="Google Shape;556;p27"/>
          <p:cNvSpPr txBox="1"/>
          <p:nvPr/>
        </p:nvSpPr>
        <p:spPr>
          <a:xfrm>
            <a:off x="1691640" y="1737360"/>
            <a:ext cx="96012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Correct</a:t>
            </a:r>
            <a:endParaRPr b="0" i="0" sz="1200" u="none" cap="none" strike="noStrike">
              <a:solidFill>
                <a:schemeClr val="dk1"/>
              </a:solidFill>
              <a:latin typeface="Calibri"/>
              <a:ea typeface="Calibri"/>
              <a:cs typeface="Calibri"/>
              <a:sym typeface="Calibri"/>
            </a:endParaRPr>
          </a:p>
        </p:txBody>
      </p:sp>
      <p:sp>
        <p:nvSpPr>
          <p:cNvPr id="557" name="Google Shape;557;p27"/>
          <p:cNvSpPr txBox="1"/>
          <p:nvPr/>
        </p:nvSpPr>
        <p:spPr>
          <a:xfrm>
            <a:off x="1691640" y="2788920"/>
            <a:ext cx="96012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200"/>
              <a:buFont typeface="Calibri"/>
              <a:buNone/>
            </a:pPr>
            <a:r>
              <a:rPr b="1" i="0" lang="en-US" sz="1200" u="none" cap="none" strike="noStrike">
                <a:solidFill>
                  <a:schemeClr val="accent3"/>
                </a:solidFill>
                <a:latin typeface="Calibri"/>
                <a:ea typeface="Calibri"/>
                <a:cs typeface="Calibri"/>
                <a:sym typeface="Calibri"/>
              </a:rPr>
              <a:t>Wrong</a:t>
            </a:r>
            <a:endParaRPr b="0" i="0" sz="1200" u="none" cap="none" strike="noStrike">
              <a:solidFill>
                <a:schemeClr val="dk1"/>
              </a:solidFill>
              <a:latin typeface="Calibri"/>
              <a:ea typeface="Calibri"/>
              <a:cs typeface="Calibri"/>
              <a:sym typeface="Calibri"/>
            </a:endParaRPr>
          </a:p>
        </p:txBody>
      </p:sp>
      <p:sp>
        <p:nvSpPr>
          <p:cNvPr id="558" name="Google Shape;558;p27"/>
          <p:cNvSpPr/>
          <p:nvPr/>
        </p:nvSpPr>
        <p:spPr>
          <a:xfrm>
            <a:off x="2743200" y="1737360"/>
            <a:ext cx="2880360" cy="960120"/>
          </a:xfrm>
          <a:prstGeom prst="roundRect">
            <a:avLst>
              <a:gd fmla="val 7619" name="adj"/>
            </a:avLst>
          </a:prstGeom>
          <a:solidFill>
            <a:schemeClr val="lt2"/>
          </a:solidFill>
          <a:ln cap="flat" cmpd="sng" w="158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7"/>
          <p:cNvSpPr txBox="1"/>
          <p:nvPr/>
        </p:nvSpPr>
        <p:spPr>
          <a:xfrm>
            <a:off x="2926080" y="1737360"/>
            <a:ext cx="2514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400"/>
              <a:buFont typeface="Calibri"/>
              <a:buNone/>
            </a:pPr>
            <a:r>
              <a:rPr b="1" i="0" lang="en-US" sz="1400" u="none" cap="none" strike="noStrike">
                <a:solidFill>
                  <a:schemeClr val="accent2"/>
                </a:solidFill>
                <a:latin typeface="Calibri"/>
                <a:ea typeface="Calibri"/>
                <a:cs typeface="Calibri"/>
                <a:sym typeface="Calibri"/>
              </a:rPr>
              <a:t>Working</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Both the query and the graph are right</a:t>
            </a:r>
            <a:endParaRPr b="0" i="0" sz="1400" u="none" cap="none" strike="noStrike">
              <a:solidFill>
                <a:schemeClr val="dk1"/>
              </a:solidFill>
              <a:latin typeface="Calibri"/>
              <a:ea typeface="Calibri"/>
              <a:cs typeface="Calibri"/>
              <a:sym typeface="Calibri"/>
            </a:endParaRPr>
          </a:p>
        </p:txBody>
      </p:sp>
      <p:sp>
        <p:nvSpPr>
          <p:cNvPr id="560" name="Google Shape;560;p27"/>
          <p:cNvSpPr/>
          <p:nvPr/>
        </p:nvSpPr>
        <p:spPr>
          <a:xfrm>
            <a:off x="5806440" y="1737360"/>
            <a:ext cx="2880360" cy="960120"/>
          </a:xfrm>
          <a:prstGeom prst="roundRect">
            <a:avLst>
              <a:gd fmla="val 7619" name="adj"/>
            </a:avLst>
          </a:prstGeom>
          <a:solidFill>
            <a:schemeClr val="lt2"/>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7"/>
          <p:cNvSpPr txBox="1"/>
          <p:nvPr/>
        </p:nvSpPr>
        <p:spPr>
          <a:xfrm>
            <a:off x="5989320" y="1737360"/>
            <a:ext cx="2514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Graph defect</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Use the diagnosis from this talk</a:t>
            </a:r>
            <a:endParaRPr b="0" i="0" sz="1400" u="none" cap="none" strike="noStrike">
              <a:solidFill>
                <a:schemeClr val="dk1"/>
              </a:solidFill>
              <a:latin typeface="Calibri"/>
              <a:ea typeface="Calibri"/>
              <a:cs typeface="Calibri"/>
              <a:sym typeface="Calibri"/>
            </a:endParaRPr>
          </a:p>
        </p:txBody>
      </p:sp>
      <p:sp>
        <p:nvSpPr>
          <p:cNvPr id="562" name="Google Shape;562;p27"/>
          <p:cNvSpPr/>
          <p:nvPr/>
        </p:nvSpPr>
        <p:spPr>
          <a:xfrm>
            <a:off x="2743200" y="2788920"/>
            <a:ext cx="2880360" cy="960120"/>
          </a:xfrm>
          <a:prstGeom prst="roundRect">
            <a:avLst>
              <a:gd fmla="val 7619" name="adj"/>
            </a:avLst>
          </a:prstGeom>
          <a:solidFill>
            <a:schemeClr val="lt2"/>
          </a:solidFill>
          <a:ln cap="flat" cmpd="sng" w="158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7"/>
          <p:cNvSpPr txBox="1"/>
          <p:nvPr/>
        </p:nvSpPr>
        <p:spPr>
          <a:xfrm>
            <a:off x="2926080" y="2788920"/>
            <a:ext cx="2514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1" i="0" lang="en-US" sz="1400" u="none" cap="none" strike="noStrike">
                <a:solidFill>
                  <a:schemeClr val="accent5"/>
                </a:solidFill>
                <a:latin typeface="Calibri"/>
                <a:ea typeface="Calibri"/>
                <a:cs typeface="Calibri"/>
                <a:sym typeface="Calibri"/>
              </a:rPr>
              <a:t>Query error, masked</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A graph defect hides the query bug</a:t>
            </a:r>
            <a:endParaRPr b="0" i="0" sz="1400" u="none" cap="none" strike="noStrike">
              <a:solidFill>
                <a:schemeClr val="dk1"/>
              </a:solidFill>
              <a:latin typeface="Calibri"/>
              <a:ea typeface="Calibri"/>
              <a:cs typeface="Calibri"/>
              <a:sym typeface="Calibri"/>
            </a:endParaRPr>
          </a:p>
        </p:txBody>
      </p:sp>
      <p:sp>
        <p:nvSpPr>
          <p:cNvPr id="564" name="Google Shape;564;p27"/>
          <p:cNvSpPr/>
          <p:nvPr/>
        </p:nvSpPr>
        <p:spPr>
          <a:xfrm>
            <a:off x="5806440" y="2788920"/>
            <a:ext cx="2880360" cy="960120"/>
          </a:xfrm>
          <a:prstGeom prst="roundRect">
            <a:avLst>
              <a:gd fmla="val 7619" name="adj"/>
            </a:avLst>
          </a:prstGeom>
          <a:solidFill>
            <a:schemeClr val="lt2"/>
          </a:solidFill>
          <a:ln cap="flat" cmpd="sng" w="158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7"/>
          <p:cNvSpPr txBox="1"/>
          <p:nvPr/>
        </p:nvSpPr>
        <p:spPr>
          <a:xfrm>
            <a:off x="5989320" y="2788920"/>
            <a:ext cx="2514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400"/>
              <a:buFont typeface="Calibri"/>
              <a:buNone/>
            </a:pPr>
            <a:r>
              <a:rPr b="1" i="0" lang="en-US" sz="1400" u="none" cap="none" strike="noStrike">
                <a:solidFill>
                  <a:schemeClr val="accent3"/>
                </a:solidFill>
                <a:latin typeface="Calibri"/>
                <a:ea typeface="Calibri"/>
                <a:cs typeface="Calibri"/>
                <a:sym typeface="Calibri"/>
              </a:rPr>
              <a:t>Query error</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Fix the prompt, schema description or examples</a:t>
            </a:r>
            <a:endParaRPr b="0" i="0" sz="1400" u="none" cap="none" strike="noStrike">
              <a:solidFill>
                <a:schemeClr val="dk1"/>
              </a:solidFill>
              <a:latin typeface="Calibri"/>
              <a:ea typeface="Calibri"/>
              <a:cs typeface="Calibri"/>
              <a:sym typeface="Calibri"/>
            </a:endParaRPr>
          </a:p>
        </p:txBody>
      </p:sp>
      <p:sp>
        <p:nvSpPr>
          <p:cNvPr id="566" name="Google Shape;566;p27"/>
          <p:cNvSpPr/>
          <p:nvPr/>
        </p:nvSpPr>
        <p:spPr>
          <a:xfrm>
            <a:off x="457200" y="3931920"/>
            <a:ext cx="8229600" cy="594360"/>
          </a:xfrm>
          <a:prstGeom prst="roundRect">
            <a:avLst>
              <a:gd fmla="val 12308"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7"/>
          <p:cNvSpPr txBox="1"/>
          <p:nvPr/>
        </p:nvSpPr>
        <p:spPr>
          <a:xfrm>
            <a:off x="685800" y="39319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LLM-extracted graphs: </a:t>
            </a:r>
            <a:r>
              <a:rPr b="0" i="0" lang="en-US" sz="1400" u="none" cap="none" strike="noStrike">
                <a:solidFill>
                  <a:schemeClr val="dk1"/>
                </a:solidFill>
                <a:latin typeface="Calibri"/>
                <a:ea typeface="Calibri"/>
                <a:cs typeface="Calibri"/>
                <a:sym typeface="Calibri"/>
              </a:rPr>
              <a:t>no system of record to reconcile, so detectors shift to provenance checks on each relationship.</a:t>
            </a:r>
            <a:endParaRPr b="0" i="0" sz="1400" u="none" cap="none" strike="noStrike">
              <a:solidFill>
                <a:schemeClr val="dk1"/>
              </a:solidFill>
              <a:latin typeface="Calibri"/>
              <a:ea typeface="Calibri"/>
              <a:cs typeface="Calibri"/>
              <a:sym typeface="Calibri"/>
            </a:endParaRPr>
          </a:p>
        </p:txBody>
      </p:sp>
      <p:sp>
        <p:nvSpPr>
          <p:cNvPr id="568" name="Google Shape;568;p27"/>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28"/>
          <p:cNvSpPr txBox="1"/>
          <p:nvPr>
            <p:ph type="title"/>
          </p:nvPr>
        </p:nvSpPr>
        <p:spPr>
          <a:xfrm>
            <a:off x="457200" y="685800"/>
            <a:ext cx="6126480" cy="132588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dk1"/>
              </a:buClr>
              <a:buSzPts val="2700"/>
              <a:buFont typeface="Arial"/>
              <a:buNone/>
            </a:pPr>
            <a:r>
              <a:rPr b="1" lang="en-US" sz="2700">
                <a:solidFill>
                  <a:schemeClr val="dk1"/>
                </a:solidFill>
              </a:rPr>
              <a:t>Three takeaways</a:t>
            </a:r>
            <a:endParaRPr sz="2700"/>
          </a:p>
        </p:txBody>
      </p:sp>
      <p:sp>
        <p:nvSpPr>
          <p:cNvPr id="575" name="Google Shape;575;p28"/>
          <p:cNvSpPr/>
          <p:nvPr/>
        </p:nvSpPr>
        <p:spPr>
          <a:xfrm>
            <a:off x="457200" y="2157984"/>
            <a:ext cx="292608" cy="292608"/>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8"/>
          <p:cNvSpPr txBox="1"/>
          <p:nvPr/>
        </p:nvSpPr>
        <p:spPr>
          <a:xfrm>
            <a:off x="457200" y="215798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577" name="Google Shape;577;p28"/>
          <p:cNvSpPr txBox="1"/>
          <p:nvPr/>
        </p:nvSpPr>
        <p:spPr>
          <a:xfrm>
            <a:off x="868680" y="2130552"/>
            <a:ext cx="5989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Score exact answers against a golden set: mean F1 hides plausible errors.</a:t>
            </a:r>
            <a:endParaRPr b="0" i="0" sz="1400" u="none" cap="none" strike="noStrike">
              <a:solidFill>
                <a:schemeClr val="dk1"/>
              </a:solidFill>
              <a:latin typeface="Calibri"/>
              <a:ea typeface="Calibri"/>
              <a:cs typeface="Calibri"/>
              <a:sym typeface="Calibri"/>
            </a:endParaRPr>
          </a:p>
        </p:txBody>
      </p:sp>
      <p:sp>
        <p:nvSpPr>
          <p:cNvPr id="578" name="Google Shape;578;p28"/>
          <p:cNvSpPr/>
          <p:nvPr/>
        </p:nvSpPr>
        <p:spPr>
          <a:xfrm>
            <a:off x="457200" y="2542032"/>
            <a:ext cx="292608" cy="292608"/>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8"/>
          <p:cNvSpPr txBox="1"/>
          <p:nvPr/>
        </p:nvSpPr>
        <p:spPr>
          <a:xfrm>
            <a:off x="457200" y="254203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580" name="Google Shape;580;p28"/>
          <p:cNvSpPr txBox="1"/>
          <p:nvPr/>
        </p:nvSpPr>
        <p:spPr>
          <a:xfrm>
            <a:off x="868680" y="2514600"/>
            <a:ext cx="5989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Count defects on each query's path and attribute failures to controls.</a:t>
            </a:r>
            <a:endParaRPr b="0" i="0" sz="1400" u="none" cap="none" strike="noStrike">
              <a:solidFill>
                <a:schemeClr val="dk1"/>
              </a:solidFill>
              <a:latin typeface="Calibri"/>
              <a:ea typeface="Calibri"/>
              <a:cs typeface="Calibri"/>
              <a:sym typeface="Calibri"/>
            </a:endParaRPr>
          </a:p>
        </p:txBody>
      </p:sp>
      <p:sp>
        <p:nvSpPr>
          <p:cNvPr id="581" name="Google Shape;581;p28"/>
          <p:cNvSpPr/>
          <p:nvPr/>
        </p:nvSpPr>
        <p:spPr>
          <a:xfrm>
            <a:off x="457200" y="2926080"/>
            <a:ext cx="292608" cy="292608"/>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8"/>
          <p:cNvSpPr txBox="1"/>
          <p:nvPr/>
        </p:nvSpPr>
        <p:spPr>
          <a:xfrm>
            <a:off x="457200" y="292608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583" name="Google Shape;583;p28"/>
          <p:cNvSpPr txBox="1"/>
          <p:nvPr/>
        </p:nvSpPr>
        <p:spPr>
          <a:xfrm>
            <a:off x="868680" y="2898648"/>
            <a:ext cx="5989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Use the ranking as a shortlist, re-measure each fix, gate every release.</a:t>
            </a:r>
            <a:endParaRPr b="0" i="0" sz="1400" u="none" cap="none" strike="noStrike">
              <a:solidFill>
                <a:schemeClr val="dk1"/>
              </a:solidFill>
              <a:latin typeface="Calibri"/>
              <a:ea typeface="Calibri"/>
              <a:cs typeface="Calibri"/>
              <a:sym typeface="Calibri"/>
            </a:endParaRPr>
          </a:p>
        </p:txBody>
      </p:sp>
      <p:sp>
        <p:nvSpPr>
          <p:cNvPr id="584" name="Google Shape;584;p28"/>
          <p:cNvSpPr/>
          <p:nvPr/>
        </p:nvSpPr>
        <p:spPr>
          <a:xfrm>
            <a:off x="6949440" y="914400"/>
            <a:ext cx="1600200" cy="1600200"/>
          </a:xfrm>
          <a:prstGeom prst="roundRect">
            <a:avLst>
              <a:gd fmla="val 4571"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QR code linking to the tutorial repository on GitHub" id="585" name="Google Shape;585;p28"/>
          <p:cNvPicPr preferRelativeResize="0"/>
          <p:nvPr/>
        </p:nvPicPr>
        <p:blipFill rotWithShape="1">
          <a:blip r:embed="rId3">
            <a:alphaModFix/>
          </a:blip>
          <a:srcRect b="0" l="0" r="0" t="0"/>
          <a:stretch/>
        </p:blipFill>
        <p:spPr>
          <a:xfrm>
            <a:off x="7013448" y="978408"/>
            <a:ext cx="1472184" cy="1472184"/>
          </a:xfrm>
          <a:prstGeom prst="rect">
            <a:avLst/>
          </a:prstGeom>
          <a:noFill/>
          <a:ln>
            <a:noFill/>
          </a:ln>
        </p:spPr>
      </p:pic>
      <p:sp>
        <p:nvSpPr>
          <p:cNvPr id="586" name="Google Shape;586;p28"/>
          <p:cNvSpPr txBox="1"/>
          <p:nvPr/>
        </p:nvSpPr>
        <p:spPr>
          <a:xfrm>
            <a:off x="6675120" y="2578608"/>
            <a:ext cx="21488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0" i="0" lang="en-US" sz="1100" u="none" cap="none" strike="noStrike">
                <a:solidFill>
                  <a:schemeClr val="dk2"/>
                </a:solidFill>
                <a:latin typeface="Calibri"/>
                <a:ea typeface="Calibri"/>
                <a:cs typeface="Calibri"/>
                <a:sym typeface="Calibri"/>
              </a:rPr>
              <a:t>Thank you. Lokesh Manohar</a:t>
            </a:r>
            <a:endParaRPr b="0" i="0" sz="1100" u="none" cap="none" strike="noStrike">
              <a:solidFill>
                <a:schemeClr val="dk1"/>
              </a:solidFill>
              <a:latin typeface="Calibri"/>
              <a:ea typeface="Calibri"/>
              <a:cs typeface="Calibri"/>
              <a:sym typeface="Calibri"/>
            </a:endParaRPr>
          </a:p>
        </p:txBody>
      </p:sp>
      <p:sp>
        <p:nvSpPr>
          <p:cNvPr id="587" name="Google Shape;587;p28"/>
          <p:cNvSpPr txBox="1"/>
          <p:nvPr>
            <p:ph idx="1" type="body"/>
          </p:nvPr>
        </p:nvSpPr>
        <p:spPr>
          <a:xfrm>
            <a:off x="457200" y="2103120"/>
            <a:ext cx="6126480" cy="4114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2"/>
              </a:buClr>
              <a:buSzPts val="1600"/>
              <a:buNone/>
            </a:pPr>
            <a:r>
              <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29"/>
          <p:cNvSpPr txBox="1"/>
          <p:nvPr>
            <p:ph type="title"/>
          </p:nvPr>
        </p:nvSpPr>
        <p:spPr>
          <a:xfrm>
            <a:off x="457200" y="256032"/>
            <a:ext cx="6949440" cy="7498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100"/>
              <a:buFont typeface="Arial"/>
              <a:buNone/>
            </a:pPr>
            <a:r>
              <a:rPr b="1" lang="en-US" sz="2100">
                <a:solidFill>
                  <a:schemeClr val="dk1"/>
                </a:solidFill>
              </a:rPr>
              <a:t>References</a:t>
            </a:r>
            <a:endParaRPr sz="2100"/>
          </a:p>
        </p:txBody>
      </p:sp>
      <p:sp>
        <p:nvSpPr>
          <p:cNvPr id="594" name="Google Shape;594;p29"/>
          <p:cNvSpPr txBox="1"/>
          <p:nvPr/>
        </p:nvSpPr>
        <p:spPr>
          <a:xfrm>
            <a:off x="457200" y="1188720"/>
            <a:ext cx="8229600" cy="3383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Zaveri et al. Quality Assessment for Linked Data: A Survey. Semantic Web Journal, 2016.</a:t>
            </a:r>
            <a:endParaRPr b="0" i="0" sz="12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SHACL shapes for linked-data quality metrics. arXiv 2507.22305, 2025.</a:t>
            </a:r>
            <a:endParaRPr b="0" i="0" sz="12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Gao et al. Efficient Knowledge Graph Accuracy Evaluation. VLDB, 2019.</a:t>
            </a:r>
            <a:endParaRPr b="0" i="0" sz="12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Es et al. RAGAS: Automated Evaluation of Retrieval Augmented Generation. EACL demo, 2024.</a:t>
            </a:r>
            <a:endParaRPr b="0" i="0" sz="12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GraphRAG-Bench. arXiv 2506.02404, 2025.  When to use Graphs in RAG. arXiv 2506.05690, 2025.</a:t>
            </a:r>
            <a:endParaRPr b="0" i="0" sz="12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Graph construction quality and question answering. TACL, 2026 (2026.tacl-1.29).</a:t>
            </a:r>
            <a:endParaRPr b="0" i="0" sz="12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TRIAGE: stage-wise Graph-RAG diagnostics. arXiv 2607.03447, 2026.</a:t>
            </a:r>
            <a:endParaRPr b="0" i="0" sz="12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Neo4j Text2Cypher (2024) dataset.  Atlan, Knowledge Graph Construction for AI, 2026.</a:t>
            </a:r>
            <a:endParaRPr b="0" i="0" sz="12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Microsoft AdventureWorks sample database (MIT license).</a:t>
            </a:r>
            <a:endParaRPr b="0" i="0" sz="12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Tutorial code: github.com/Lokeshs-git/kg-quality-attribution-odsc2026</a:t>
            </a:r>
            <a:endParaRPr b="0" i="0" sz="1200" u="none" cap="none" strike="noStrike">
              <a:solidFill>
                <a:schemeClr val="dk1"/>
              </a:solidFill>
              <a:latin typeface="Calibri"/>
              <a:ea typeface="Calibri"/>
              <a:cs typeface="Calibri"/>
              <a:sym typeface="Calibri"/>
            </a:endParaRPr>
          </a:p>
        </p:txBody>
      </p:sp>
      <p:sp>
        <p:nvSpPr>
          <p:cNvPr id="595" name="Google Shape;595;p29"/>
          <p:cNvSpPr txBox="1"/>
          <p:nvPr>
            <p:ph idx="4294967295" type="sldNum"/>
          </p:nvPr>
        </p:nvSpPr>
        <p:spPr>
          <a:xfrm>
            <a:off x="841248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2A6"/>
                </a:solidFill>
                <a:latin typeface="Calibri"/>
                <a:ea typeface="Calibri"/>
                <a:cs typeface="Calibri"/>
                <a:sym typeface="Calibri"/>
              </a:rPr>
              <a:t>‹#›</a:t>
            </a:fld>
            <a:endParaRPr b="0" i="0" sz="900" u="none" cap="none" strike="noStrike">
              <a:solidFill>
                <a:srgbClr val="8A82A6"/>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DSC West KG Attribution">
  <a:themeElements>
    <a:clrScheme name="ODSC West KG Attribution">
      <a:dk1>
        <a:srgbClr val="FFFFFF"/>
      </a:dk1>
      <a:lt1>
        <a:srgbClr val="000000"/>
      </a:lt1>
      <a:dk2>
        <a:srgbClr val="C9C2DC"/>
      </a:dk2>
      <a:lt2>
        <a:srgbClr val="1A1030"/>
      </a:lt2>
      <a:accent1>
        <a:srgbClr val="B387FF"/>
      </a:accent1>
      <a:accent2>
        <a:srgbClr val="3DD9C1"/>
      </a:accent2>
      <a:accent3>
        <a:srgbClr val="FFB547"/>
      </a:accent3>
      <a:accent4>
        <a:srgbClr val="4A3A70"/>
      </a:accent4>
      <a:accent5>
        <a:srgbClr val="8A82A6"/>
      </a:accent5>
      <a:accent6>
        <a:srgbClr val="2A1F45"/>
      </a:accent6>
      <a:hlink>
        <a:srgbClr val="9CC8FF"/>
      </a:hlink>
      <a:folHlink>
        <a:srgbClr val="C9A8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DSC West KG Attribution">
  <a:themeElements>
    <a:clrScheme name="ODSC West KG Attribution">
      <a:dk1>
        <a:srgbClr val="FFFFFF"/>
      </a:dk1>
      <a:lt1>
        <a:srgbClr val="000000"/>
      </a:lt1>
      <a:dk2>
        <a:srgbClr val="C9C2DC"/>
      </a:dk2>
      <a:lt2>
        <a:srgbClr val="1A1030"/>
      </a:lt2>
      <a:accent1>
        <a:srgbClr val="B387FF"/>
      </a:accent1>
      <a:accent2>
        <a:srgbClr val="3DD9C1"/>
      </a:accent2>
      <a:accent3>
        <a:srgbClr val="FFB547"/>
      </a:accent3>
      <a:accent4>
        <a:srgbClr val="4A3A70"/>
      </a:accent4>
      <a:accent5>
        <a:srgbClr val="8A82A6"/>
      </a:accent5>
      <a:accent6>
        <a:srgbClr val="2A1F45"/>
      </a:accent6>
      <a:hlink>
        <a:srgbClr val="9CC8FF"/>
      </a:hlink>
      <a:folHlink>
        <a:srgbClr val="C9A8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